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048" r:id="rId1"/>
    <p:sldMasterId id="2147484061" r:id="rId2"/>
  </p:sldMasterIdLst>
  <p:notesMasterIdLst>
    <p:notesMasterId r:id="rId57"/>
  </p:notesMasterIdLst>
  <p:handoutMasterIdLst>
    <p:handoutMasterId r:id="rId58"/>
  </p:handoutMasterIdLst>
  <p:sldIdLst>
    <p:sldId id="331" r:id="rId3"/>
    <p:sldId id="394" r:id="rId4"/>
    <p:sldId id="333" r:id="rId5"/>
    <p:sldId id="431" r:id="rId6"/>
    <p:sldId id="432" r:id="rId7"/>
    <p:sldId id="395" r:id="rId8"/>
    <p:sldId id="396" r:id="rId9"/>
    <p:sldId id="433" r:id="rId10"/>
    <p:sldId id="397" r:id="rId11"/>
    <p:sldId id="398" r:id="rId12"/>
    <p:sldId id="399" r:id="rId13"/>
    <p:sldId id="434" r:id="rId14"/>
    <p:sldId id="400" r:id="rId15"/>
    <p:sldId id="401" r:id="rId16"/>
    <p:sldId id="402" r:id="rId17"/>
    <p:sldId id="403" r:id="rId18"/>
    <p:sldId id="435" r:id="rId19"/>
    <p:sldId id="404" r:id="rId20"/>
    <p:sldId id="405" r:id="rId21"/>
    <p:sldId id="406" r:id="rId22"/>
    <p:sldId id="436" r:id="rId23"/>
    <p:sldId id="409" r:id="rId24"/>
    <p:sldId id="410" r:id="rId25"/>
    <p:sldId id="411" r:id="rId26"/>
    <p:sldId id="412" r:id="rId27"/>
    <p:sldId id="413" r:id="rId28"/>
    <p:sldId id="437" r:id="rId29"/>
    <p:sldId id="426" r:id="rId30"/>
    <p:sldId id="438" r:id="rId31"/>
    <p:sldId id="427" r:id="rId32"/>
    <p:sldId id="429" r:id="rId33"/>
    <p:sldId id="428" r:id="rId34"/>
    <p:sldId id="430" r:id="rId35"/>
    <p:sldId id="439" r:id="rId36"/>
    <p:sldId id="415" r:id="rId37"/>
    <p:sldId id="416" r:id="rId38"/>
    <p:sldId id="417" r:id="rId39"/>
    <p:sldId id="418" r:id="rId40"/>
    <p:sldId id="440" r:id="rId41"/>
    <p:sldId id="419" r:id="rId42"/>
    <p:sldId id="420" r:id="rId43"/>
    <p:sldId id="421" r:id="rId44"/>
    <p:sldId id="422" r:id="rId45"/>
    <p:sldId id="423" r:id="rId46"/>
    <p:sldId id="424" r:id="rId47"/>
    <p:sldId id="425" r:id="rId48"/>
    <p:sldId id="441" r:id="rId49"/>
    <p:sldId id="262" r:id="rId50"/>
    <p:sldId id="263" r:id="rId51"/>
    <p:sldId id="265" r:id="rId52"/>
    <p:sldId id="266" r:id="rId53"/>
    <p:sldId id="442" r:id="rId54"/>
    <p:sldId id="268" r:id="rId55"/>
    <p:sldId id="270" r:id="rId56"/>
  </p:sldIdLst>
  <p:sldSz cx="9144000" cy="6858000" type="screen4x3"/>
  <p:notesSz cx="9296400" cy="7010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15:guide id="1" orient="horz" pos="2208" userDrawn="1">
          <p15:clr>
            <a:srgbClr val="A4A3A4"/>
          </p15:clr>
        </p15:guide>
        <p15:guide id="2" pos="292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0C4A88-DE4E-7D45-90F9-106794DBBD74}" v="4" dt="2025-09-23T05:30:13.8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65" autoAdjust="0"/>
    <p:restoredTop sz="78267" autoAdjust="0"/>
  </p:normalViewPr>
  <p:slideViewPr>
    <p:cSldViewPr snapToGrid="0">
      <p:cViewPr varScale="1">
        <p:scale>
          <a:sx n="91" d="100"/>
          <a:sy n="91" d="100"/>
        </p:scale>
        <p:origin x="1192" y="176"/>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826"/>
    </p:cViewPr>
  </p:sorterViewPr>
  <p:notesViewPr>
    <p:cSldViewPr snapToGrid="0">
      <p:cViewPr varScale="1">
        <p:scale>
          <a:sx n="55" d="100"/>
          <a:sy n="55" d="100"/>
        </p:scale>
        <p:origin x="1812" y="90"/>
      </p:cViewPr>
      <p:guideLst>
        <p:guide orient="horz" pos="2208"/>
        <p:guide pos="292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commentAuthors" Target="commentAuthor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zo Massimiliano Gulisano" userId="887d7398-9e41-4331-abd4-9c23f064ea90" providerId="ADAL" clId="{EB6A4D19-85D8-5548-A2EB-E603D07BE634}"/>
    <pc:docChg chg="modSld">
      <pc:chgData name="Vincenzo Massimiliano Gulisano" userId="887d7398-9e41-4331-abd4-9c23f064ea90" providerId="ADAL" clId="{EB6A4D19-85D8-5548-A2EB-E603D07BE634}" dt="2022-09-08T09:24:44.036" v="1" actId="20577"/>
      <pc:docMkLst>
        <pc:docMk/>
      </pc:docMkLst>
      <pc:sldChg chg="modSp mod">
        <pc:chgData name="Vincenzo Massimiliano Gulisano" userId="887d7398-9e41-4331-abd4-9c23f064ea90" providerId="ADAL" clId="{EB6A4D19-85D8-5548-A2EB-E603D07BE634}" dt="2022-09-08T09:24:44.036" v="1" actId="20577"/>
        <pc:sldMkLst>
          <pc:docMk/>
          <pc:sldMk cId="0" sldId="331"/>
        </pc:sldMkLst>
      </pc:sldChg>
    </pc:docChg>
  </pc:docChgLst>
  <pc:docChgLst>
    <pc:chgData name="Vincenzo Massimiliano Gulisano" userId="887d7398-9e41-4331-abd4-9c23f064ea90" providerId="ADAL" clId="{8EA10870-6395-588A-9409-E8E4CA631CF7}"/>
    <pc:docChg chg="addSld modSld">
      <pc:chgData name="Vincenzo Massimiliano Gulisano" userId="887d7398-9e41-4331-abd4-9c23f064ea90" providerId="ADAL" clId="{8EA10870-6395-588A-9409-E8E4CA631CF7}" dt="2025-09-24T05:54:25.872" v="28" actId="20577"/>
      <pc:docMkLst>
        <pc:docMk/>
      </pc:docMkLst>
      <pc:sldChg chg="modSp add mod modNotesTx">
        <pc:chgData name="Vincenzo Massimiliano Gulisano" userId="887d7398-9e41-4331-abd4-9c23f064ea90" providerId="ADAL" clId="{8EA10870-6395-588A-9409-E8E4CA631CF7}" dt="2025-09-23T05:28:54.951" v="4" actId="20577"/>
        <pc:sldMkLst>
          <pc:docMk/>
          <pc:sldMk cId="1610955163" sldId="262"/>
        </pc:sldMkLst>
        <pc:spChg chg="mod">
          <ac:chgData name="Vincenzo Massimiliano Gulisano" userId="887d7398-9e41-4331-abd4-9c23f064ea90" providerId="ADAL" clId="{8EA10870-6395-588A-9409-E8E4CA631CF7}" dt="2025-09-23T05:28:53.070" v="3" actId="20577"/>
          <ac:spMkLst>
            <pc:docMk/>
            <pc:sldMk cId="1610955163" sldId="262"/>
            <ac:spMk id="3" creationId="{526E0ECA-C564-F3C1-6DD6-1300FA8A166B}"/>
          </ac:spMkLst>
        </pc:spChg>
      </pc:sldChg>
      <pc:sldChg chg="modSp add mod modNotesTx">
        <pc:chgData name="Vincenzo Massimiliano Gulisano" userId="887d7398-9e41-4331-abd4-9c23f064ea90" providerId="ADAL" clId="{8EA10870-6395-588A-9409-E8E4CA631CF7}" dt="2025-09-23T05:29:38.264" v="12" actId="1076"/>
        <pc:sldMkLst>
          <pc:docMk/>
          <pc:sldMk cId="987499366" sldId="263"/>
        </pc:sldMkLst>
        <pc:spChg chg="mod">
          <ac:chgData name="Vincenzo Massimiliano Gulisano" userId="887d7398-9e41-4331-abd4-9c23f064ea90" providerId="ADAL" clId="{8EA10870-6395-588A-9409-E8E4CA631CF7}" dt="2025-09-23T05:29:33.893" v="11" actId="20577"/>
          <ac:spMkLst>
            <pc:docMk/>
            <pc:sldMk cId="987499366" sldId="263"/>
            <ac:spMk id="2" creationId="{F0363A9D-3138-1B1D-12E6-7F6718714073}"/>
          </ac:spMkLst>
        </pc:spChg>
        <pc:spChg chg="mod">
          <ac:chgData name="Vincenzo Massimiliano Gulisano" userId="887d7398-9e41-4331-abd4-9c23f064ea90" providerId="ADAL" clId="{8EA10870-6395-588A-9409-E8E4CA631CF7}" dt="2025-09-23T05:29:18.647" v="9" actId="20577"/>
          <ac:spMkLst>
            <pc:docMk/>
            <pc:sldMk cId="987499366" sldId="263"/>
            <ac:spMk id="3" creationId="{73284B17-5309-13DF-F631-83B60E4FED4D}"/>
          </ac:spMkLst>
        </pc:spChg>
        <pc:picChg chg="mod">
          <ac:chgData name="Vincenzo Massimiliano Gulisano" userId="887d7398-9e41-4331-abd4-9c23f064ea90" providerId="ADAL" clId="{8EA10870-6395-588A-9409-E8E4CA631CF7}" dt="2025-09-23T05:29:38.264" v="12" actId="1076"/>
          <ac:picMkLst>
            <pc:docMk/>
            <pc:sldMk cId="987499366" sldId="263"/>
            <ac:picMk id="2050" creationId="{05A86181-622E-D01B-B28A-185029D26A7B}"/>
          </ac:picMkLst>
        </pc:picChg>
      </pc:sldChg>
      <pc:sldChg chg="modSp add mod modNotesTx">
        <pc:chgData name="Vincenzo Massimiliano Gulisano" userId="887d7398-9e41-4331-abd4-9c23f064ea90" providerId="ADAL" clId="{8EA10870-6395-588A-9409-E8E4CA631CF7}" dt="2025-09-23T05:30:13.836" v="18" actId="1076"/>
        <pc:sldMkLst>
          <pc:docMk/>
          <pc:sldMk cId="4171002062" sldId="265"/>
        </pc:sldMkLst>
        <pc:spChg chg="mod">
          <ac:chgData name="Vincenzo Massimiliano Gulisano" userId="887d7398-9e41-4331-abd4-9c23f064ea90" providerId="ADAL" clId="{8EA10870-6395-588A-9409-E8E4CA631CF7}" dt="2025-09-23T05:30:10.781" v="17" actId="20577"/>
          <ac:spMkLst>
            <pc:docMk/>
            <pc:sldMk cId="4171002062" sldId="265"/>
            <ac:spMk id="3" creationId="{6436D2ED-08A6-27B9-33F3-54DD87B33288}"/>
          </ac:spMkLst>
        </pc:spChg>
        <pc:picChg chg="mod">
          <ac:chgData name="Vincenzo Massimiliano Gulisano" userId="887d7398-9e41-4331-abd4-9c23f064ea90" providerId="ADAL" clId="{8EA10870-6395-588A-9409-E8E4CA631CF7}" dt="2025-09-23T05:30:13.836" v="18" actId="1076"/>
          <ac:picMkLst>
            <pc:docMk/>
            <pc:sldMk cId="4171002062" sldId="265"/>
            <ac:picMk id="4098" creationId="{FA0AF5BB-DBE4-8E3F-1D2D-79BCD2C716F1}"/>
          </ac:picMkLst>
        </pc:picChg>
      </pc:sldChg>
      <pc:sldChg chg="modSp add mod modNotesTx">
        <pc:chgData name="Vincenzo Massimiliano Gulisano" userId="887d7398-9e41-4331-abd4-9c23f064ea90" providerId="ADAL" clId="{8EA10870-6395-588A-9409-E8E4CA631CF7}" dt="2025-09-23T05:30:23.796" v="26" actId="20577"/>
        <pc:sldMkLst>
          <pc:docMk/>
          <pc:sldMk cId="399621724" sldId="266"/>
        </pc:sldMkLst>
        <pc:spChg chg="mod">
          <ac:chgData name="Vincenzo Massimiliano Gulisano" userId="887d7398-9e41-4331-abd4-9c23f064ea90" providerId="ADAL" clId="{8EA10870-6395-588A-9409-E8E4CA631CF7}" dt="2025-09-23T05:30:23.796" v="26" actId="20577"/>
          <ac:spMkLst>
            <pc:docMk/>
            <pc:sldMk cId="399621724" sldId="266"/>
            <ac:spMk id="3" creationId="{D6C83EC9-BAF1-9269-8386-AE8FB6CF28D2}"/>
          </ac:spMkLst>
        </pc:spChg>
      </pc:sldChg>
      <pc:sldChg chg="modNotesTx">
        <pc:chgData name="Vincenzo Massimiliano Gulisano" userId="887d7398-9e41-4331-abd4-9c23f064ea90" providerId="ADAL" clId="{8EA10870-6395-588A-9409-E8E4CA631CF7}" dt="2025-09-24T05:54:25.872" v="28" actId="20577"/>
        <pc:sldMkLst>
          <pc:docMk/>
          <pc:sldMk cId="398394372" sldId="423"/>
        </pc:sldMkLst>
      </pc:sldChg>
      <pc:sldChg chg="modNotesTx">
        <pc:chgData name="Vincenzo Massimiliano Gulisano" userId="887d7398-9e41-4331-abd4-9c23f064ea90" providerId="ADAL" clId="{8EA10870-6395-588A-9409-E8E4CA631CF7}" dt="2025-09-24T05:54:04.013" v="27" actId="20577"/>
        <pc:sldMkLst>
          <pc:docMk/>
          <pc:sldMk cId="704553040" sldId="42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4075596" cy="334000"/>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3" name="Rectangle 3"/>
          <p:cNvSpPr>
            <a:spLocks noGrp="1" noChangeArrowheads="1"/>
          </p:cNvSpPr>
          <p:nvPr>
            <p:ph type="dt" sz="quarter" idx="1"/>
          </p:nvPr>
        </p:nvSpPr>
        <p:spPr bwMode="auto">
          <a:xfrm>
            <a:off x="5239751" y="0"/>
            <a:ext cx="4073490" cy="334000"/>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algn="r" defTabSz="883169">
              <a:defRPr sz="1100">
                <a:latin typeface="Helvetica" charset="0"/>
                <a:ea typeface="ＭＳ Ｐゴシック" charset="-128"/>
                <a:cs typeface="ＭＳ Ｐゴシック" charset="-128"/>
              </a:defRPr>
            </a:lvl1pPr>
          </a:lstStyle>
          <a:p>
            <a:pPr>
              <a:defRPr/>
            </a:pPr>
            <a:endParaRPr lang="en-US"/>
          </a:p>
        </p:txBody>
      </p:sp>
      <p:sp>
        <p:nvSpPr>
          <p:cNvPr id="46084" name="Rectangle 4"/>
          <p:cNvSpPr>
            <a:spLocks noGrp="1" noChangeArrowheads="1"/>
          </p:cNvSpPr>
          <p:nvPr>
            <p:ph type="ftr" sz="quarter" idx="2"/>
          </p:nvPr>
        </p:nvSpPr>
        <p:spPr bwMode="auto">
          <a:xfrm>
            <a:off x="0" y="6685978"/>
            <a:ext cx="4075596" cy="333999"/>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5" name="Rectangle 5"/>
          <p:cNvSpPr>
            <a:spLocks noGrp="1" noChangeArrowheads="1"/>
          </p:cNvSpPr>
          <p:nvPr>
            <p:ph type="sldNum" sz="quarter" idx="3"/>
          </p:nvPr>
        </p:nvSpPr>
        <p:spPr bwMode="auto">
          <a:xfrm>
            <a:off x="5239751" y="6685978"/>
            <a:ext cx="4073490" cy="333999"/>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algn="r" defTabSz="882650">
              <a:defRPr sz="1100">
                <a:latin typeface="Helvetica" panose="020B0604020202020204" pitchFamily="34" charset="0"/>
              </a:defRPr>
            </a:lvl1pPr>
          </a:lstStyle>
          <a:p>
            <a:fld id="{85DEE06E-38F1-4ACC-915E-97CE063EBA03}" type="slidenum">
              <a:rPr lang="en-US" altLang="en-US"/>
              <a:pPr/>
              <a:t>‹#›</a:t>
            </a:fld>
            <a:endParaRPr lang="en-US" altLang="en-US"/>
          </a:p>
        </p:txBody>
      </p:sp>
    </p:spTree>
    <p:extLst>
      <p:ext uri="{BB962C8B-B14F-4D97-AF65-F5344CB8AC3E}">
        <p14:creationId xmlns:p14="http://schemas.microsoft.com/office/powerpoint/2010/main" val="42359234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4027178" cy="349562"/>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47" name="Rectangle 3"/>
          <p:cNvSpPr>
            <a:spLocks noGrp="1" noChangeArrowheads="1"/>
          </p:cNvSpPr>
          <p:nvPr>
            <p:ph type="dt" idx="1"/>
          </p:nvPr>
        </p:nvSpPr>
        <p:spPr bwMode="auto">
          <a:xfrm>
            <a:off x="5269225" y="0"/>
            <a:ext cx="4027176" cy="349562"/>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algn="r" defTabSz="931168">
              <a:defRPr sz="1200">
                <a:latin typeface="Times New Roman" charset="0"/>
                <a:ea typeface="ＭＳ Ｐゴシック" charset="-128"/>
                <a:cs typeface="ＭＳ Ｐゴシック" charset="-128"/>
              </a:defRPr>
            </a:lvl1pPr>
          </a:lstStyle>
          <a:p>
            <a:pPr>
              <a:defRPr/>
            </a:pPr>
            <a:endParaRPr lang="en-US"/>
          </a:p>
        </p:txBody>
      </p:sp>
      <p:sp>
        <p:nvSpPr>
          <p:cNvPr id="50180" name="Rectangle 4"/>
          <p:cNvSpPr>
            <a:spLocks noGrp="1" noRot="1" noChangeAspect="1" noChangeArrowheads="1" noTextEdit="1"/>
          </p:cNvSpPr>
          <p:nvPr>
            <p:ph type="sldImg" idx="2"/>
          </p:nvPr>
        </p:nvSpPr>
        <p:spPr bwMode="auto">
          <a:xfrm>
            <a:off x="2895600" y="527050"/>
            <a:ext cx="3506788" cy="26289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1239942" y="3330419"/>
            <a:ext cx="6816518" cy="3153243"/>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6660838"/>
            <a:ext cx="4027178" cy="349562"/>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51" name="Rectangle 7"/>
          <p:cNvSpPr>
            <a:spLocks noGrp="1" noChangeArrowheads="1"/>
          </p:cNvSpPr>
          <p:nvPr>
            <p:ph type="sldNum" sz="quarter" idx="5"/>
          </p:nvPr>
        </p:nvSpPr>
        <p:spPr bwMode="auto">
          <a:xfrm>
            <a:off x="5269225" y="6660838"/>
            <a:ext cx="4027176" cy="349562"/>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algn="r" defTabSz="930275">
              <a:defRPr sz="1200">
                <a:latin typeface="Times New Roman" panose="02020603050405020304" pitchFamily="18" charset="0"/>
              </a:defRPr>
            </a:lvl1pPr>
          </a:lstStyle>
          <a:p>
            <a:fld id="{0462CD46-9D15-4C57-8A80-C2E5019E2E04}" type="slidenum">
              <a:rPr lang="en-US" altLang="en-US"/>
              <a:pPr/>
              <a:t>‹#›</a:t>
            </a:fld>
            <a:endParaRPr lang="en-US" altLang="en-US"/>
          </a:p>
        </p:txBody>
      </p:sp>
    </p:spTree>
    <p:extLst>
      <p:ext uri="{BB962C8B-B14F-4D97-AF65-F5344CB8AC3E}">
        <p14:creationId xmlns:p14="http://schemas.microsoft.com/office/powerpoint/2010/main" val="35337720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E4C2E7-4533-4390-8AEE-E02702433286}" type="slidenum">
              <a:rPr lang="en-US" altLang="en-US">
                <a:latin typeface="Helvetica" panose="020B0604020202020204" pitchFamily="34" charset="0"/>
              </a:rPr>
              <a:pPr/>
              <a:t>1</a:t>
            </a:fld>
            <a:endParaRPr lang="en-US" altLang="en-US">
              <a:latin typeface="Helvetica" panose="020B0604020202020204" pitchFamily="34"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90686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2</a:t>
            </a:fld>
            <a:endParaRPr lang="en-US" altLang="en-US"/>
          </a:p>
        </p:txBody>
      </p:sp>
    </p:spTree>
    <p:extLst>
      <p:ext uri="{BB962C8B-B14F-4D97-AF65-F5344CB8AC3E}">
        <p14:creationId xmlns:p14="http://schemas.microsoft.com/office/powerpoint/2010/main" val="552755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kern="1200" dirty="0">
                <a:solidFill>
                  <a:schemeClr val="tx1"/>
                </a:solidFill>
                <a:effectLst/>
                <a:latin typeface="Times New Roman" charset="0"/>
                <a:ea typeface="MS PGothic" pitchFamily="34" charset="-128"/>
                <a:cs typeface="ＭＳ Ｐゴシック" charset="-128"/>
              </a:rPr>
              <a:t>This lecture and the virtual-memory lecture form one block. The next lecture builds on the concepts introduced here.</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261483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goal of the OS is to maximize CPU …</a:t>
            </a:r>
          </a:p>
          <a:p>
            <a:r>
              <a:rPr lang="en-US" dirty="0"/>
              <a:t>[click] As you most</a:t>
            </a:r>
            <a:r>
              <a:rPr lang="en-US" baseline="0" dirty="0"/>
              <a:t> likely know, this is the organization of memory in our computers…</a:t>
            </a:r>
          </a:p>
          <a:p>
            <a:r>
              <a:rPr lang="en-US" baseline="0" dirty="0"/>
              <a:t>[click] Some memories can be accessed directly by the CPU</a:t>
            </a:r>
          </a:p>
          <a:p>
            <a:r>
              <a:rPr lang="en-US" baseline="0" dirty="0"/>
              <a:t>[click] Some are very fast</a:t>
            </a:r>
          </a:p>
          <a:p>
            <a:r>
              <a:rPr lang="en-US" baseline="0" dirty="0"/>
              <a:t>[click] Some take more time</a:t>
            </a:r>
          </a:p>
          <a:p>
            <a:r>
              <a:rPr lang="en-US" baseline="0" dirty="0"/>
              <a:t>[click] some others no</a:t>
            </a:r>
          </a:p>
          <a:p>
            <a:r>
              <a:rPr lang="en-US" baseline="0" dirty="0"/>
              <a:t>[click] Which means, If the CPU needs data stored on secondary storage, the system must first transfer that data into main memory.</a:t>
            </a:r>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6</a:t>
            </a:fld>
            <a:endParaRPr lang="en-US" altLang="en-US"/>
          </a:p>
        </p:txBody>
      </p:sp>
    </p:spTree>
    <p:extLst>
      <p:ext uri="{BB962C8B-B14F-4D97-AF65-F5344CB8AC3E}">
        <p14:creationId xmlns:p14="http://schemas.microsoft.com/office/powerpoint/2010/main" val="1078841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a:t>
            </a:r>
            <a:r>
              <a:rPr lang="en-US" baseline="0" dirty="0"/>
              <a:t> since we want to speed up operation, we can think of hardware support for the CPU to access registers / caches and main memory. But the challenge then is:</a:t>
            </a:r>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7</a:t>
            </a:fld>
            <a:endParaRPr lang="en-US" altLang="en-US"/>
          </a:p>
        </p:txBody>
      </p:sp>
    </p:spTree>
    <p:extLst>
      <p:ext uri="{BB962C8B-B14F-4D97-AF65-F5344CB8AC3E}">
        <p14:creationId xmlns:p14="http://schemas.microsoft.com/office/powerpoint/2010/main" val="1431322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It works like this: we have two registers</a:t>
            </a:r>
            <a:r>
              <a:rPr lang="en-US" baseline="0" dirty="0"/>
              <a:t> ….</a:t>
            </a:r>
          </a:p>
          <a:p>
            <a:r>
              <a:rPr lang="en-US" baseline="0" dirty="0"/>
              <a:t>[c] So for example, process A</a:t>
            </a:r>
          </a:p>
          <a:p>
            <a:r>
              <a:rPr lang="en-US" baseline="0" dirty="0"/>
              <a:t>[c] This shows the how the CPU checks whether a trap should be sent</a:t>
            </a:r>
          </a:p>
          <a:p>
            <a:endParaRPr lang="en-US" baseline="0" dirty="0"/>
          </a:p>
          <a:p>
            <a:r>
              <a:rPr lang="en-US" baseline="0" dirty="0"/>
              <a:t>Possible question: is this for the cache, is it for the main memory or for both of them?</a:t>
            </a:r>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9</a:t>
            </a:fld>
            <a:endParaRPr lang="en-US" altLang="en-US"/>
          </a:p>
        </p:txBody>
      </p:sp>
    </p:spTree>
    <p:extLst>
      <p:ext uri="{BB962C8B-B14F-4D97-AF65-F5344CB8AC3E}">
        <p14:creationId xmlns:p14="http://schemas.microsoft.com/office/powerpoint/2010/main" val="4870660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10</a:t>
            </a:fld>
            <a:endParaRPr lang="en-US" altLang="en-US"/>
          </a:p>
        </p:txBody>
      </p:sp>
    </p:spTree>
    <p:extLst>
      <p:ext uri="{BB962C8B-B14F-4D97-AF65-F5344CB8AC3E}">
        <p14:creationId xmlns:p14="http://schemas.microsoft.com/office/powerpoint/2010/main" val="1443452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Exceptional case: dedicated</a:t>
            </a:r>
            <a:r>
              <a:rPr lang="en-US" baseline="0" dirty="0"/>
              <a:t> hardware</a:t>
            </a:r>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11</a:t>
            </a:fld>
            <a:endParaRPr lang="en-US" altLang="en-US"/>
          </a:p>
        </p:txBody>
      </p:sp>
    </p:spTree>
    <p:extLst>
      <p:ext uri="{BB962C8B-B14F-4D97-AF65-F5344CB8AC3E}">
        <p14:creationId xmlns:p14="http://schemas.microsoft.com/office/powerpoint/2010/main" val="344798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Suppose we write a program with</a:t>
            </a:r>
            <a:r>
              <a:rPr lang="en-US" baseline="0" dirty="0"/>
              <a:t> this instruction, we are saying we should store the value of b + 2 in a, somewhere in memory. Where exactly?</a:t>
            </a:r>
          </a:p>
          <a:p>
            <a:r>
              <a:rPr lang="en-US" baseline="0" dirty="0"/>
              <a:t>[c] While the program is on disk we don’t know</a:t>
            </a:r>
          </a:p>
          <a:p>
            <a:r>
              <a:rPr lang="en-US" baseline="0" dirty="0"/>
              <a:t>[c] once we load it in memory we do</a:t>
            </a:r>
          </a:p>
          <a:p>
            <a:endParaRPr lang="en-US" baseline="0" dirty="0"/>
          </a:p>
          <a:p>
            <a:r>
              <a:rPr lang="en-US" baseline="0" dirty="0"/>
              <a:t>Discussions always depend on what hardware we are thinking of / OS and programs... dedicated hardware we might know...</a:t>
            </a:r>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13</a:t>
            </a:fld>
            <a:endParaRPr lang="en-US" altLang="en-US"/>
          </a:p>
        </p:txBody>
      </p:sp>
    </p:spTree>
    <p:extLst>
      <p:ext uri="{BB962C8B-B14F-4D97-AF65-F5344CB8AC3E}">
        <p14:creationId xmlns:p14="http://schemas.microsoft.com/office/powerpoint/2010/main" val="12296580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Each program sees its virtual addresses, starting</a:t>
            </a:r>
            <a:r>
              <a:rPr lang="en-US" baseline="0" dirty="0"/>
              <a:t> in 0 (it is easier)</a:t>
            </a:r>
          </a:p>
          <a:p>
            <a:r>
              <a:rPr lang="en-US" baseline="0" dirty="0"/>
              <a:t>[c] But of course, once it runs in memory it will actually be allocated in a given region of the physical memory</a:t>
            </a:r>
          </a:p>
          <a:p>
            <a:endParaRPr lang="en-US" baseline="0" dirty="0"/>
          </a:p>
          <a:p>
            <a:r>
              <a:rPr lang="en-US" baseline="0" dirty="0"/>
              <a:t>here link back to question about addresses...</a:t>
            </a:r>
          </a:p>
          <a:p>
            <a:endParaRPr lang="en-US" baseline="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baseline="0" dirty="0"/>
              <a:t>Note: </a:t>
            </a:r>
            <a:r>
              <a:rPr lang="en-US" dirty="0"/>
              <a:t>In a real process’s mapped virtual memory: the first valid mapping does not necessarily start at zero.</a:t>
            </a:r>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14</a:t>
            </a:fld>
            <a:endParaRPr lang="en-US" altLang="en-US"/>
          </a:p>
        </p:txBody>
      </p:sp>
    </p:spTree>
    <p:extLst>
      <p:ext uri="{BB962C8B-B14F-4D97-AF65-F5344CB8AC3E}">
        <p14:creationId xmlns:p14="http://schemas.microsoft.com/office/powerpoint/2010/main" val="771175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15</a:t>
            </a:fld>
            <a:endParaRPr lang="en-US" altLang="en-US"/>
          </a:p>
        </p:txBody>
      </p:sp>
    </p:spTree>
    <p:extLst>
      <p:ext uri="{BB962C8B-B14F-4D97-AF65-F5344CB8AC3E}">
        <p14:creationId xmlns:p14="http://schemas.microsoft.com/office/powerpoint/2010/main" val="361615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way of doing</a:t>
            </a:r>
            <a:r>
              <a:rPr lang="en-US" baseline="0" dirty="0"/>
              <a:t> it, using the relocation register. There can be other ways too, will see later</a:t>
            </a:r>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16</a:t>
            </a:fld>
            <a:endParaRPr lang="en-US" altLang="en-US"/>
          </a:p>
        </p:txBody>
      </p:sp>
    </p:spTree>
    <p:extLst>
      <p:ext uri="{BB962C8B-B14F-4D97-AF65-F5344CB8AC3E}">
        <p14:creationId xmlns:p14="http://schemas.microsoft.com/office/powerpoint/2010/main" val="10636841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19</a:t>
            </a:fld>
            <a:endParaRPr lang="en-US" altLang="en-US"/>
          </a:p>
        </p:txBody>
      </p:sp>
    </p:spTree>
    <p:extLst>
      <p:ext uri="{BB962C8B-B14F-4D97-AF65-F5344CB8AC3E}">
        <p14:creationId xmlns:p14="http://schemas.microsoft.com/office/powerpoint/2010/main" val="24067416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20</a:t>
            </a:fld>
            <a:endParaRPr lang="en-US" altLang="en-US"/>
          </a:p>
        </p:txBody>
      </p:sp>
    </p:spTree>
    <p:extLst>
      <p:ext uri="{BB962C8B-B14F-4D97-AF65-F5344CB8AC3E}">
        <p14:creationId xmlns:p14="http://schemas.microsoft.com/office/powerpoint/2010/main" val="29865079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a:t>
            </a:r>
          </a:p>
          <a:p>
            <a:r>
              <a:rPr lang="en-US" dirty="0"/>
              <a:t>Say also we will see more when</a:t>
            </a:r>
            <a:r>
              <a:rPr lang="en-US" baseline="0" dirty="0"/>
              <a:t> we discuss Virtual Memory</a:t>
            </a:r>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22</a:t>
            </a:fld>
            <a:endParaRPr lang="en-US" altLang="en-US"/>
          </a:p>
        </p:txBody>
      </p:sp>
    </p:spTree>
    <p:extLst>
      <p:ext uri="{BB962C8B-B14F-4D97-AF65-F5344CB8AC3E}">
        <p14:creationId xmlns:p14="http://schemas.microsoft.com/office/powerpoint/2010/main" val="16108731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a:t>
            </a:r>
            <a:r>
              <a:rPr lang="en-US" baseline="0" dirty="0"/>
              <a:t> a drawing here</a:t>
            </a:r>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24</a:t>
            </a:fld>
            <a:endParaRPr lang="en-US" altLang="en-US"/>
          </a:p>
        </p:txBody>
      </p:sp>
    </p:spTree>
    <p:extLst>
      <p:ext uri="{BB962C8B-B14F-4D97-AF65-F5344CB8AC3E}">
        <p14:creationId xmlns:p14="http://schemas.microsoft.com/office/powerpoint/2010/main" val="18928015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27</a:t>
            </a:fld>
            <a:endParaRPr lang="en-US" altLang="en-US"/>
          </a:p>
        </p:txBody>
      </p:sp>
    </p:spTree>
    <p:extLst>
      <p:ext uri="{BB962C8B-B14F-4D97-AF65-F5344CB8AC3E}">
        <p14:creationId xmlns:p14="http://schemas.microsoft.com/office/powerpoint/2010/main" val="17357402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similar things hold also for file systems</a:t>
            </a:r>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30</a:t>
            </a:fld>
            <a:endParaRPr lang="en-US" altLang="en-US"/>
          </a:p>
        </p:txBody>
      </p:sp>
    </p:spTree>
    <p:extLst>
      <p:ext uri="{BB962C8B-B14F-4D97-AF65-F5344CB8AC3E}">
        <p14:creationId xmlns:p14="http://schemas.microsoft.com/office/powerpoint/2010/main" val="16403542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drawing?</a:t>
            </a:r>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32</a:t>
            </a:fld>
            <a:endParaRPr lang="en-US" altLang="en-US"/>
          </a:p>
        </p:txBody>
      </p:sp>
    </p:spTree>
    <p:extLst>
      <p:ext uri="{BB962C8B-B14F-4D97-AF65-F5344CB8AC3E}">
        <p14:creationId xmlns:p14="http://schemas.microsoft.com/office/powerpoint/2010/main" val="1690233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see (also when discussing virtual memory / file systems) that the best strategy might depend on things we do not know yet</a:t>
            </a:r>
            <a:r>
              <a:rPr lang="en-US" baseline="0" dirty="0"/>
              <a:t> (how the size of a process might evolve over time)</a:t>
            </a:r>
            <a:r>
              <a:rPr lang="en-US" dirty="0"/>
              <a:t> </a:t>
            </a:r>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33</a:t>
            </a:fld>
            <a:endParaRPr lang="en-US" altLang="en-US"/>
          </a:p>
        </p:txBody>
      </p:sp>
    </p:spTree>
    <p:extLst>
      <p:ext uri="{BB962C8B-B14F-4D97-AF65-F5344CB8AC3E}">
        <p14:creationId xmlns:p14="http://schemas.microsoft.com/office/powerpoint/2010/main" val="383993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37</a:t>
            </a:fld>
            <a:endParaRPr lang="en-US" altLang="en-US"/>
          </a:p>
        </p:txBody>
      </p:sp>
    </p:spTree>
    <p:extLst>
      <p:ext uri="{BB962C8B-B14F-4D97-AF65-F5344CB8AC3E}">
        <p14:creationId xmlns:p14="http://schemas.microsoft.com/office/powerpoint/2010/main" val="15054428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38</a:t>
            </a:fld>
            <a:endParaRPr lang="en-US" altLang="en-US"/>
          </a:p>
        </p:txBody>
      </p:sp>
    </p:spTree>
    <p:extLst>
      <p:ext uri="{BB962C8B-B14F-4D97-AF65-F5344CB8AC3E}">
        <p14:creationId xmlns:p14="http://schemas.microsoft.com/office/powerpoint/2010/main" val="23612227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44</a:t>
            </a:fld>
            <a:endParaRPr lang="en-US" altLang="en-US"/>
          </a:p>
        </p:txBody>
      </p:sp>
    </p:spTree>
    <p:extLst>
      <p:ext uri="{BB962C8B-B14F-4D97-AF65-F5344CB8AC3E}">
        <p14:creationId xmlns:p14="http://schemas.microsoft.com/office/powerpoint/2010/main" val="11521588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45</a:t>
            </a:fld>
            <a:endParaRPr lang="en-US" altLang="en-US"/>
          </a:p>
        </p:txBody>
      </p:sp>
    </p:spTree>
    <p:extLst>
      <p:ext uri="{BB962C8B-B14F-4D97-AF65-F5344CB8AC3E}">
        <p14:creationId xmlns:p14="http://schemas.microsoft.com/office/powerpoint/2010/main" val="6981711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47</a:t>
            </a:fld>
            <a:endParaRPr lang="en-US" altLang="en-US"/>
          </a:p>
        </p:txBody>
      </p:sp>
    </p:spTree>
    <p:extLst>
      <p:ext uri="{BB962C8B-B14F-4D97-AF65-F5344CB8AC3E}">
        <p14:creationId xmlns:p14="http://schemas.microsoft.com/office/powerpoint/2010/main" val="41881215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48</a:t>
            </a:fld>
            <a:endParaRPr lang="en-US" altLang="en-US"/>
          </a:p>
        </p:txBody>
      </p:sp>
    </p:spTree>
    <p:extLst>
      <p:ext uri="{BB962C8B-B14F-4D97-AF65-F5344CB8AC3E}">
        <p14:creationId xmlns:p14="http://schemas.microsoft.com/office/powerpoint/2010/main" val="6425710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49</a:t>
            </a:fld>
            <a:endParaRPr lang="en-US" altLang="en-US"/>
          </a:p>
        </p:txBody>
      </p:sp>
    </p:spTree>
    <p:extLst>
      <p:ext uri="{BB962C8B-B14F-4D97-AF65-F5344CB8AC3E}">
        <p14:creationId xmlns:p14="http://schemas.microsoft.com/office/powerpoint/2010/main" val="10146251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50</a:t>
            </a:fld>
            <a:endParaRPr lang="en-US" altLang="en-US"/>
          </a:p>
        </p:txBody>
      </p:sp>
    </p:spTree>
    <p:extLst>
      <p:ext uri="{BB962C8B-B14F-4D97-AF65-F5344CB8AC3E}">
        <p14:creationId xmlns:p14="http://schemas.microsoft.com/office/powerpoint/2010/main" val="41317343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51</a:t>
            </a:fld>
            <a:endParaRPr lang="en-US" altLang="en-US"/>
          </a:p>
        </p:txBody>
      </p:sp>
    </p:spTree>
    <p:extLst>
      <p:ext uri="{BB962C8B-B14F-4D97-AF65-F5344CB8AC3E}">
        <p14:creationId xmlns:p14="http://schemas.microsoft.com/office/powerpoint/2010/main" val="22838112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size = 16 bytes</a:t>
            </a:r>
          </a:p>
          <a:p>
            <a:r>
              <a:rPr lang="en-US" dirty="0"/>
              <a:t>Number of pages required = ceil(100/16) = 7</a:t>
            </a:r>
          </a:p>
          <a:p>
            <a:r>
              <a:rPr lang="en-US" dirty="0"/>
              <a:t>Wasted bytes because of internal fragmentation 16 –100%16 = 12 bytes</a:t>
            </a:r>
          </a:p>
          <a:p>
            <a:endParaRPr lang="en-US" dirty="0"/>
          </a:p>
          <a:p>
            <a:r>
              <a:rPr lang="en-US" dirty="0"/>
              <a:t>Page table = 7 * bytes</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52</a:t>
            </a:fld>
            <a:endParaRPr lang="en-US" altLang="en-US"/>
          </a:p>
        </p:txBody>
      </p:sp>
    </p:spTree>
    <p:extLst>
      <p:ext uri="{BB962C8B-B14F-4D97-AF65-F5344CB8AC3E}">
        <p14:creationId xmlns:p14="http://schemas.microsoft.com/office/powerpoint/2010/main" val="36721799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1 KB = 2^10</a:t>
            </a:r>
          </a:p>
          <a:p>
            <a:pPr marL="0" indent="0">
              <a:buNone/>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2375 </a:t>
            </a:r>
            <a:r>
              <a:rPr lang="en-US" dirty="0">
                <a:sym typeface="Wingdings" pitchFamily="2" charset="2"/>
              </a:rPr>
              <a:t> </a:t>
            </a:r>
            <a:r>
              <a:rPr lang="en-US" sz="1200" dirty="0"/>
              <a:t>0000100101000111</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Offset last 10 bits, so 327</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Page is then 2</a:t>
            </a:r>
            <a:endParaRPr lang="en-US" dirty="0"/>
          </a:p>
          <a:p>
            <a:endParaRPr lang="en-US" dirty="0"/>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53</a:t>
            </a:fld>
            <a:endParaRPr lang="en-US" altLang="en-US"/>
          </a:p>
        </p:txBody>
      </p:sp>
    </p:spTree>
    <p:extLst>
      <p:ext uri="{BB962C8B-B14F-4D97-AF65-F5344CB8AC3E}">
        <p14:creationId xmlns:p14="http://schemas.microsoft.com/office/powerpoint/2010/main" val="28410399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219 + 430 = 649</a:t>
            </a:r>
          </a:p>
          <a:p>
            <a:pPr marL="0" indent="0">
              <a:buNone/>
            </a:pPr>
            <a:r>
              <a:rPr lang="en-US" dirty="0"/>
              <a:t>2300 + 10 = 2310</a:t>
            </a:r>
          </a:p>
          <a:p>
            <a:pPr marL="0" indent="0">
              <a:buNone/>
            </a:pPr>
            <a:r>
              <a:rPr lang="en-US" dirty="0"/>
              <a:t>illegal reference, trap to operating system</a:t>
            </a:r>
          </a:p>
          <a:p>
            <a:pPr marL="0" indent="0">
              <a:buNone/>
            </a:pPr>
            <a:r>
              <a:rPr lang="en-US" dirty="0"/>
              <a:t>1327 + 400 = 1727</a:t>
            </a:r>
          </a:p>
          <a:p>
            <a:pPr marL="0" indent="0">
              <a:buNone/>
            </a:pPr>
            <a:r>
              <a:rPr lang="en-US" dirty="0"/>
              <a:t>illegal reference, trap to operating system</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54</a:t>
            </a:fld>
            <a:endParaRPr lang="en-US" altLang="en-US"/>
          </a:p>
        </p:txBody>
      </p:sp>
    </p:spTree>
    <p:extLst>
      <p:ext uri="{BB962C8B-B14F-4D97-AF65-F5344CB8AC3E}">
        <p14:creationId xmlns:p14="http://schemas.microsoft.com/office/powerpoint/2010/main" val="2473108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3492721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37242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2051613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Memory Management</a:t>
            </a:r>
          </a:p>
        </p:txBody>
      </p:sp>
      <p:sp>
        <p:nvSpPr>
          <p:cNvPr id="7" name="Slide Number Placeholder 6"/>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2615983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Vincenzo Gulisano</a:t>
            </a:r>
          </a:p>
        </p:txBody>
      </p:sp>
      <p:sp>
        <p:nvSpPr>
          <p:cNvPr id="8" name="Footer Placeholder 7"/>
          <p:cNvSpPr>
            <a:spLocks noGrp="1"/>
          </p:cNvSpPr>
          <p:nvPr>
            <p:ph type="ftr" sz="quarter" idx="11"/>
          </p:nvPr>
        </p:nvSpPr>
        <p:spPr/>
        <p:txBody>
          <a:bodyPr/>
          <a:lstStyle/>
          <a:p>
            <a:r>
              <a:rPr lang="en-US"/>
              <a:t>Operating Systems - Memory Management</a:t>
            </a:r>
          </a:p>
        </p:txBody>
      </p:sp>
      <p:sp>
        <p:nvSpPr>
          <p:cNvPr id="9" name="Slide Number Placeholder 8"/>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3331045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Vincenzo Gulisano</a:t>
            </a:r>
          </a:p>
        </p:txBody>
      </p:sp>
      <p:sp>
        <p:nvSpPr>
          <p:cNvPr id="4" name="Footer Placeholder 3"/>
          <p:cNvSpPr>
            <a:spLocks noGrp="1"/>
          </p:cNvSpPr>
          <p:nvPr>
            <p:ph type="ftr" sz="quarter" idx="11"/>
          </p:nvPr>
        </p:nvSpPr>
        <p:spPr/>
        <p:txBody>
          <a:bodyPr/>
          <a:lstStyle/>
          <a:p>
            <a:r>
              <a:rPr lang="en-US"/>
              <a:t>Operating Systems - Memory Management</a:t>
            </a:r>
          </a:p>
        </p:txBody>
      </p:sp>
      <p:sp>
        <p:nvSpPr>
          <p:cNvPr id="5" name="Slide Number Placeholder 4"/>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3723920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Memory Management</a:t>
            </a:r>
          </a:p>
        </p:txBody>
      </p:sp>
      <p:sp>
        <p:nvSpPr>
          <p:cNvPr id="4" name="Slide Number Placeholder 3"/>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976592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Memory Management</a:t>
            </a:r>
          </a:p>
        </p:txBody>
      </p:sp>
      <p:sp>
        <p:nvSpPr>
          <p:cNvPr id="7" name="Slide Number Placeholder 6"/>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1943748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Memory Management</a:t>
            </a:r>
          </a:p>
        </p:txBody>
      </p:sp>
      <p:sp>
        <p:nvSpPr>
          <p:cNvPr id="7" name="Slide Number Placeholder 6"/>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1713702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2471492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3537686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7898112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79812-7922-F572-FBF4-DD8EA42A7C22}"/>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SE"/>
          </a:p>
        </p:txBody>
      </p:sp>
      <p:sp>
        <p:nvSpPr>
          <p:cNvPr id="3" name="Subtitle 2">
            <a:extLst>
              <a:ext uri="{FF2B5EF4-FFF2-40B4-BE49-F238E27FC236}">
                <a16:creationId xmlns:a16="http://schemas.microsoft.com/office/drawing/2014/main" id="{ABBDCA14-D8CD-7EC4-4379-8F747B154259}"/>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SE"/>
          </a:p>
        </p:txBody>
      </p:sp>
      <p:sp>
        <p:nvSpPr>
          <p:cNvPr id="4" name="Date Placeholder 3">
            <a:extLst>
              <a:ext uri="{FF2B5EF4-FFF2-40B4-BE49-F238E27FC236}">
                <a16:creationId xmlns:a16="http://schemas.microsoft.com/office/drawing/2014/main" id="{88DE1525-4B3B-62BB-AEC4-3717A8D728AB}"/>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28905C6B-C68A-2246-B76C-47CEEB7190AB}"/>
              </a:ext>
            </a:extLst>
          </p:cNvPr>
          <p:cNvSpPr>
            <a:spLocks noGrp="1"/>
          </p:cNvSpPr>
          <p:nvPr>
            <p:ph type="ftr" sz="quarter" idx="11"/>
          </p:nvPr>
        </p:nvSpPr>
        <p:spPr/>
        <p:txBody>
          <a:bodyPr/>
          <a:lstStyle/>
          <a:p>
            <a:r>
              <a:rPr lang="en-SE"/>
              <a:t>Operating Systems - Memory Management</a:t>
            </a:r>
          </a:p>
        </p:txBody>
      </p:sp>
      <p:sp>
        <p:nvSpPr>
          <p:cNvPr id="6" name="Slide Number Placeholder 5">
            <a:extLst>
              <a:ext uri="{FF2B5EF4-FFF2-40B4-BE49-F238E27FC236}">
                <a16:creationId xmlns:a16="http://schemas.microsoft.com/office/drawing/2014/main" id="{AB40407D-879E-F928-BEB7-EF9231411805}"/>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38554362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BFBF7-5873-10B0-9757-E649F2C5B571}"/>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FF74E676-6F6B-F88F-8188-716C9949800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01173FE5-95F9-28B1-736D-8595BFD5D1B7}"/>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FB47F0D8-4BC6-B5DD-8742-1139CAC18732}"/>
              </a:ext>
            </a:extLst>
          </p:cNvPr>
          <p:cNvSpPr>
            <a:spLocks noGrp="1"/>
          </p:cNvSpPr>
          <p:nvPr>
            <p:ph type="ftr" sz="quarter" idx="11"/>
          </p:nvPr>
        </p:nvSpPr>
        <p:spPr/>
        <p:txBody>
          <a:bodyPr/>
          <a:lstStyle/>
          <a:p>
            <a:r>
              <a:rPr lang="en-SE"/>
              <a:t>Operating Systems - Memory Management</a:t>
            </a:r>
          </a:p>
        </p:txBody>
      </p:sp>
      <p:sp>
        <p:nvSpPr>
          <p:cNvPr id="6" name="Slide Number Placeholder 5">
            <a:extLst>
              <a:ext uri="{FF2B5EF4-FFF2-40B4-BE49-F238E27FC236}">
                <a16:creationId xmlns:a16="http://schemas.microsoft.com/office/drawing/2014/main" id="{7568186D-B6F3-BA3E-B41B-3ED6067019DB}"/>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3106274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CCB8A-3B4C-FD93-4189-DBE9A57D1079}"/>
              </a:ext>
            </a:extLst>
          </p:cNvPr>
          <p:cNvSpPr>
            <a:spLocks noGrp="1"/>
          </p:cNvSpPr>
          <p:nvPr>
            <p:ph type="title"/>
          </p:nvPr>
        </p:nvSpPr>
        <p:spPr>
          <a:xfrm>
            <a:off x="623887" y="1709738"/>
            <a:ext cx="7886700" cy="2852737"/>
          </a:xfrm>
        </p:spPr>
        <p:txBody>
          <a:bodyPr anchor="b"/>
          <a:lstStyle>
            <a:lvl1pPr>
              <a:defRPr sz="4500"/>
            </a:lvl1pPr>
          </a:lstStyle>
          <a:p>
            <a:r>
              <a:rPr lang="en-GB"/>
              <a:t>Click to edit Master title style</a:t>
            </a:r>
            <a:endParaRPr lang="en-SE"/>
          </a:p>
        </p:txBody>
      </p:sp>
      <p:sp>
        <p:nvSpPr>
          <p:cNvPr id="3" name="Text Placeholder 2">
            <a:extLst>
              <a:ext uri="{FF2B5EF4-FFF2-40B4-BE49-F238E27FC236}">
                <a16:creationId xmlns:a16="http://schemas.microsoft.com/office/drawing/2014/main" id="{A878525E-4244-E2FB-46D6-5C464D83814E}"/>
              </a:ext>
            </a:extLst>
          </p:cNvPr>
          <p:cNvSpPr>
            <a:spLocks noGrp="1"/>
          </p:cNvSpPr>
          <p:nvPr>
            <p:ph type="body" idx="1"/>
          </p:nvPr>
        </p:nvSpPr>
        <p:spPr>
          <a:xfrm>
            <a:off x="623887"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FC5DD53-BEAA-0F2B-D537-033D2CF9FFFF}"/>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A9FB11E0-3D79-7837-9C0C-1DA40974D9AF}"/>
              </a:ext>
            </a:extLst>
          </p:cNvPr>
          <p:cNvSpPr>
            <a:spLocks noGrp="1"/>
          </p:cNvSpPr>
          <p:nvPr>
            <p:ph type="ftr" sz="quarter" idx="11"/>
          </p:nvPr>
        </p:nvSpPr>
        <p:spPr/>
        <p:txBody>
          <a:bodyPr/>
          <a:lstStyle/>
          <a:p>
            <a:r>
              <a:rPr lang="en-SE"/>
              <a:t>Operating Systems - Memory Management</a:t>
            </a:r>
          </a:p>
        </p:txBody>
      </p:sp>
      <p:sp>
        <p:nvSpPr>
          <p:cNvPr id="6" name="Slide Number Placeholder 5">
            <a:extLst>
              <a:ext uri="{FF2B5EF4-FFF2-40B4-BE49-F238E27FC236}">
                <a16:creationId xmlns:a16="http://schemas.microsoft.com/office/drawing/2014/main" id="{18C00861-D42C-A73A-D630-B6B7BFB29385}"/>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36894622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CA19E-845B-1661-6821-DF218196A3CB}"/>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448D2967-9105-9FE1-17C9-9F2A19E4EA99}"/>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Content Placeholder 3">
            <a:extLst>
              <a:ext uri="{FF2B5EF4-FFF2-40B4-BE49-F238E27FC236}">
                <a16:creationId xmlns:a16="http://schemas.microsoft.com/office/drawing/2014/main" id="{4265FB82-CD83-312A-4471-42A432503F51}"/>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Date Placeholder 4">
            <a:extLst>
              <a:ext uri="{FF2B5EF4-FFF2-40B4-BE49-F238E27FC236}">
                <a16:creationId xmlns:a16="http://schemas.microsoft.com/office/drawing/2014/main" id="{11FF9E22-737E-2E7C-E3DA-8CA18013813F}"/>
              </a:ext>
            </a:extLst>
          </p:cNvPr>
          <p:cNvSpPr>
            <a:spLocks noGrp="1"/>
          </p:cNvSpPr>
          <p:nvPr>
            <p:ph type="dt" sz="half" idx="10"/>
          </p:nvPr>
        </p:nvSpPr>
        <p:spPr/>
        <p:txBody>
          <a:bodyPr/>
          <a:lstStyle/>
          <a:p>
            <a:r>
              <a:rPr lang="en-US"/>
              <a:t>Vincenzo Gulisano</a:t>
            </a:r>
            <a:endParaRPr lang="en-SE"/>
          </a:p>
        </p:txBody>
      </p:sp>
      <p:sp>
        <p:nvSpPr>
          <p:cNvPr id="6" name="Footer Placeholder 5">
            <a:extLst>
              <a:ext uri="{FF2B5EF4-FFF2-40B4-BE49-F238E27FC236}">
                <a16:creationId xmlns:a16="http://schemas.microsoft.com/office/drawing/2014/main" id="{2E6404B9-175B-6B12-2F8E-A61C886B9F89}"/>
              </a:ext>
            </a:extLst>
          </p:cNvPr>
          <p:cNvSpPr>
            <a:spLocks noGrp="1"/>
          </p:cNvSpPr>
          <p:nvPr>
            <p:ph type="ftr" sz="quarter" idx="11"/>
          </p:nvPr>
        </p:nvSpPr>
        <p:spPr/>
        <p:txBody>
          <a:bodyPr/>
          <a:lstStyle/>
          <a:p>
            <a:r>
              <a:rPr lang="en-SE"/>
              <a:t>Operating Systems - Memory Management</a:t>
            </a:r>
          </a:p>
        </p:txBody>
      </p:sp>
      <p:sp>
        <p:nvSpPr>
          <p:cNvPr id="7" name="Slide Number Placeholder 6">
            <a:extLst>
              <a:ext uri="{FF2B5EF4-FFF2-40B4-BE49-F238E27FC236}">
                <a16:creationId xmlns:a16="http://schemas.microsoft.com/office/drawing/2014/main" id="{5FA6A131-949B-8DCD-F714-920633044F3D}"/>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727034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4C652-8B98-9526-560D-70865BE445E2}"/>
              </a:ext>
            </a:extLst>
          </p:cNvPr>
          <p:cNvSpPr>
            <a:spLocks noGrp="1"/>
          </p:cNvSpPr>
          <p:nvPr>
            <p:ph type="title"/>
          </p:nvPr>
        </p:nvSpPr>
        <p:spPr>
          <a:xfrm>
            <a:off x="629841" y="365126"/>
            <a:ext cx="7886700" cy="1325563"/>
          </a:xfrm>
        </p:spPr>
        <p:txBody>
          <a:bodyPr/>
          <a:lstStyle/>
          <a:p>
            <a:r>
              <a:rPr lang="en-GB"/>
              <a:t>Click to edit Master title style</a:t>
            </a:r>
            <a:endParaRPr lang="en-SE"/>
          </a:p>
        </p:txBody>
      </p:sp>
      <p:sp>
        <p:nvSpPr>
          <p:cNvPr id="3" name="Text Placeholder 2">
            <a:extLst>
              <a:ext uri="{FF2B5EF4-FFF2-40B4-BE49-F238E27FC236}">
                <a16:creationId xmlns:a16="http://schemas.microsoft.com/office/drawing/2014/main" id="{1D288DE9-A5B0-990E-BB8B-A31D61E40EF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A2B54AB7-F18E-95A9-03A1-98F4030C8D9E}"/>
              </a:ext>
            </a:extLst>
          </p:cNvPr>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Text Placeholder 4">
            <a:extLst>
              <a:ext uri="{FF2B5EF4-FFF2-40B4-BE49-F238E27FC236}">
                <a16:creationId xmlns:a16="http://schemas.microsoft.com/office/drawing/2014/main" id="{0B6ED570-D069-9521-D4CF-AEBD9630DD2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D2292C33-3C07-678D-88B9-1615C87180CC}"/>
              </a:ext>
            </a:extLst>
          </p:cNvPr>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7" name="Date Placeholder 6">
            <a:extLst>
              <a:ext uri="{FF2B5EF4-FFF2-40B4-BE49-F238E27FC236}">
                <a16:creationId xmlns:a16="http://schemas.microsoft.com/office/drawing/2014/main" id="{91727F4A-7354-3CB0-5B9B-1FFD762ACB05}"/>
              </a:ext>
            </a:extLst>
          </p:cNvPr>
          <p:cNvSpPr>
            <a:spLocks noGrp="1"/>
          </p:cNvSpPr>
          <p:nvPr>
            <p:ph type="dt" sz="half" idx="10"/>
          </p:nvPr>
        </p:nvSpPr>
        <p:spPr/>
        <p:txBody>
          <a:bodyPr/>
          <a:lstStyle/>
          <a:p>
            <a:r>
              <a:rPr lang="en-US"/>
              <a:t>Vincenzo Gulisano</a:t>
            </a:r>
            <a:endParaRPr lang="en-SE"/>
          </a:p>
        </p:txBody>
      </p:sp>
      <p:sp>
        <p:nvSpPr>
          <p:cNvPr id="8" name="Footer Placeholder 7">
            <a:extLst>
              <a:ext uri="{FF2B5EF4-FFF2-40B4-BE49-F238E27FC236}">
                <a16:creationId xmlns:a16="http://schemas.microsoft.com/office/drawing/2014/main" id="{FDC7CABA-3CE2-733D-2E38-1A95A389E1AB}"/>
              </a:ext>
            </a:extLst>
          </p:cNvPr>
          <p:cNvSpPr>
            <a:spLocks noGrp="1"/>
          </p:cNvSpPr>
          <p:nvPr>
            <p:ph type="ftr" sz="quarter" idx="11"/>
          </p:nvPr>
        </p:nvSpPr>
        <p:spPr/>
        <p:txBody>
          <a:bodyPr/>
          <a:lstStyle/>
          <a:p>
            <a:r>
              <a:rPr lang="en-SE"/>
              <a:t>Operating Systems - Memory Management</a:t>
            </a:r>
          </a:p>
        </p:txBody>
      </p:sp>
      <p:sp>
        <p:nvSpPr>
          <p:cNvPr id="9" name="Slide Number Placeholder 8">
            <a:extLst>
              <a:ext uri="{FF2B5EF4-FFF2-40B4-BE49-F238E27FC236}">
                <a16:creationId xmlns:a16="http://schemas.microsoft.com/office/drawing/2014/main" id="{209D0B67-9A9C-FD36-D4AF-5606F241491B}"/>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36474483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BFD02-C951-2E5A-76C7-5AD87510E998}"/>
              </a:ext>
            </a:extLst>
          </p:cNvPr>
          <p:cNvSpPr>
            <a:spLocks noGrp="1"/>
          </p:cNvSpPr>
          <p:nvPr>
            <p:ph type="title"/>
          </p:nvPr>
        </p:nvSpPr>
        <p:spPr/>
        <p:txBody>
          <a:bodyPr/>
          <a:lstStyle/>
          <a:p>
            <a:r>
              <a:rPr lang="en-GB"/>
              <a:t>Click to edit Master title style</a:t>
            </a:r>
            <a:endParaRPr lang="en-SE"/>
          </a:p>
        </p:txBody>
      </p:sp>
      <p:sp>
        <p:nvSpPr>
          <p:cNvPr id="3" name="Date Placeholder 2">
            <a:extLst>
              <a:ext uri="{FF2B5EF4-FFF2-40B4-BE49-F238E27FC236}">
                <a16:creationId xmlns:a16="http://schemas.microsoft.com/office/drawing/2014/main" id="{A8EEE3E6-1578-7FFA-392B-40975533A022}"/>
              </a:ext>
            </a:extLst>
          </p:cNvPr>
          <p:cNvSpPr>
            <a:spLocks noGrp="1"/>
          </p:cNvSpPr>
          <p:nvPr>
            <p:ph type="dt" sz="half" idx="10"/>
          </p:nvPr>
        </p:nvSpPr>
        <p:spPr/>
        <p:txBody>
          <a:bodyPr/>
          <a:lstStyle/>
          <a:p>
            <a:r>
              <a:rPr lang="en-US"/>
              <a:t>Vincenzo Gulisano</a:t>
            </a:r>
            <a:endParaRPr lang="en-SE"/>
          </a:p>
        </p:txBody>
      </p:sp>
      <p:sp>
        <p:nvSpPr>
          <p:cNvPr id="4" name="Footer Placeholder 3">
            <a:extLst>
              <a:ext uri="{FF2B5EF4-FFF2-40B4-BE49-F238E27FC236}">
                <a16:creationId xmlns:a16="http://schemas.microsoft.com/office/drawing/2014/main" id="{B484A12A-450B-ED62-D0EB-D539A22A7F22}"/>
              </a:ext>
            </a:extLst>
          </p:cNvPr>
          <p:cNvSpPr>
            <a:spLocks noGrp="1"/>
          </p:cNvSpPr>
          <p:nvPr>
            <p:ph type="ftr" sz="quarter" idx="11"/>
          </p:nvPr>
        </p:nvSpPr>
        <p:spPr/>
        <p:txBody>
          <a:bodyPr/>
          <a:lstStyle/>
          <a:p>
            <a:r>
              <a:rPr lang="en-SE"/>
              <a:t>Operating Systems - Memory Management</a:t>
            </a:r>
          </a:p>
        </p:txBody>
      </p:sp>
      <p:sp>
        <p:nvSpPr>
          <p:cNvPr id="5" name="Slide Number Placeholder 4">
            <a:extLst>
              <a:ext uri="{FF2B5EF4-FFF2-40B4-BE49-F238E27FC236}">
                <a16:creationId xmlns:a16="http://schemas.microsoft.com/office/drawing/2014/main" id="{980D9527-1330-18FB-012C-9A2B1E0B375A}"/>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19746874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618DAA-258A-EB1C-D3D6-394B92572B91}"/>
              </a:ext>
            </a:extLst>
          </p:cNvPr>
          <p:cNvSpPr>
            <a:spLocks noGrp="1"/>
          </p:cNvSpPr>
          <p:nvPr>
            <p:ph type="dt" sz="half" idx="10"/>
          </p:nvPr>
        </p:nvSpPr>
        <p:spPr/>
        <p:txBody>
          <a:bodyPr/>
          <a:lstStyle/>
          <a:p>
            <a:r>
              <a:rPr lang="en-US"/>
              <a:t>Vincenzo Gulisano</a:t>
            </a:r>
            <a:endParaRPr lang="en-SE"/>
          </a:p>
        </p:txBody>
      </p:sp>
      <p:sp>
        <p:nvSpPr>
          <p:cNvPr id="3" name="Footer Placeholder 2">
            <a:extLst>
              <a:ext uri="{FF2B5EF4-FFF2-40B4-BE49-F238E27FC236}">
                <a16:creationId xmlns:a16="http://schemas.microsoft.com/office/drawing/2014/main" id="{3BEB1676-85F6-2216-F0C7-7AE6D31D1727}"/>
              </a:ext>
            </a:extLst>
          </p:cNvPr>
          <p:cNvSpPr>
            <a:spLocks noGrp="1"/>
          </p:cNvSpPr>
          <p:nvPr>
            <p:ph type="ftr" sz="quarter" idx="11"/>
          </p:nvPr>
        </p:nvSpPr>
        <p:spPr/>
        <p:txBody>
          <a:bodyPr/>
          <a:lstStyle/>
          <a:p>
            <a:r>
              <a:rPr lang="en-SE"/>
              <a:t>Operating Systems - Memory Management</a:t>
            </a:r>
          </a:p>
        </p:txBody>
      </p:sp>
      <p:sp>
        <p:nvSpPr>
          <p:cNvPr id="4" name="Slide Number Placeholder 3">
            <a:extLst>
              <a:ext uri="{FF2B5EF4-FFF2-40B4-BE49-F238E27FC236}">
                <a16:creationId xmlns:a16="http://schemas.microsoft.com/office/drawing/2014/main" id="{8A980289-5B94-C267-05E1-354B788DAA5D}"/>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31994624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A8B85-D958-749C-9116-203D9B65BC0A}"/>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SE"/>
          </a:p>
        </p:txBody>
      </p:sp>
      <p:sp>
        <p:nvSpPr>
          <p:cNvPr id="3" name="Content Placeholder 2">
            <a:extLst>
              <a:ext uri="{FF2B5EF4-FFF2-40B4-BE49-F238E27FC236}">
                <a16:creationId xmlns:a16="http://schemas.microsoft.com/office/drawing/2014/main" id="{E52C1DD2-68AE-7E77-D7EA-B111BEF944C6}"/>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Text Placeholder 3">
            <a:extLst>
              <a:ext uri="{FF2B5EF4-FFF2-40B4-BE49-F238E27FC236}">
                <a16:creationId xmlns:a16="http://schemas.microsoft.com/office/drawing/2014/main" id="{09D4BBE9-7271-908B-0204-B2B47ADD562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C67395D6-4FCE-3CE4-23C7-CAB7BDB10FF2}"/>
              </a:ext>
            </a:extLst>
          </p:cNvPr>
          <p:cNvSpPr>
            <a:spLocks noGrp="1"/>
          </p:cNvSpPr>
          <p:nvPr>
            <p:ph type="dt" sz="half" idx="10"/>
          </p:nvPr>
        </p:nvSpPr>
        <p:spPr/>
        <p:txBody>
          <a:bodyPr/>
          <a:lstStyle/>
          <a:p>
            <a:r>
              <a:rPr lang="en-US"/>
              <a:t>Vincenzo Gulisano</a:t>
            </a:r>
            <a:endParaRPr lang="en-SE"/>
          </a:p>
        </p:txBody>
      </p:sp>
      <p:sp>
        <p:nvSpPr>
          <p:cNvPr id="6" name="Footer Placeholder 5">
            <a:extLst>
              <a:ext uri="{FF2B5EF4-FFF2-40B4-BE49-F238E27FC236}">
                <a16:creationId xmlns:a16="http://schemas.microsoft.com/office/drawing/2014/main" id="{6B928C22-87DC-2299-6204-65D186D78028}"/>
              </a:ext>
            </a:extLst>
          </p:cNvPr>
          <p:cNvSpPr>
            <a:spLocks noGrp="1"/>
          </p:cNvSpPr>
          <p:nvPr>
            <p:ph type="ftr" sz="quarter" idx="11"/>
          </p:nvPr>
        </p:nvSpPr>
        <p:spPr/>
        <p:txBody>
          <a:bodyPr/>
          <a:lstStyle/>
          <a:p>
            <a:r>
              <a:rPr lang="en-SE"/>
              <a:t>Operating Systems - Memory Management</a:t>
            </a:r>
          </a:p>
        </p:txBody>
      </p:sp>
      <p:sp>
        <p:nvSpPr>
          <p:cNvPr id="7" name="Slide Number Placeholder 6">
            <a:extLst>
              <a:ext uri="{FF2B5EF4-FFF2-40B4-BE49-F238E27FC236}">
                <a16:creationId xmlns:a16="http://schemas.microsoft.com/office/drawing/2014/main" id="{D118E40D-4572-3D5A-9C0E-67B04AC114E1}"/>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18692869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8F4D2-E977-38C0-C4D6-7D8B4E06624D}"/>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SE"/>
          </a:p>
        </p:txBody>
      </p:sp>
      <p:sp>
        <p:nvSpPr>
          <p:cNvPr id="3" name="Picture Placeholder 2">
            <a:extLst>
              <a:ext uri="{FF2B5EF4-FFF2-40B4-BE49-F238E27FC236}">
                <a16:creationId xmlns:a16="http://schemas.microsoft.com/office/drawing/2014/main" id="{87F48638-1DF6-AB77-87DB-AA1DE982A9AB}"/>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SE"/>
          </a:p>
        </p:txBody>
      </p:sp>
      <p:sp>
        <p:nvSpPr>
          <p:cNvPr id="4" name="Text Placeholder 3">
            <a:extLst>
              <a:ext uri="{FF2B5EF4-FFF2-40B4-BE49-F238E27FC236}">
                <a16:creationId xmlns:a16="http://schemas.microsoft.com/office/drawing/2014/main" id="{9618019C-1380-F34C-35D3-58CBA0B81B2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743CFD3B-3CF6-314F-F0BB-DE9D4B76239C}"/>
              </a:ext>
            </a:extLst>
          </p:cNvPr>
          <p:cNvSpPr>
            <a:spLocks noGrp="1"/>
          </p:cNvSpPr>
          <p:nvPr>
            <p:ph type="dt" sz="half" idx="10"/>
          </p:nvPr>
        </p:nvSpPr>
        <p:spPr/>
        <p:txBody>
          <a:bodyPr/>
          <a:lstStyle/>
          <a:p>
            <a:r>
              <a:rPr lang="en-US"/>
              <a:t>Vincenzo Gulisano</a:t>
            </a:r>
            <a:endParaRPr lang="en-SE"/>
          </a:p>
        </p:txBody>
      </p:sp>
      <p:sp>
        <p:nvSpPr>
          <p:cNvPr id="6" name="Footer Placeholder 5">
            <a:extLst>
              <a:ext uri="{FF2B5EF4-FFF2-40B4-BE49-F238E27FC236}">
                <a16:creationId xmlns:a16="http://schemas.microsoft.com/office/drawing/2014/main" id="{578F8E86-733B-9A0D-B37F-6CB5147F64E8}"/>
              </a:ext>
            </a:extLst>
          </p:cNvPr>
          <p:cNvSpPr>
            <a:spLocks noGrp="1"/>
          </p:cNvSpPr>
          <p:nvPr>
            <p:ph type="ftr" sz="quarter" idx="11"/>
          </p:nvPr>
        </p:nvSpPr>
        <p:spPr/>
        <p:txBody>
          <a:bodyPr/>
          <a:lstStyle/>
          <a:p>
            <a:r>
              <a:rPr lang="en-SE"/>
              <a:t>Operating Systems - Memory Management</a:t>
            </a:r>
          </a:p>
        </p:txBody>
      </p:sp>
      <p:sp>
        <p:nvSpPr>
          <p:cNvPr id="7" name="Slide Number Placeholder 6">
            <a:extLst>
              <a:ext uri="{FF2B5EF4-FFF2-40B4-BE49-F238E27FC236}">
                <a16:creationId xmlns:a16="http://schemas.microsoft.com/office/drawing/2014/main" id="{119532F0-C700-8BE6-7D00-C7F1B76770E6}"/>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1679343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27387-51E0-FC74-B175-161E2B8BF9A1}"/>
              </a:ext>
            </a:extLst>
          </p:cNvPr>
          <p:cNvSpPr>
            <a:spLocks noGrp="1"/>
          </p:cNvSpPr>
          <p:nvPr>
            <p:ph type="title"/>
          </p:nvPr>
        </p:nvSpPr>
        <p:spPr/>
        <p:txBody>
          <a:bodyPr/>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01A668C1-69AC-4367-6A8A-9EE60604C44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B369F18E-27A7-F9B0-28F8-17C0D4782E2D}"/>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0BA4AF4E-3016-B845-88C5-561A60CCD496}"/>
              </a:ext>
            </a:extLst>
          </p:cNvPr>
          <p:cNvSpPr>
            <a:spLocks noGrp="1"/>
          </p:cNvSpPr>
          <p:nvPr>
            <p:ph type="ftr" sz="quarter" idx="11"/>
          </p:nvPr>
        </p:nvSpPr>
        <p:spPr/>
        <p:txBody>
          <a:bodyPr/>
          <a:lstStyle/>
          <a:p>
            <a:r>
              <a:rPr lang="en-SE"/>
              <a:t>Operating Systems - Memory Management</a:t>
            </a:r>
          </a:p>
        </p:txBody>
      </p:sp>
      <p:sp>
        <p:nvSpPr>
          <p:cNvPr id="6" name="Slide Number Placeholder 5">
            <a:extLst>
              <a:ext uri="{FF2B5EF4-FFF2-40B4-BE49-F238E27FC236}">
                <a16:creationId xmlns:a16="http://schemas.microsoft.com/office/drawing/2014/main" id="{B553DC10-0C07-A92A-B10C-3391C19EE97F}"/>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18191718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E003F2-C044-A65C-BBEB-8E25B16A7F98}"/>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4F1C09FE-D623-7D09-AB88-15D3DF8793CD}"/>
              </a:ext>
            </a:extLst>
          </p:cNvPr>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744E6A8B-0060-B490-615E-03E460A384F7}"/>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61FAB895-5930-D4D2-7DF5-C2143383ADF6}"/>
              </a:ext>
            </a:extLst>
          </p:cNvPr>
          <p:cNvSpPr>
            <a:spLocks noGrp="1"/>
          </p:cNvSpPr>
          <p:nvPr>
            <p:ph type="ftr" sz="quarter" idx="11"/>
          </p:nvPr>
        </p:nvSpPr>
        <p:spPr/>
        <p:txBody>
          <a:bodyPr/>
          <a:lstStyle/>
          <a:p>
            <a:r>
              <a:rPr lang="en-SE"/>
              <a:t>Operating Systems - Memory Management</a:t>
            </a:r>
          </a:p>
        </p:txBody>
      </p:sp>
      <p:sp>
        <p:nvSpPr>
          <p:cNvPr id="6" name="Slide Number Placeholder 5">
            <a:extLst>
              <a:ext uri="{FF2B5EF4-FFF2-40B4-BE49-F238E27FC236}">
                <a16:creationId xmlns:a16="http://schemas.microsoft.com/office/drawing/2014/main" id="{F4D876F0-760A-D2BB-53A6-0C9BDAB6D94A}"/>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2303793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Vincenzo Gulisano</a:t>
            </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Operating Systems - Memory Management</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D69D4BF-17B8-4416-83AD-33398895AAF4}" type="slidenum">
              <a:rPr lang="en-US" smtClean="0"/>
              <a:t>‹#›</a:t>
            </a:fld>
            <a:endParaRPr lang="en-US"/>
          </a:p>
        </p:txBody>
      </p:sp>
    </p:spTree>
    <p:extLst>
      <p:ext uri="{BB962C8B-B14F-4D97-AF65-F5344CB8AC3E}">
        <p14:creationId xmlns:p14="http://schemas.microsoft.com/office/powerpoint/2010/main" val="3620505976"/>
      </p:ext>
    </p:extLst>
  </p:cSld>
  <p:clrMap bg1="lt1" tx1="dk1" bg2="lt2" tx2="dk2" accent1="accent1" accent2="accent2" accent3="accent3" accent4="accent4" accent5="accent5" accent6="accent6" hlink="hlink" folHlink="folHlink"/>
  <p:sldLayoutIdLst>
    <p:sldLayoutId id="2147484049" r:id="rId1"/>
    <p:sldLayoutId id="2147484050" r:id="rId2"/>
    <p:sldLayoutId id="2147484051" r:id="rId3"/>
    <p:sldLayoutId id="2147484052" r:id="rId4"/>
    <p:sldLayoutId id="2147484053" r:id="rId5"/>
    <p:sldLayoutId id="2147484054" r:id="rId6"/>
    <p:sldLayoutId id="2147484055" r:id="rId7"/>
    <p:sldLayoutId id="2147484056" r:id="rId8"/>
    <p:sldLayoutId id="2147484057" r:id="rId9"/>
    <p:sldLayoutId id="2147484058" r:id="rId10"/>
    <p:sldLayoutId id="2147484059" r:id="rId11"/>
    <p:sldLayoutId id="2147484060" r:id="rId12"/>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208A73-CD14-71D4-6762-D42704258649}"/>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SE"/>
          </a:p>
        </p:txBody>
      </p:sp>
      <p:sp>
        <p:nvSpPr>
          <p:cNvPr id="3" name="Text Placeholder 2">
            <a:extLst>
              <a:ext uri="{FF2B5EF4-FFF2-40B4-BE49-F238E27FC236}">
                <a16:creationId xmlns:a16="http://schemas.microsoft.com/office/drawing/2014/main" id="{2C46A26D-F8DF-E1B7-C797-1B953F065B9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F5398A65-F014-0AA3-2291-081A9AE268E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Vincenzo Gulisano</a:t>
            </a:r>
            <a:endParaRPr lang="en-SE"/>
          </a:p>
        </p:txBody>
      </p:sp>
      <p:sp>
        <p:nvSpPr>
          <p:cNvPr id="5" name="Footer Placeholder 4">
            <a:extLst>
              <a:ext uri="{FF2B5EF4-FFF2-40B4-BE49-F238E27FC236}">
                <a16:creationId xmlns:a16="http://schemas.microsoft.com/office/drawing/2014/main" id="{532645CC-3E41-464B-DC9B-B736B5A40A4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SE"/>
              <a:t>Operating Systems - Memory Management</a:t>
            </a:r>
          </a:p>
        </p:txBody>
      </p:sp>
      <p:sp>
        <p:nvSpPr>
          <p:cNvPr id="6" name="Slide Number Placeholder 5">
            <a:extLst>
              <a:ext uri="{FF2B5EF4-FFF2-40B4-BE49-F238E27FC236}">
                <a16:creationId xmlns:a16="http://schemas.microsoft.com/office/drawing/2014/main" id="{83EFE334-C90F-ECAC-73FF-C31C66E56C04}"/>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F79AA98-1CDB-B74D-913E-0EAC104F29A0}" type="slidenum">
              <a:rPr lang="en-SE" smtClean="0"/>
              <a:t>‹#›</a:t>
            </a:fld>
            <a:endParaRPr lang="en-SE"/>
          </a:p>
        </p:txBody>
      </p:sp>
    </p:spTree>
    <p:extLst>
      <p:ext uri="{BB962C8B-B14F-4D97-AF65-F5344CB8AC3E}">
        <p14:creationId xmlns:p14="http://schemas.microsoft.com/office/powerpoint/2010/main" val="900593209"/>
      </p:ext>
    </p:extLst>
  </p:cSld>
  <p:clrMap bg1="lt1" tx1="dk1" bg2="lt2" tx2="dk2" accent1="accent1" accent2="accent2" accent3="accent3" accent4="accent4" accent5="accent5" accent6="accent6" hlink="hlink" folHlink="folHlink"/>
  <p:sldLayoutIdLst>
    <p:sldLayoutId id="2147484062" r:id="rId1"/>
    <p:sldLayoutId id="2147484063" r:id="rId2"/>
    <p:sldLayoutId id="2147484064" r:id="rId3"/>
    <p:sldLayoutId id="2147484065" r:id="rId4"/>
    <p:sldLayoutId id="2147484066" r:id="rId5"/>
    <p:sldLayoutId id="2147484067" r:id="rId6"/>
    <p:sldLayoutId id="2147484068" r:id="rId7"/>
    <p:sldLayoutId id="2147484069" r:id="rId8"/>
    <p:sldLayoutId id="2147484070" r:id="rId9"/>
    <p:sldLayoutId id="2147484071" r:id="rId10"/>
    <p:sldLayoutId id="2147484072"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S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tiff"/><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2.tiff"/><Relationship Id="rId4" Type="http://schemas.openxmlformats.org/officeDocument/2006/relationships/image" Target="../media/image11.tiff"/></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2.tiff"/><Relationship Id="rId4" Type="http://schemas.openxmlformats.org/officeDocument/2006/relationships/image" Target="../media/image16.tif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tiff"/></Relationships>
</file>

<file path=ppt/slides/_rels/slide42.xml.rels><?xml version="1.0" encoding="UTF-8" standalone="yes"?>
<Relationships xmlns="http://schemas.openxmlformats.org/package/2006/relationships"><Relationship Id="rId3" Type="http://schemas.openxmlformats.org/officeDocument/2006/relationships/image" Target="../media/image26.tiff"/><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5.tiff"/></Relationships>
</file>

<file path=ppt/slides/_rels/slide4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txBox="1">
            <a:spLocks noChangeArrowheads="1"/>
          </p:cNvSpPr>
          <p:nvPr/>
        </p:nvSpPr>
        <p:spPr>
          <a:xfrm>
            <a:off x="632460" y="1424940"/>
            <a:ext cx="7772400" cy="2127250"/>
          </a:xfrm>
          <a:prstGeom prst="rect">
            <a:avLst/>
          </a:prstGeom>
        </p:spPr>
        <p:txBody>
          <a:bodyPr vert="horz" lIns="91440" tIns="45720" rIns="91440" bIns="45720" rtlCol="0" anchor="ctr">
            <a:normAutofit fontScale="90000" lnSpcReduction="10000"/>
          </a:bodyPr>
          <a:lstStyle>
            <a:lvl1pPr algn="l" defTabSz="685800" rtl="0" eaLnBrk="1" latinLnBrk="0" hangingPunct="1">
              <a:lnSpc>
                <a:spcPct val="90000"/>
              </a:lnSpc>
              <a:spcBef>
                <a:spcPct val="0"/>
              </a:spcBef>
              <a:buNone/>
              <a:defRPr sz="4300" kern="1200">
                <a:solidFill>
                  <a:schemeClr val="tx1"/>
                </a:solidFill>
                <a:latin typeface="+mj-lt"/>
                <a:ea typeface="+mj-ea"/>
                <a:cs typeface="+mj-cs"/>
              </a:defRPr>
            </a:lvl1pPr>
          </a:lstStyle>
          <a:p>
            <a:pPr fontAlgn="auto">
              <a:spcAft>
                <a:spcPts val="0"/>
              </a:spcAft>
            </a:pPr>
            <a:r>
              <a:rPr lang="en-US" sz="4000" dirty="0"/>
              <a:t>Memory Management</a:t>
            </a:r>
            <a:br>
              <a:rPr lang="en-US" altLang="en-US" sz="4000" dirty="0"/>
            </a:br>
            <a:r>
              <a:rPr lang="en-US" altLang="en-US" sz="4000" dirty="0"/>
              <a:t>Operating Systems – EDA093/DIT401</a:t>
            </a:r>
            <a:br>
              <a:rPr lang="en-US" altLang="en-US" dirty="0"/>
            </a:br>
            <a:br>
              <a:rPr lang="en-US" altLang="en-US" dirty="0"/>
            </a:br>
            <a:r>
              <a:rPr lang="en-US" altLang="en-US" sz="3200" dirty="0"/>
              <a:t>Vincenzo Gulisano</a:t>
            </a:r>
            <a:br>
              <a:rPr lang="en-US" altLang="en-US" sz="3200" dirty="0"/>
            </a:br>
            <a:r>
              <a:rPr lang="en-US" altLang="en-US" sz="2000" dirty="0"/>
              <a:t>vincenzo.gulisano@chalmers.se</a:t>
            </a:r>
            <a:endParaRPr lang="en-US" altLang="en-US" sz="2700" dirty="0"/>
          </a:p>
        </p:txBody>
      </p:sp>
      <p:grpSp>
        <p:nvGrpSpPr>
          <p:cNvPr id="2" name="Group 1">
            <a:extLst>
              <a:ext uri="{FF2B5EF4-FFF2-40B4-BE49-F238E27FC236}">
                <a16:creationId xmlns:a16="http://schemas.microsoft.com/office/drawing/2014/main" id="{60B63B3D-3E2F-3ECF-B76E-AC218790FD9B}"/>
              </a:ext>
            </a:extLst>
          </p:cNvPr>
          <p:cNvGrpSpPr/>
          <p:nvPr/>
        </p:nvGrpSpPr>
        <p:grpSpPr>
          <a:xfrm>
            <a:off x="1019614" y="4659360"/>
            <a:ext cx="7104771" cy="1547400"/>
            <a:chOff x="777241" y="4793437"/>
            <a:chExt cx="7104771" cy="1547400"/>
          </a:xfrm>
        </p:grpSpPr>
        <p:pic>
          <p:nvPicPr>
            <p:cNvPr id="3" name="Picture 2">
              <a:extLst>
                <a:ext uri="{FF2B5EF4-FFF2-40B4-BE49-F238E27FC236}">
                  <a16:creationId xmlns:a16="http://schemas.microsoft.com/office/drawing/2014/main" id="{FFA536BF-0E6A-86B6-D574-1384E34D8D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022" y="4793437"/>
              <a:ext cx="2078990" cy="15474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A421E9D-1A66-EA6B-22A6-13488992A9D6}"/>
                </a:ext>
              </a:extLst>
            </p:cNvPr>
            <p:cNvPicPr>
              <a:picLocks noChangeAspect="1"/>
            </p:cNvPicPr>
            <p:nvPr/>
          </p:nvPicPr>
          <p:blipFill>
            <a:blip r:embed="rId4"/>
            <a:stretch>
              <a:fillRect/>
            </a:stretch>
          </p:blipFill>
          <p:spPr>
            <a:xfrm>
              <a:off x="777241" y="4973870"/>
              <a:ext cx="4724632" cy="1186535"/>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read (main textbook)</a:t>
            </a:r>
          </a:p>
        </p:txBody>
      </p:sp>
      <p:sp>
        <p:nvSpPr>
          <p:cNvPr id="3" name="Date Placeholder 2"/>
          <p:cNvSpPr>
            <a:spLocks noGrp="1"/>
          </p:cNvSpPr>
          <p:nvPr>
            <p:ph type="dt" sz="half" idx="10"/>
          </p:nvPr>
        </p:nvSpPr>
        <p:spPr/>
        <p:txBody>
          <a:bodyPr/>
          <a:lstStyle/>
          <a:p>
            <a:r>
              <a:rPr lang="en-US"/>
              <a:t>Vincenzo Gulisano</a:t>
            </a:r>
          </a:p>
        </p:txBody>
      </p:sp>
      <p:sp>
        <p:nvSpPr>
          <p:cNvPr id="4" name="Footer Placeholder 3"/>
          <p:cNvSpPr>
            <a:spLocks noGrp="1"/>
          </p:cNvSpPr>
          <p:nvPr>
            <p:ph type="ftr" sz="quarter" idx="11"/>
          </p:nvPr>
        </p:nvSpPr>
        <p:spPr/>
        <p:txBody>
          <a:bodyPr/>
          <a:lstStyle/>
          <a:p>
            <a:r>
              <a:rPr lang="en-US"/>
              <a:t>Operating Systems - Memory Management</a:t>
            </a:r>
          </a:p>
        </p:txBody>
      </p:sp>
      <p:sp>
        <p:nvSpPr>
          <p:cNvPr id="5" name="Slide Number Placeholder 4"/>
          <p:cNvSpPr>
            <a:spLocks noGrp="1"/>
          </p:cNvSpPr>
          <p:nvPr>
            <p:ph type="sldNum" sz="quarter" idx="12"/>
          </p:nvPr>
        </p:nvSpPr>
        <p:spPr/>
        <p:txBody>
          <a:bodyPr/>
          <a:lstStyle/>
          <a:p>
            <a:fld id="{2D69D4BF-17B8-4416-83AD-33398895AAF4}" type="slidenum">
              <a:rPr lang="en-US" smtClean="0"/>
              <a:t>2</a:t>
            </a:fld>
            <a:endParaRPr lang="en-US"/>
          </a:p>
        </p:txBody>
      </p:sp>
      <p:sp>
        <p:nvSpPr>
          <p:cNvPr id="6" name="Content Placeholder 2"/>
          <p:cNvSpPr txBox="1">
            <a:spLocks/>
          </p:cNvSpPr>
          <p:nvPr/>
        </p:nvSpPr>
        <p:spPr>
          <a:xfrm>
            <a:off x="806450" y="1233488"/>
            <a:ext cx="6940550" cy="4530725"/>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endParaRPr lang="en-US" altLang="en-US" dirty="0"/>
          </a:p>
          <a:p>
            <a:pPr fontAlgn="auto">
              <a:spcAft>
                <a:spcPts val="0"/>
              </a:spcAft>
            </a:pPr>
            <a:r>
              <a:rPr lang="en-US" dirty="0"/>
              <a:t>Sections 3.1, 3.2, and the introduction to Section 3.7 (stop before Section 3.7.1).</a:t>
            </a:r>
          </a:p>
          <a:p>
            <a:pPr fontAlgn="auto">
              <a:spcAft>
                <a:spcPts val="0"/>
              </a:spcAft>
            </a:pPr>
            <a:r>
              <a:rPr lang="en-US" dirty="0"/>
              <a:t>Optional additional reading: Sections 8.1–8.5 of </a:t>
            </a:r>
            <a:r>
              <a:rPr lang="en-US" i="1" dirty="0"/>
              <a:t>Operating System Concepts </a:t>
            </a:r>
            <a:r>
              <a:rPr lang="en-US" dirty="0"/>
              <a:t>from Silberschatz.</a:t>
            </a:r>
          </a:p>
          <a:p>
            <a:pPr fontAlgn="auto">
              <a:spcAft>
                <a:spcPts val="0"/>
              </a:spcAft>
            </a:pPr>
            <a:endParaRPr lang="en-US" altLang="en-US" dirty="0"/>
          </a:p>
        </p:txBody>
      </p:sp>
    </p:spTree>
    <p:extLst>
      <p:ext uri="{BB962C8B-B14F-4D97-AF65-F5344CB8AC3E}">
        <p14:creationId xmlns:p14="http://schemas.microsoft.com/office/powerpoint/2010/main" val="125369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US" altLang="en-US" dirty="0"/>
              <a:t>Objective</a:t>
            </a:r>
          </a:p>
        </p:txBody>
      </p:sp>
      <p:sp>
        <p:nvSpPr>
          <p:cNvPr id="5123" name="Content Placeholder 2"/>
          <p:cNvSpPr>
            <a:spLocks noGrp="1"/>
          </p:cNvSpPr>
          <p:nvPr>
            <p:ph idx="1"/>
          </p:nvPr>
        </p:nvSpPr>
        <p:spPr>
          <a:xfrm>
            <a:off x="806450" y="1233488"/>
            <a:ext cx="6940550" cy="4530725"/>
          </a:xfrm>
        </p:spPr>
        <p:txBody>
          <a:bodyPr/>
          <a:lstStyle/>
          <a:p>
            <a:endParaRPr lang="en-US" altLang="en-US" dirty="0"/>
          </a:p>
          <a:p>
            <a:pPr marL="457200" indent="-457200">
              <a:buFont typeface="+mj-lt"/>
              <a:buAutoNum type="arabicPeriod"/>
            </a:pPr>
            <a:r>
              <a:rPr lang="en-US" altLang="en-US" dirty="0"/>
              <a:t>Discuss how different types of memory are used</a:t>
            </a:r>
          </a:p>
          <a:p>
            <a:pPr marL="457200" indent="-457200">
              <a:buFont typeface="+mj-lt"/>
              <a:buAutoNum type="arabicPeriod"/>
            </a:pPr>
            <a:r>
              <a:rPr lang="en-US" altLang="en-US" dirty="0"/>
              <a:t>Discuss how information is continuously moved between “slow memory” and “fast memory” (accessed directly by the CPU)</a:t>
            </a:r>
          </a:p>
          <a:p>
            <a:pPr marL="457200" indent="-457200">
              <a:buFont typeface="+mj-lt"/>
              <a:buAutoNum type="arabicPeriod"/>
            </a:pPr>
            <a:r>
              <a:rPr lang="en-US" altLang="en-US" dirty="0"/>
              <a:t>Discuss why a process’ view of memory and physical memory are kept separated</a:t>
            </a:r>
          </a:p>
        </p:txBody>
      </p:sp>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Memory Management</a:t>
            </a:r>
          </a:p>
        </p:txBody>
      </p:sp>
      <p:sp>
        <p:nvSpPr>
          <p:cNvPr id="4" name="Slide Number Placeholder 3"/>
          <p:cNvSpPr>
            <a:spLocks noGrp="1"/>
          </p:cNvSpPr>
          <p:nvPr>
            <p:ph type="sldNum" sz="quarter" idx="12"/>
          </p:nvPr>
        </p:nvSpPr>
        <p:spPr/>
        <p:txBody>
          <a:bodyPr/>
          <a:lstStyle/>
          <a:p>
            <a:fld id="{2D69D4BF-17B8-4416-83AD-33398895AAF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t>Introduction</a:t>
            </a:r>
          </a:p>
          <a:p>
            <a:r>
              <a:rPr lang="en-US" dirty="0"/>
              <a:t>Base and limit registers</a:t>
            </a:r>
          </a:p>
          <a:p>
            <a:r>
              <a:rPr lang="en-US" dirty="0"/>
              <a:t>Logical/virtual versus physical addresses</a:t>
            </a:r>
          </a:p>
          <a:p>
            <a:r>
              <a:rPr lang="en-US" dirty="0"/>
              <a:t>Dynamic loading and dynamic linking [self-study]</a:t>
            </a:r>
          </a:p>
          <a:p>
            <a:r>
              <a:rPr lang="en-US" dirty="0"/>
              <a:t>Swapping</a:t>
            </a:r>
          </a:p>
          <a:p>
            <a:r>
              <a:rPr lang="en-US" dirty="0"/>
              <a:t>Memory allocation</a:t>
            </a:r>
          </a:p>
          <a:p>
            <a:pPr lvl="1"/>
            <a:r>
              <a:rPr lang="en-US" dirty="0"/>
              <a:t>Contiguous allocation</a:t>
            </a:r>
          </a:p>
          <a:p>
            <a:pPr lvl="1"/>
            <a:r>
              <a:rPr lang="en-US" dirty="0"/>
              <a:t>Segmentation</a:t>
            </a:r>
          </a:p>
          <a:p>
            <a:pPr lvl="1"/>
            <a:r>
              <a:rPr lang="en-US" dirty="0"/>
              <a:t>Paging</a:t>
            </a:r>
          </a:p>
          <a:p>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4</a:t>
            </a:fld>
            <a:endParaRPr lang="en-US"/>
          </a:p>
        </p:txBody>
      </p:sp>
    </p:spTree>
    <p:extLst>
      <p:ext uri="{BB962C8B-B14F-4D97-AF65-F5344CB8AC3E}">
        <p14:creationId xmlns:p14="http://schemas.microsoft.com/office/powerpoint/2010/main" val="341664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t>Introduction</a:t>
            </a:r>
          </a:p>
          <a:p>
            <a:r>
              <a:rPr lang="en-US" dirty="0">
                <a:solidFill>
                  <a:schemeClr val="bg1">
                    <a:lumMod val="75000"/>
                  </a:schemeClr>
                </a:solidFill>
              </a:rPr>
              <a:t>Base and limit registers</a:t>
            </a:r>
          </a:p>
          <a:p>
            <a:r>
              <a:rPr lang="en-US" dirty="0">
                <a:solidFill>
                  <a:schemeClr val="bg1">
                    <a:lumMod val="75000"/>
                  </a:schemeClr>
                </a:solidFill>
              </a:rPr>
              <a:t>Logical/virtual versus physical addresses</a:t>
            </a:r>
          </a:p>
          <a:p>
            <a:r>
              <a:rPr lang="en-US" dirty="0">
                <a:solidFill>
                  <a:schemeClr val="bg1">
                    <a:lumMod val="75000"/>
                  </a:schemeClr>
                </a:solidFill>
              </a:rPr>
              <a:t>Dynamic loading and dynamic linking [self-study]</a:t>
            </a:r>
          </a:p>
          <a:p>
            <a:r>
              <a:rPr lang="en-US" dirty="0">
                <a:solidFill>
                  <a:schemeClr val="bg1">
                    <a:lumMod val="75000"/>
                  </a:schemeClr>
                </a:solidFill>
              </a:rPr>
              <a:t>Swapping</a:t>
            </a:r>
          </a:p>
          <a:p>
            <a:r>
              <a:rPr lang="en-US" dirty="0">
                <a:solidFill>
                  <a:schemeClr val="bg1">
                    <a:lumMod val="75000"/>
                  </a:schemeClr>
                </a:solidFill>
              </a:rPr>
              <a:t>Memory allocation</a:t>
            </a:r>
          </a:p>
          <a:p>
            <a:pPr lvl="1"/>
            <a:r>
              <a:rPr lang="en-US" dirty="0">
                <a:solidFill>
                  <a:schemeClr val="bg1">
                    <a:lumMod val="75000"/>
                  </a:schemeClr>
                </a:solidFill>
              </a:rPr>
              <a:t>Contiguous allocation</a:t>
            </a:r>
          </a:p>
          <a:p>
            <a:pPr lvl="1"/>
            <a:r>
              <a:rPr lang="en-US" dirty="0">
                <a:solidFill>
                  <a:schemeClr val="bg1">
                    <a:lumMod val="75000"/>
                  </a:schemeClr>
                </a:solidFill>
              </a:rPr>
              <a:t>Segmentation</a:t>
            </a:r>
          </a:p>
          <a:p>
            <a:pPr lvl="1"/>
            <a:r>
              <a:rPr lang="en-US" dirty="0">
                <a:solidFill>
                  <a:schemeClr val="bg1">
                    <a:lumMod val="75000"/>
                  </a:schemeClr>
                </a:solidFill>
              </a:rPr>
              <a:t>Paging</a:t>
            </a:r>
          </a:p>
          <a:p>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5</a:t>
            </a:fld>
            <a:endParaRPr lang="en-US"/>
          </a:p>
        </p:txBody>
      </p:sp>
    </p:spTree>
    <p:extLst>
      <p:ext uri="{BB962C8B-B14F-4D97-AF65-F5344CB8AC3E}">
        <p14:creationId xmlns:p14="http://schemas.microsoft.com/office/powerpoint/2010/main" val="659473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and basic hardware (I)</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6</a:t>
            </a:fld>
            <a:endParaRPr lang="en-US"/>
          </a:p>
        </p:txBody>
      </p:sp>
      <p:pic>
        <p:nvPicPr>
          <p:cNvPr id="8" name="Picture 3" descr="C:\Users\as668\Desktop\1_0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57312" y="2654708"/>
            <a:ext cx="3094119" cy="25755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 name="TextBox 9"/>
          <p:cNvSpPr txBox="1"/>
          <p:nvPr/>
        </p:nvSpPr>
        <p:spPr>
          <a:xfrm>
            <a:off x="653845" y="1541116"/>
            <a:ext cx="7836309" cy="646331"/>
          </a:xfrm>
          <a:prstGeom prst="rect">
            <a:avLst/>
          </a:prstGeom>
          <a:noFill/>
        </p:spPr>
        <p:txBody>
          <a:bodyPr wrap="square" rtlCol="0">
            <a:spAutoFit/>
          </a:bodyPr>
          <a:lstStyle/>
          <a:p>
            <a:pPr algn="ctr"/>
            <a:r>
              <a:rPr lang="en-US" dirty="0"/>
              <a:t>One goal of the OS is to keep the CPU busy by allowing multiple processes to share physical memory safely and efficiently</a:t>
            </a:r>
          </a:p>
        </p:txBody>
      </p:sp>
      <p:grpSp>
        <p:nvGrpSpPr>
          <p:cNvPr id="26" name="Group 25"/>
          <p:cNvGrpSpPr/>
          <p:nvPr/>
        </p:nvGrpSpPr>
        <p:grpSpPr>
          <a:xfrm>
            <a:off x="6336891" y="2561878"/>
            <a:ext cx="3092788" cy="924269"/>
            <a:chOff x="6336891" y="2561878"/>
            <a:chExt cx="3092788" cy="924269"/>
          </a:xfrm>
        </p:grpSpPr>
        <p:sp>
          <p:nvSpPr>
            <p:cNvPr id="11" name="Right Brace 10"/>
            <p:cNvSpPr/>
            <p:nvPr/>
          </p:nvSpPr>
          <p:spPr>
            <a:xfrm>
              <a:off x="6336891" y="2561878"/>
              <a:ext cx="185372" cy="92426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6522263" y="2700847"/>
              <a:ext cx="2907416" cy="646331"/>
            </a:xfrm>
            <a:prstGeom prst="rect">
              <a:avLst/>
            </a:prstGeom>
            <a:noFill/>
          </p:spPr>
          <p:txBody>
            <a:bodyPr wrap="square" rtlCol="0">
              <a:spAutoFit/>
            </a:bodyPr>
            <a:lstStyle/>
            <a:p>
              <a:r>
                <a:rPr lang="en-US" dirty="0"/>
                <a:t>Can be accessed directly by the CPU</a:t>
              </a:r>
            </a:p>
          </p:txBody>
        </p:sp>
      </p:grpSp>
      <p:grpSp>
        <p:nvGrpSpPr>
          <p:cNvPr id="27" name="Group 26"/>
          <p:cNvGrpSpPr/>
          <p:nvPr/>
        </p:nvGrpSpPr>
        <p:grpSpPr>
          <a:xfrm>
            <a:off x="6336891" y="3486147"/>
            <a:ext cx="3092788" cy="1823271"/>
            <a:chOff x="6336891" y="3486147"/>
            <a:chExt cx="3092788" cy="1823271"/>
          </a:xfrm>
        </p:grpSpPr>
        <p:sp>
          <p:nvSpPr>
            <p:cNvPr id="13" name="Right Brace 12"/>
            <p:cNvSpPr/>
            <p:nvPr/>
          </p:nvSpPr>
          <p:spPr>
            <a:xfrm>
              <a:off x="6336891" y="3486147"/>
              <a:ext cx="185372" cy="182327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6522263" y="4115663"/>
              <a:ext cx="2907416" cy="646331"/>
            </a:xfrm>
            <a:prstGeom prst="rect">
              <a:avLst/>
            </a:prstGeom>
            <a:noFill/>
          </p:spPr>
          <p:txBody>
            <a:bodyPr wrap="square" rtlCol="0">
              <a:spAutoFit/>
            </a:bodyPr>
            <a:lstStyle/>
            <a:p>
              <a:r>
                <a:rPr lang="en-US" dirty="0"/>
                <a:t>Cannot be accessed directly by the CPU</a:t>
              </a:r>
            </a:p>
          </p:txBody>
        </p:sp>
      </p:grpSp>
      <p:grpSp>
        <p:nvGrpSpPr>
          <p:cNvPr id="28" name="Group 27"/>
          <p:cNvGrpSpPr/>
          <p:nvPr/>
        </p:nvGrpSpPr>
        <p:grpSpPr>
          <a:xfrm>
            <a:off x="131366" y="3486147"/>
            <a:ext cx="2983216" cy="1823271"/>
            <a:chOff x="131366" y="3486147"/>
            <a:chExt cx="2983216" cy="1823271"/>
          </a:xfrm>
        </p:grpSpPr>
        <p:sp>
          <p:nvSpPr>
            <p:cNvPr id="15" name="TextBox 14"/>
            <p:cNvSpPr txBox="1"/>
            <p:nvPr/>
          </p:nvSpPr>
          <p:spPr>
            <a:xfrm>
              <a:off x="131366" y="4115662"/>
              <a:ext cx="2907416" cy="646331"/>
            </a:xfrm>
            <a:prstGeom prst="rect">
              <a:avLst/>
            </a:prstGeom>
            <a:noFill/>
          </p:spPr>
          <p:txBody>
            <a:bodyPr wrap="square" rtlCol="0">
              <a:spAutoFit/>
            </a:bodyPr>
            <a:lstStyle/>
            <a:p>
              <a:r>
                <a:rPr lang="en-US" dirty="0"/>
                <a:t>If some data the CPU wants to access is here</a:t>
              </a:r>
            </a:p>
          </p:txBody>
        </p:sp>
        <p:sp>
          <p:nvSpPr>
            <p:cNvPr id="16" name="Right Brace 15"/>
            <p:cNvSpPr/>
            <p:nvPr/>
          </p:nvSpPr>
          <p:spPr>
            <a:xfrm rot="10800000">
              <a:off x="2929210" y="3486147"/>
              <a:ext cx="185372" cy="182327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9" name="Group 28"/>
          <p:cNvGrpSpPr/>
          <p:nvPr/>
        </p:nvGrpSpPr>
        <p:grpSpPr>
          <a:xfrm>
            <a:off x="484683" y="2328520"/>
            <a:ext cx="2629898" cy="1712537"/>
            <a:chOff x="484683" y="2328520"/>
            <a:chExt cx="2629898" cy="1712537"/>
          </a:xfrm>
        </p:grpSpPr>
        <p:sp>
          <p:nvSpPr>
            <p:cNvPr id="17" name="Bent Arrow 16"/>
            <p:cNvSpPr/>
            <p:nvPr/>
          </p:nvSpPr>
          <p:spPr>
            <a:xfrm>
              <a:off x="1319199" y="2900515"/>
              <a:ext cx="1449530" cy="1140542"/>
            </a:xfrm>
            <a:prstGeom prst="bentArrow">
              <a:avLst>
                <a:gd name="adj1" fmla="val 4217"/>
                <a:gd name="adj2" fmla="val 10461"/>
                <a:gd name="adj3" fmla="val 17083"/>
                <a:gd name="adj4" fmla="val 4770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Right Brace 17"/>
            <p:cNvSpPr/>
            <p:nvPr/>
          </p:nvSpPr>
          <p:spPr>
            <a:xfrm flipH="1">
              <a:off x="2929209" y="2561878"/>
              <a:ext cx="185372" cy="92426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484683" y="2328520"/>
              <a:ext cx="2122949" cy="646331"/>
            </a:xfrm>
            <a:prstGeom prst="rect">
              <a:avLst/>
            </a:prstGeom>
            <a:noFill/>
          </p:spPr>
          <p:txBody>
            <a:bodyPr wrap="square" rtlCol="0">
              <a:spAutoFit/>
            </a:bodyPr>
            <a:lstStyle/>
            <a:p>
              <a:r>
                <a:rPr lang="en-US" dirty="0"/>
                <a:t>We first have to </a:t>
              </a:r>
              <a:r>
                <a:rPr lang="en-US"/>
                <a:t>move it up here!</a:t>
              </a:r>
              <a:endParaRPr lang="en-US" dirty="0"/>
            </a:p>
          </p:txBody>
        </p:sp>
      </p:grpSp>
      <p:sp>
        <p:nvSpPr>
          <p:cNvPr id="22" name="Rounded Rectangle 21"/>
          <p:cNvSpPr/>
          <p:nvPr/>
        </p:nvSpPr>
        <p:spPr>
          <a:xfrm>
            <a:off x="4984956" y="2585329"/>
            <a:ext cx="819554" cy="30613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1 cycle</a:t>
            </a:r>
          </a:p>
        </p:txBody>
      </p:sp>
      <p:sp>
        <p:nvSpPr>
          <p:cNvPr id="23" name="Rounded Rectangle 22"/>
          <p:cNvSpPr/>
          <p:nvPr/>
        </p:nvSpPr>
        <p:spPr>
          <a:xfrm>
            <a:off x="4984956" y="3212588"/>
            <a:ext cx="1309205" cy="306132"/>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t>Many cycles</a:t>
            </a:r>
          </a:p>
        </p:txBody>
      </p:sp>
    </p:spTree>
    <p:extLst>
      <p:ext uri="{BB962C8B-B14F-4D97-AF65-F5344CB8AC3E}">
        <p14:creationId xmlns:p14="http://schemas.microsoft.com/office/powerpoint/2010/main" val="1378576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2" grpId="0" animBg="1"/>
      <p:bldP spid="2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and basic hardware (II)</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7</a:t>
            </a:fld>
            <a:endParaRPr lang="en-US"/>
          </a:p>
        </p:txBody>
      </p:sp>
      <p:grpSp>
        <p:nvGrpSpPr>
          <p:cNvPr id="9" name="Group 8"/>
          <p:cNvGrpSpPr/>
          <p:nvPr/>
        </p:nvGrpSpPr>
        <p:grpSpPr>
          <a:xfrm>
            <a:off x="0" y="4336027"/>
            <a:ext cx="9232490" cy="1714182"/>
            <a:chOff x="0" y="4336027"/>
            <a:chExt cx="9232490" cy="1714182"/>
          </a:xfrm>
        </p:grpSpPr>
        <p:pic>
          <p:nvPicPr>
            <p:cNvPr id="24" name="Picture 23"/>
            <p:cNvPicPr>
              <a:picLocks noChangeAspect="1"/>
            </p:cNvPicPr>
            <p:nvPr/>
          </p:nvPicPr>
          <p:blipFill>
            <a:blip r:embed="rId3"/>
            <a:stretch>
              <a:fillRect/>
            </a:stretch>
          </p:blipFill>
          <p:spPr>
            <a:xfrm>
              <a:off x="0" y="4336027"/>
              <a:ext cx="1397038" cy="1397038"/>
            </a:xfrm>
            <a:prstGeom prst="rect">
              <a:avLst/>
            </a:prstGeom>
          </p:spPr>
        </p:pic>
        <p:sp>
          <p:nvSpPr>
            <p:cNvPr id="25" name="TextBox 24"/>
            <p:cNvSpPr txBox="1"/>
            <p:nvPr/>
          </p:nvSpPr>
          <p:spPr>
            <a:xfrm>
              <a:off x="1189703" y="4572881"/>
              <a:ext cx="8042787" cy="1477328"/>
            </a:xfrm>
            <a:prstGeom prst="rect">
              <a:avLst/>
            </a:prstGeom>
            <a:noFill/>
          </p:spPr>
          <p:txBody>
            <a:bodyPr wrap="square" rtlCol="0">
              <a:spAutoFit/>
            </a:bodyPr>
            <a:lstStyle/>
            <a:p>
              <a:r>
                <a:rPr lang="en-US" dirty="0"/>
                <a:t>Need for fast CPU access to registers / caches and main memory? </a:t>
              </a:r>
              <a:r>
                <a:rPr lang="en-US" dirty="0">
                  <a:sym typeface="Wingdings"/>
                </a:rPr>
                <a:t> The hardware performs ordinary register, cache, and memory accesses without invoking the OS for every access.</a:t>
              </a:r>
            </a:p>
            <a:p>
              <a:r>
                <a:rPr lang="en-US" dirty="0">
                  <a:sym typeface="Wingdings"/>
                </a:rPr>
                <a:t>CHALLENGE: how does the OS configure the protection and address-translation mechanisms.?</a:t>
              </a:r>
              <a:endParaRPr lang="en-US" dirty="0"/>
            </a:p>
          </p:txBody>
        </p:sp>
      </p:grpSp>
      <p:grpSp>
        <p:nvGrpSpPr>
          <p:cNvPr id="20" name="Group 19"/>
          <p:cNvGrpSpPr/>
          <p:nvPr/>
        </p:nvGrpSpPr>
        <p:grpSpPr>
          <a:xfrm>
            <a:off x="1189704" y="1337188"/>
            <a:ext cx="7246374" cy="2998840"/>
            <a:chOff x="1189704" y="1337188"/>
            <a:chExt cx="7246374" cy="2998840"/>
          </a:xfrm>
        </p:grpSpPr>
        <p:sp>
          <p:nvSpPr>
            <p:cNvPr id="7" name="Cloud Callout 6"/>
            <p:cNvSpPr/>
            <p:nvPr/>
          </p:nvSpPr>
          <p:spPr>
            <a:xfrm>
              <a:off x="1189704" y="1337188"/>
              <a:ext cx="7246374" cy="2998840"/>
            </a:xfrm>
            <a:prstGeom prst="cloudCallout">
              <a:avLst>
                <a:gd name="adj1" fmla="val -50548"/>
                <a:gd name="adj2" fmla="val 54303"/>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grpSp>
          <p:nvGrpSpPr>
            <p:cNvPr id="3" name="Group 2"/>
            <p:cNvGrpSpPr/>
            <p:nvPr/>
          </p:nvGrpSpPr>
          <p:grpSpPr>
            <a:xfrm>
              <a:off x="2826452" y="1927542"/>
              <a:ext cx="3491095" cy="1742860"/>
              <a:chOff x="655319" y="1690688"/>
              <a:chExt cx="9192217" cy="4589033"/>
            </a:xfrm>
          </p:grpSpPr>
          <p:pic>
            <p:nvPicPr>
              <p:cNvPr id="21" name="Picture 4" descr="2"/>
              <p:cNvPicPr>
                <a:picLocks noChangeAspect="1" noChangeArrowheads="1"/>
              </p:cNvPicPr>
              <p:nvPr/>
            </p:nvPicPr>
            <p:blipFill>
              <a:blip r:embed="rId4" cstate="print"/>
              <a:srcRect/>
              <a:stretch>
                <a:fillRect/>
              </a:stretch>
            </p:blipFill>
            <p:spPr bwMode="auto">
              <a:xfrm>
                <a:off x="655319" y="1690688"/>
                <a:ext cx="9192217" cy="4589033"/>
              </a:xfrm>
              <a:prstGeom prst="rect">
                <a:avLst/>
              </a:prstGeom>
              <a:noFill/>
              <a:ln w="9525">
                <a:noFill/>
                <a:miter lim="800000"/>
                <a:headEnd/>
                <a:tailEnd/>
              </a:ln>
            </p:spPr>
          </p:pic>
          <p:grpSp>
            <p:nvGrpSpPr>
              <p:cNvPr id="26" name="Group 25"/>
              <p:cNvGrpSpPr/>
              <p:nvPr/>
            </p:nvGrpSpPr>
            <p:grpSpPr>
              <a:xfrm>
                <a:off x="1141442" y="2073855"/>
                <a:ext cx="3491518" cy="4029765"/>
                <a:chOff x="1141442" y="2073855"/>
                <a:chExt cx="3491518" cy="4029765"/>
              </a:xfrm>
            </p:grpSpPr>
            <p:grpSp>
              <p:nvGrpSpPr>
                <p:cNvPr id="27" name="Group 26"/>
                <p:cNvGrpSpPr/>
                <p:nvPr/>
              </p:nvGrpSpPr>
              <p:grpSpPr>
                <a:xfrm>
                  <a:off x="1141442" y="2073855"/>
                  <a:ext cx="1479665" cy="1163782"/>
                  <a:chOff x="2155595" y="2073856"/>
                  <a:chExt cx="1479665" cy="1163782"/>
                </a:xfrm>
              </p:grpSpPr>
              <p:sp>
                <p:nvSpPr>
                  <p:cNvPr id="32" name="Rectangle 31"/>
                  <p:cNvSpPr/>
                  <p:nvPr/>
                </p:nvSpPr>
                <p:spPr>
                  <a:xfrm>
                    <a:off x="2155595" y="2073856"/>
                    <a:ext cx="1479665" cy="1163782"/>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US"/>
                  </a:p>
                </p:txBody>
              </p:sp>
              <p:pic>
                <p:nvPicPr>
                  <p:cNvPr id="33" name="Picture 32"/>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2376488" y="2073856"/>
                    <a:ext cx="1037877" cy="1120194"/>
                  </a:xfrm>
                  <a:prstGeom prst="rect">
                    <a:avLst/>
                  </a:prstGeom>
                </p:spPr>
              </p:pic>
            </p:grpSp>
            <p:grpSp>
              <p:nvGrpSpPr>
                <p:cNvPr id="28" name="Group 27"/>
                <p:cNvGrpSpPr/>
                <p:nvPr/>
              </p:nvGrpSpPr>
              <p:grpSpPr>
                <a:xfrm>
                  <a:off x="1881273" y="3237637"/>
                  <a:ext cx="2751687" cy="2865983"/>
                  <a:chOff x="1881273" y="3237637"/>
                  <a:chExt cx="2751687" cy="2865983"/>
                </a:xfrm>
              </p:grpSpPr>
              <p:cxnSp>
                <p:nvCxnSpPr>
                  <p:cNvPr id="29" name="Straight Connector 28"/>
                  <p:cNvCxnSpPr>
                    <a:stCxn id="29" idx="2"/>
                  </p:cNvCxnSpPr>
                  <p:nvPr/>
                </p:nvCxnSpPr>
                <p:spPr>
                  <a:xfrm flipH="1">
                    <a:off x="1881273" y="3237637"/>
                    <a:ext cx="2" cy="253708"/>
                  </a:xfrm>
                  <a:prstGeom prst="line">
                    <a:avLst/>
                  </a:prstGeom>
                  <a:ln>
                    <a:prstDash val="sysDash"/>
                    <a:headEnd type="none" w="med" len="med"/>
                    <a:tailEnd type="triangle" w="lg" len="lg"/>
                  </a:ln>
                </p:spPr>
                <p:style>
                  <a:lnRef idx="3">
                    <a:schemeClr val="accent4"/>
                  </a:lnRef>
                  <a:fillRef idx="0">
                    <a:schemeClr val="accent4"/>
                  </a:fillRef>
                  <a:effectRef idx="2">
                    <a:schemeClr val="accent4"/>
                  </a:effectRef>
                  <a:fontRef idx="minor">
                    <a:schemeClr val="tx1"/>
                  </a:fontRef>
                </p:style>
              </p:cxnSp>
              <p:cxnSp>
                <p:nvCxnSpPr>
                  <p:cNvPr id="30" name="Straight Connector 29"/>
                  <p:cNvCxnSpPr/>
                  <p:nvPr/>
                </p:nvCxnSpPr>
                <p:spPr>
                  <a:xfrm>
                    <a:off x="1881273" y="3491345"/>
                    <a:ext cx="2744067" cy="0"/>
                  </a:xfrm>
                  <a:prstGeom prst="line">
                    <a:avLst/>
                  </a:prstGeom>
                  <a:ln>
                    <a:prstDash val="sysDash"/>
                    <a:headEnd type="none" w="med" len="med"/>
                    <a:tailEnd type="triangle" w="lg" len="lg"/>
                  </a:ln>
                </p:spPr>
                <p:style>
                  <a:lnRef idx="3">
                    <a:schemeClr val="accent4"/>
                  </a:lnRef>
                  <a:fillRef idx="0">
                    <a:schemeClr val="accent4"/>
                  </a:fillRef>
                  <a:effectRef idx="2">
                    <a:schemeClr val="accent4"/>
                  </a:effectRef>
                  <a:fontRef idx="minor">
                    <a:schemeClr val="tx1"/>
                  </a:fontRef>
                </p:style>
              </p:cxnSp>
              <p:cxnSp>
                <p:nvCxnSpPr>
                  <p:cNvPr id="31" name="Straight Arrow Connector 30"/>
                  <p:cNvCxnSpPr/>
                  <p:nvPr/>
                </p:nvCxnSpPr>
                <p:spPr>
                  <a:xfrm>
                    <a:off x="4617720" y="3491345"/>
                    <a:ext cx="15240" cy="2612275"/>
                  </a:xfrm>
                  <a:prstGeom prst="straightConnector1">
                    <a:avLst/>
                  </a:prstGeom>
                  <a:ln>
                    <a:prstDash val="sysDash"/>
                    <a:headEnd type="none" w="med" len="med"/>
                    <a:tailEnd type="triangle" w="lg" len="lg"/>
                  </a:ln>
                </p:spPr>
                <p:style>
                  <a:lnRef idx="3">
                    <a:schemeClr val="accent4"/>
                  </a:lnRef>
                  <a:fillRef idx="0">
                    <a:schemeClr val="accent4"/>
                  </a:fillRef>
                  <a:effectRef idx="2">
                    <a:schemeClr val="accent4"/>
                  </a:effectRef>
                  <a:fontRef idx="minor">
                    <a:schemeClr val="tx1"/>
                  </a:fontRef>
                </p:style>
              </p:cxnSp>
            </p:grpSp>
          </p:grpSp>
        </p:grpSp>
      </p:grpSp>
    </p:spTree>
    <p:extLst>
      <p:ext uri="{BB962C8B-B14F-4D97-AF65-F5344CB8AC3E}">
        <p14:creationId xmlns:p14="http://schemas.microsoft.com/office/powerpoint/2010/main" val="1174320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solidFill>
                  <a:schemeClr val="bg1">
                    <a:lumMod val="75000"/>
                  </a:schemeClr>
                </a:solidFill>
              </a:rPr>
              <a:t>Introduction</a:t>
            </a:r>
          </a:p>
          <a:p>
            <a:r>
              <a:rPr lang="en-US" dirty="0"/>
              <a:t>Base and limit registers</a:t>
            </a:r>
          </a:p>
          <a:p>
            <a:r>
              <a:rPr lang="en-US" dirty="0">
                <a:solidFill>
                  <a:schemeClr val="bg1">
                    <a:lumMod val="75000"/>
                  </a:schemeClr>
                </a:solidFill>
              </a:rPr>
              <a:t>Logical/virtual versus physical addresses</a:t>
            </a:r>
          </a:p>
          <a:p>
            <a:r>
              <a:rPr lang="en-US" dirty="0">
                <a:solidFill>
                  <a:schemeClr val="bg1">
                    <a:lumMod val="75000"/>
                  </a:schemeClr>
                </a:solidFill>
              </a:rPr>
              <a:t>Dynamic loading and dynamic linking [self-study]</a:t>
            </a:r>
          </a:p>
          <a:p>
            <a:r>
              <a:rPr lang="en-US" dirty="0">
                <a:solidFill>
                  <a:schemeClr val="bg1">
                    <a:lumMod val="75000"/>
                  </a:schemeClr>
                </a:solidFill>
              </a:rPr>
              <a:t>Swapping</a:t>
            </a:r>
          </a:p>
          <a:p>
            <a:r>
              <a:rPr lang="en-US" dirty="0">
                <a:solidFill>
                  <a:schemeClr val="bg1">
                    <a:lumMod val="75000"/>
                  </a:schemeClr>
                </a:solidFill>
              </a:rPr>
              <a:t>Memory allocation</a:t>
            </a:r>
          </a:p>
          <a:p>
            <a:pPr lvl="1"/>
            <a:r>
              <a:rPr lang="en-US" dirty="0">
                <a:solidFill>
                  <a:schemeClr val="bg1">
                    <a:lumMod val="75000"/>
                  </a:schemeClr>
                </a:solidFill>
              </a:rPr>
              <a:t>Contiguous allocation</a:t>
            </a:r>
          </a:p>
          <a:p>
            <a:pPr lvl="1"/>
            <a:r>
              <a:rPr lang="en-US" dirty="0">
                <a:solidFill>
                  <a:schemeClr val="bg1">
                    <a:lumMod val="75000"/>
                  </a:schemeClr>
                </a:solidFill>
              </a:rPr>
              <a:t>Segmentation</a:t>
            </a:r>
          </a:p>
          <a:p>
            <a:pPr lvl="1"/>
            <a:r>
              <a:rPr lang="en-US" dirty="0">
                <a:solidFill>
                  <a:schemeClr val="bg1">
                    <a:lumMod val="75000"/>
                  </a:schemeClr>
                </a:solidFill>
              </a:rPr>
              <a:t>Paging</a:t>
            </a:r>
          </a:p>
          <a:p>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8</a:t>
            </a:fld>
            <a:endParaRPr lang="en-US"/>
          </a:p>
        </p:txBody>
      </p:sp>
    </p:spTree>
    <p:extLst>
      <p:ext uri="{BB962C8B-B14F-4D97-AF65-F5344CB8AC3E}">
        <p14:creationId xmlns:p14="http://schemas.microsoft.com/office/powerpoint/2010/main" val="904845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Base and Limit register (I)</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9</a:t>
            </a:fld>
            <a:endParaRPr lang="en-US"/>
          </a:p>
        </p:txBody>
      </p:sp>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117" y="2097471"/>
            <a:ext cx="2564150" cy="282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p:cNvSpPr>
            <a:spLocks noGrp="1"/>
          </p:cNvSpPr>
          <p:nvPr>
            <p:ph idx="1"/>
          </p:nvPr>
        </p:nvSpPr>
        <p:spPr>
          <a:xfrm>
            <a:off x="2947174" y="1482640"/>
            <a:ext cx="6196826" cy="4692292"/>
          </a:xfrm>
        </p:spPr>
        <p:txBody>
          <a:bodyPr>
            <a:normAutofit/>
          </a:bodyPr>
          <a:lstStyle/>
          <a:p>
            <a:r>
              <a:rPr lang="en-US" sz="2000" dirty="0"/>
              <a:t>For each process, the CPU maintains two registers:</a:t>
            </a:r>
          </a:p>
          <a:p>
            <a:pPr lvl="1"/>
            <a:r>
              <a:rPr lang="en-US" sz="1600" dirty="0"/>
              <a:t>Base register: first address that can be accessed by the process</a:t>
            </a:r>
          </a:p>
          <a:p>
            <a:pPr lvl="1"/>
            <a:r>
              <a:rPr lang="en-US" sz="1600" dirty="0"/>
              <a:t>Limit register: number of addresses (starting from the base register) that can be accessed by the process</a:t>
            </a:r>
          </a:p>
          <a:p>
            <a:r>
              <a:rPr lang="en-US" sz="2000" dirty="0"/>
              <a:t>The registers are loaded by the OS during a context switch</a:t>
            </a:r>
          </a:p>
          <a:p>
            <a:r>
              <a:rPr lang="en-US" sz="2000" dirty="0"/>
              <a:t>Example: process A can only access addresses from 300040 to 420939</a:t>
            </a:r>
          </a:p>
        </p:txBody>
      </p:sp>
      <p:sp>
        <p:nvSpPr>
          <p:cNvPr id="9" name="Rectangle 8"/>
          <p:cNvSpPr/>
          <p:nvPr/>
        </p:nvSpPr>
        <p:spPr>
          <a:xfrm>
            <a:off x="1101213" y="3264310"/>
            <a:ext cx="855406" cy="4916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p>
        </p:txBody>
      </p:sp>
      <p:pic>
        <p:nvPicPr>
          <p:cNvPr id="10" name="Content Placeholder 4" descr="8.02.pdf"/>
          <p:cNvPicPr>
            <a:picLocks noChangeAspect="1"/>
          </p:cNvPicPr>
          <p:nvPr/>
        </p:nvPicPr>
        <p:blipFill>
          <a:blip r:embed="rId4">
            <a:extLst>
              <a:ext uri="{28A0092B-C50C-407E-A947-70E740481C1C}">
                <a14:useLocalDpi xmlns:a14="http://schemas.microsoft.com/office/drawing/2010/main" val="0"/>
              </a:ext>
            </a:extLst>
          </a:blip>
          <a:srcRect t="-12790" b="-12790"/>
          <a:stretch>
            <a:fillRect/>
          </a:stretch>
        </p:blipFill>
        <p:spPr>
          <a:xfrm>
            <a:off x="3253972" y="3571682"/>
            <a:ext cx="4891856" cy="2693959"/>
          </a:xfrm>
          <a:prstGeom prst="rect">
            <a:avLst/>
          </a:prstGeom>
        </p:spPr>
      </p:pic>
    </p:spTree>
    <p:extLst>
      <p:ext uri="{BB962C8B-B14F-4D97-AF65-F5344CB8AC3E}">
        <p14:creationId xmlns:p14="http://schemas.microsoft.com/office/powerpoint/2010/main" val="1586910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Base and Limit register (II)</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10</a:t>
            </a:fld>
            <a:endParaRPr lang="en-US"/>
          </a:p>
        </p:txBody>
      </p:sp>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00" y="2084439"/>
            <a:ext cx="2564150" cy="282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p:nvPr/>
        </p:nvSpPr>
        <p:spPr>
          <a:xfrm>
            <a:off x="4001730" y="3173918"/>
            <a:ext cx="4220436" cy="923330"/>
          </a:xfrm>
          <a:prstGeom prst="rect">
            <a:avLst/>
          </a:prstGeom>
          <a:noFill/>
        </p:spPr>
        <p:txBody>
          <a:bodyPr wrap="square" rtlCol="0">
            <a:spAutoFit/>
          </a:bodyPr>
          <a:lstStyle/>
          <a:p>
            <a:r>
              <a:rPr lang="en-US" dirty="0"/>
              <a:t>The OS loads the base and limit registers during a context switch using privileged instructions.</a:t>
            </a:r>
          </a:p>
        </p:txBody>
      </p:sp>
      <p:cxnSp>
        <p:nvCxnSpPr>
          <p:cNvPr id="13" name="Straight Arrow Connector 12"/>
          <p:cNvCxnSpPr>
            <a:cxnSpLocks/>
            <a:stCxn id="11" idx="1"/>
          </p:cNvCxnSpPr>
          <p:nvPr/>
        </p:nvCxnSpPr>
        <p:spPr>
          <a:xfrm flipH="1">
            <a:off x="3195484" y="3635583"/>
            <a:ext cx="806246" cy="184666"/>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p:cNvCxnSpPr>
            <a:cxnSpLocks/>
            <a:stCxn id="11" idx="1"/>
          </p:cNvCxnSpPr>
          <p:nvPr/>
        </p:nvCxnSpPr>
        <p:spPr>
          <a:xfrm flipH="1" flipV="1">
            <a:off x="3195484" y="3244645"/>
            <a:ext cx="806246" cy="390938"/>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50045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Base and Limit register (III)</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11</a:t>
            </a:fld>
            <a:endParaRPr lang="en-US"/>
          </a:p>
        </p:txBody>
      </p:sp>
      <p:sp>
        <p:nvSpPr>
          <p:cNvPr id="11" name="TextBox 10"/>
          <p:cNvSpPr txBox="1"/>
          <p:nvPr/>
        </p:nvSpPr>
        <p:spPr>
          <a:xfrm>
            <a:off x="688872" y="1690689"/>
            <a:ext cx="7826477" cy="1477328"/>
          </a:xfrm>
          <a:prstGeom prst="rect">
            <a:avLst/>
          </a:prstGeom>
          <a:noFill/>
        </p:spPr>
        <p:txBody>
          <a:bodyPr wrap="square" rtlCol="0">
            <a:spAutoFit/>
          </a:bodyPr>
          <a:lstStyle/>
          <a:p>
            <a:r>
              <a:rPr lang="en-US" dirty="0"/>
              <a:t>In this simplified base-and-limit model, kernel-mode code can access all physical memory.</a:t>
            </a:r>
          </a:p>
          <a:p>
            <a:endParaRPr lang="en-US" dirty="0"/>
          </a:p>
          <a:p>
            <a:r>
              <a:rPr lang="en-US" dirty="0"/>
              <a:t>A previous example is exec(): it replaces the current process image with a new program.</a:t>
            </a:r>
          </a:p>
        </p:txBody>
      </p:sp>
      <p:grpSp>
        <p:nvGrpSpPr>
          <p:cNvPr id="8" name="Group 7"/>
          <p:cNvGrpSpPr/>
          <p:nvPr/>
        </p:nvGrpSpPr>
        <p:grpSpPr>
          <a:xfrm>
            <a:off x="920206" y="3852223"/>
            <a:ext cx="7595143" cy="1911932"/>
            <a:chOff x="920206" y="3852223"/>
            <a:chExt cx="7595143" cy="1911932"/>
          </a:xfrm>
        </p:grpSpPr>
        <p:pic>
          <p:nvPicPr>
            <p:cNvPr id="10" name="Picture 4" descr="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206" y="3852223"/>
              <a:ext cx="7595143" cy="1911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p:cNvSpPr txBox="1"/>
            <p:nvPr/>
          </p:nvSpPr>
          <p:spPr>
            <a:xfrm>
              <a:off x="5220104" y="4417358"/>
              <a:ext cx="3262806" cy="92333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dirty="0"/>
                <a:t>Replace the memory of the process with that of a new program</a:t>
              </a:r>
            </a:p>
          </p:txBody>
        </p:sp>
        <p:sp>
          <p:nvSpPr>
            <p:cNvPr id="3" name="Down Arrow 2"/>
            <p:cNvSpPr/>
            <p:nvPr/>
          </p:nvSpPr>
          <p:spPr>
            <a:xfrm rot="3802401">
              <a:off x="4424516" y="4523429"/>
              <a:ext cx="786581" cy="1052051"/>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88206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solidFill>
                  <a:schemeClr val="bg1">
                    <a:lumMod val="75000"/>
                  </a:schemeClr>
                </a:solidFill>
              </a:rPr>
              <a:t>Introduction</a:t>
            </a:r>
          </a:p>
          <a:p>
            <a:r>
              <a:rPr lang="en-US" dirty="0">
                <a:solidFill>
                  <a:schemeClr val="bg1">
                    <a:lumMod val="75000"/>
                  </a:schemeClr>
                </a:solidFill>
              </a:rPr>
              <a:t>Base and limit registers</a:t>
            </a:r>
          </a:p>
          <a:p>
            <a:r>
              <a:rPr lang="en-US" dirty="0"/>
              <a:t>Logical/virtual versus physical addresses</a:t>
            </a:r>
          </a:p>
          <a:p>
            <a:r>
              <a:rPr lang="en-US" dirty="0">
                <a:solidFill>
                  <a:schemeClr val="bg1">
                    <a:lumMod val="75000"/>
                  </a:schemeClr>
                </a:solidFill>
              </a:rPr>
              <a:t>Dynamic loading and dynamic linking [self-study]</a:t>
            </a:r>
          </a:p>
          <a:p>
            <a:r>
              <a:rPr lang="en-US" dirty="0">
                <a:solidFill>
                  <a:schemeClr val="bg1">
                    <a:lumMod val="75000"/>
                  </a:schemeClr>
                </a:solidFill>
              </a:rPr>
              <a:t>Swapping</a:t>
            </a:r>
          </a:p>
          <a:p>
            <a:r>
              <a:rPr lang="en-US" dirty="0">
                <a:solidFill>
                  <a:schemeClr val="bg1">
                    <a:lumMod val="75000"/>
                  </a:schemeClr>
                </a:solidFill>
              </a:rPr>
              <a:t>Memory allocation</a:t>
            </a:r>
          </a:p>
          <a:p>
            <a:pPr lvl="1"/>
            <a:r>
              <a:rPr lang="en-US" dirty="0">
                <a:solidFill>
                  <a:schemeClr val="bg1">
                    <a:lumMod val="75000"/>
                  </a:schemeClr>
                </a:solidFill>
              </a:rPr>
              <a:t>Contiguous allocation</a:t>
            </a:r>
          </a:p>
          <a:p>
            <a:pPr lvl="1"/>
            <a:r>
              <a:rPr lang="en-US" dirty="0">
                <a:solidFill>
                  <a:schemeClr val="bg1">
                    <a:lumMod val="75000"/>
                  </a:schemeClr>
                </a:solidFill>
              </a:rPr>
              <a:t>Segmentation</a:t>
            </a:r>
          </a:p>
          <a:p>
            <a:pPr lvl="1"/>
            <a:r>
              <a:rPr lang="en-US" dirty="0">
                <a:solidFill>
                  <a:schemeClr val="bg1">
                    <a:lumMod val="75000"/>
                  </a:schemeClr>
                </a:solidFill>
              </a:rPr>
              <a:t>Paging</a:t>
            </a:r>
          </a:p>
          <a:p>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12</a:t>
            </a:fld>
            <a:endParaRPr lang="en-US"/>
          </a:p>
        </p:txBody>
      </p:sp>
    </p:spTree>
    <p:extLst>
      <p:ext uri="{BB962C8B-B14F-4D97-AF65-F5344CB8AC3E}">
        <p14:creationId xmlns:p14="http://schemas.microsoft.com/office/powerpoint/2010/main" val="1254116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Address binding</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13</a:t>
            </a:fld>
            <a:endParaRPr lang="en-US"/>
          </a:p>
        </p:txBody>
      </p:sp>
      <p:grpSp>
        <p:nvGrpSpPr>
          <p:cNvPr id="15" name="Group 14"/>
          <p:cNvGrpSpPr/>
          <p:nvPr/>
        </p:nvGrpSpPr>
        <p:grpSpPr>
          <a:xfrm>
            <a:off x="698091" y="1690689"/>
            <a:ext cx="5416959" cy="923330"/>
            <a:chOff x="698091" y="1690689"/>
            <a:chExt cx="5416959" cy="923330"/>
          </a:xfrm>
        </p:grpSpPr>
        <p:sp>
          <p:nvSpPr>
            <p:cNvPr id="7" name="TextBox 6"/>
            <p:cNvSpPr txBox="1"/>
            <p:nvPr/>
          </p:nvSpPr>
          <p:spPr>
            <a:xfrm>
              <a:off x="698091" y="1690689"/>
              <a:ext cx="1425390" cy="923330"/>
            </a:xfrm>
            <a:prstGeom prst="rect">
              <a:avLst/>
            </a:prstGeom>
            <a:noFill/>
          </p:spPr>
          <p:txBody>
            <a:bodyPr wrap="none" rtlCol="0">
              <a:spAutoFit/>
            </a:bodyPr>
            <a:lstStyle/>
            <a:p>
              <a:r>
                <a:rPr lang="en-US" dirty="0">
                  <a:latin typeface="Andale Mono" charset="0"/>
                  <a:ea typeface="Andale Mono" charset="0"/>
                  <a:cs typeface="Andale Mono" charset="0"/>
                </a:rPr>
                <a:t>…</a:t>
              </a:r>
            </a:p>
            <a:p>
              <a:r>
                <a:rPr lang="en-US" dirty="0">
                  <a:latin typeface="Andale Mono" charset="0"/>
                  <a:ea typeface="Andale Mono" charset="0"/>
                  <a:cs typeface="Andale Mono" charset="0"/>
                </a:rPr>
                <a:t>a = b + 2</a:t>
              </a:r>
            </a:p>
            <a:p>
              <a:r>
                <a:rPr lang="en-US" dirty="0">
                  <a:latin typeface="Andale Mono" charset="0"/>
                  <a:ea typeface="Andale Mono" charset="0"/>
                  <a:cs typeface="Andale Mono" charset="0"/>
                </a:rPr>
                <a:t>…</a:t>
              </a:r>
            </a:p>
          </p:txBody>
        </p:sp>
        <p:sp>
          <p:nvSpPr>
            <p:cNvPr id="8" name="Left Arrow 7"/>
            <p:cNvSpPr/>
            <p:nvPr/>
          </p:nvSpPr>
          <p:spPr>
            <a:xfrm>
              <a:off x="2330246" y="1910038"/>
              <a:ext cx="978408" cy="484632"/>
            </a:xfrm>
            <a:prstGeom prst="lef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9" name="TextBox 8"/>
            <p:cNvSpPr txBox="1"/>
            <p:nvPr/>
          </p:nvSpPr>
          <p:spPr>
            <a:xfrm>
              <a:off x="3392129" y="1967688"/>
              <a:ext cx="2722921" cy="369332"/>
            </a:xfrm>
            <a:prstGeom prst="rect">
              <a:avLst/>
            </a:prstGeom>
            <a:noFill/>
          </p:spPr>
          <p:txBody>
            <a:bodyPr wrap="square" rtlCol="0">
              <a:spAutoFit/>
            </a:bodyPr>
            <a:lstStyle/>
            <a:p>
              <a:r>
                <a:rPr lang="en-US" dirty="0"/>
                <a:t>Where do </a:t>
              </a:r>
              <a:r>
                <a:rPr lang="en-US"/>
                <a:t>we store a?</a:t>
              </a:r>
              <a:endParaRPr lang="en-US" dirty="0"/>
            </a:p>
          </p:txBody>
        </p:sp>
      </p:grpSp>
      <p:pic>
        <p:nvPicPr>
          <p:cNvPr id="10" name="Picture 3" descr="C:\Users\as668\Desktop\1_0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4949" y="2833368"/>
            <a:ext cx="2554001" cy="21259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16" name="Group 15"/>
          <p:cNvGrpSpPr/>
          <p:nvPr/>
        </p:nvGrpSpPr>
        <p:grpSpPr>
          <a:xfrm>
            <a:off x="2954595" y="3684120"/>
            <a:ext cx="6032089" cy="646331"/>
            <a:chOff x="2954595" y="4203679"/>
            <a:chExt cx="6032089" cy="646331"/>
          </a:xfrm>
        </p:grpSpPr>
        <p:sp>
          <p:nvSpPr>
            <p:cNvPr id="11" name="Left Arrow 10"/>
            <p:cNvSpPr/>
            <p:nvPr/>
          </p:nvSpPr>
          <p:spPr>
            <a:xfrm flipH="1">
              <a:off x="2954595" y="4284529"/>
              <a:ext cx="978408" cy="484632"/>
            </a:xfrm>
            <a:prstGeom prst="lef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2" name="TextBox 11"/>
            <p:cNvSpPr txBox="1"/>
            <p:nvPr/>
          </p:nvSpPr>
          <p:spPr>
            <a:xfrm>
              <a:off x="4016478" y="4203679"/>
              <a:ext cx="4970206" cy="646331"/>
            </a:xfrm>
            <a:prstGeom prst="rect">
              <a:avLst/>
            </a:prstGeom>
            <a:noFill/>
          </p:spPr>
          <p:txBody>
            <a:bodyPr wrap="square" rtlCol="0">
              <a:spAutoFit/>
            </a:bodyPr>
            <a:lstStyle/>
            <a:p>
              <a:r>
                <a:rPr lang="en-US" dirty="0"/>
                <a:t>If the program is not loaded in memory, we do not know the address</a:t>
              </a:r>
            </a:p>
          </p:txBody>
        </p:sp>
      </p:grpSp>
      <p:grpSp>
        <p:nvGrpSpPr>
          <p:cNvPr id="17" name="Group 16"/>
          <p:cNvGrpSpPr/>
          <p:nvPr/>
        </p:nvGrpSpPr>
        <p:grpSpPr>
          <a:xfrm>
            <a:off x="2465391" y="3046116"/>
            <a:ext cx="6437818" cy="646331"/>
            <a:chOff x="2465391" y="3565675"/>
            <a:chExt cx="6437818" cy="646331"/>
          </a:xfrm>
        </p:grpSpPr>
        <p:sp>
          <p:nvSpPr>
            <p:cNvPr id="13" name="Left Arrow 12"/>
            <p:cNvSpPr/>
            <p:nvPr/>
          </p:nvSpPr>
          <p:spPr>
            <a:xfrm rot="10800000" flipH="1">
              <a:off x="2465391" y="3646524"/>
              <a:ext cx="978408" cy="484632"/>
            </a:xfrm>
            <a:prstGeom prst="lef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4" name="TextBox 13"/>
            <p:cNvSpPr txBox="1"/>
            <p:nvPr/>
          </p:nvSpPr>
          <p:spPr>
            <a:xfrm>
              <a:off x="3443799" y="3565675"/>
              <a:ext cx="5459410" cy="646331"/>
            </a:xfrm>
            <a:prstGeom prst="rect">
              <a:avLst/>
            </a:prstGeom>
            <a:noFill/>
          </p:spPr>
          <p:txBody>
            <a:bodyPr wrap="square" rtlCol="0">
              <a:spAutoFit/>
            </a:bodyPr>
            <a:lstStyle/>
            <a:p>
              <a:r>
                <a:rPr lang="en-US" dirty="0"/>
                <a:t>Once we load it into memory, we know the address</a:t>
              </a:r>
            </a:p>
          </p:txBody>
        </p:sp>
      </p:grpSp>
      <p:sp>
        <p:nvSpPr>
          <p:cNvPr id="18" name="TextBox 17">
            <a:extLst>
              <a:ext uri="{FF2B5EF4-FFF2-40B4-BE49-F238E27FC236}">
                <a16:creationId xmlns:a16="http://schemas.microsoft.com/office/drawing/2014/main" id="{781ACBEC-6A3F-A5A5-CC19-1B2D221B00E9}"/>
              </a:ext>
            </a:extLst>
          </p:cNvPr>
          <p:cNvSpPr txBox="1"/>
          <p:nvPr/>
        </p:nvSpPr>
        <p:spPr>
          <a:xfrm>
            <a:off x="344627" y="5476030"/>
            <a:ext cx="8454745" cy="646331"/>
          </a:xfrm>
          <a:prstGeom prst="rect">
            <a:avLst/>
          </a:prstGeom>
          <a:noFill/>
          <a:ln>
            <a:solidFill>
              <a:schemeClr val="tx1"/>
            </a:solidFill>
          </a:ln>
        </p:spPr>
        <p:txBody>
          <a:bodyPr wrap="square">
            <a:spAutoFit/>
          </a:bodyPr>
          <a:lstStyle/>
          <a:p>
            <a:r>
              <a:rPr lang="en-US" sz="1200" kern="0" dirty="0">
                <a:effectLst/>
                <a:latin typeface="Verdana" panose="020B0604030504040204" pitchFamily="34" charset="0"/>
                <a:ea typeface="Times New Roman" panose="02020603050405020304" pitchFamily="18" charset="0"/>
              </a:rPr>
              <a:t>Note: The compiler and linker assign logical addresses to program instructions and data. These logical addresses may be bound to physical addresses when the program is loaded or translated dynamically during execution by the MMU (this is when we use Virtual Memory, we discuss that in a dedicated lecture).</a:t>
            </a:r>
            <a:r>
              <a:rPr lang="en-US" sz="1200" dirty="0">
                <a:effectLst/>
              </a:rPr>
              <a:t> </a:t>
            </a:r>
            <a:endParaRPr lang="en-US" sz="1200" dirty="0"/>
          </a:p>
        </p:txBody>
      </p:sp>
    </p:spTree>
    <p:extLst>
      <p:ext uri="{BB962C8B-B14F-4D97-AF65-F5344CB8AC3E}">
        <p14:creationId xmlns:p14="http://schemas.microsoft.com/office/powerpoint/2010/main" val="201985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481782" y="1828800"/>
            <a:ext cx="5899353" cy="185829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 name="Title 1"/>
          <p:cNvSpPr>
            <a:spLocks noGrp="1"/>
          </p:cNvSpPr>
          <p:nvPr>
            <p:ph type="title"/>
          </p:nvPr>
        </p:nvSpPr>
        <p:spPr/>
        <p:txBody>
          <a:bodyPr/>
          <a:lstStyle/>
          <a:p>
            <a:r>
              <a:rPr lang="en-US" dirty="0"/>
              <a:t>Logical/Virtual vs Physical address space (</a:t>
            </a:r>
            <a:r>
              <a:rPr lang="en-US" dirty="0" err="1"/>
              <a:t>i</a:t>
            </a:r>
            <a:r>
              <a:rPr lang="en-US" dirty="0"/>
              <a:t>)</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14</a:t>
            </a:fld>
            <a:endParaRPr lang="en-US"/>
          </a:p>
        </p:txBody>
      </p:sp>
      <p:sp>
        <p:nvSpPr>
          <p:cNvPr id="7" name="TextBox 6"/>
          <p:cNvSpPr txBox="1"/>
          <p:nvPr/>
        </p:nvSpPr>
        <p:spPr>
          <a:xfrm>
            <a:off x="452286" y="1804188"/>
            <a:ext cx="4970206" cy="369332"/>
          </a:xfrm>
          <a:prstGeom prst="rect">
            <a:avLst/>
          </a:prstGeom>
          <a:noFill/>
        </p:spPr>
        <p:txBody>
          <a:bodyPr wrap="square" rtlCol="0">
            <a:spAutoFit/>
          </a:bodyPr>
          <a:lstStyle/>
          <a:p>
            <a:r>
              <a:rPr lang="en-US" b="1" dirty="0"/>
              <a:t>Logical/Virtual address</a:t>
            </a:r>
          </a:p>
        </p:txBody>
      </p:sp>
      <p:grpSp>
        <p:nvGrpSpPr>
          <p:cNvPr id="16" name="Group 15"/>
          <p:cNvGrpSpPr/>
          <p:nvPr/>
        </p:nvGrpSpPr>
        <p:grpSpPr>
          <a:xfrm>
            <a:off x="628650" y="2271078"/>
            <a:ext cx="6909004" cy="1318460"/>
            <a:chOff x="747252" y="4720140"/>
            <a:chExt cx="6909004" cy="1318460"/>
          </a:xfrm>
        </p:grpSpPr>
        <p:sp>
          <p:nvSpPr>
            <p:cNvPr id="8" name="TextBox 7"/>
            <p:cNvSpPr txBox="1"/>
            <p:nvPr/>
          </p:nvSpPr>
          <p:spPr>
            <a:xfrm>
              <a:off x="747252" y="4797520"/>
              <a:ext cx="1425390" cy="923330"/>
            </a:xfrm>
            <a:prstGeom prst="rect">
              <a:avLst/>
            </a:prstGeom>
            <a:noFill/>
          </p:spPr>
          <p:txBody>
            <a:bodyPr wrap="none" rtlCol="0">
              <a:spAutoFit/>
            </a:bodyPr>
            <a:lstStyle/>
            <a:p>
              <a:r>
                <a:rPr lang="en-US" dirty="0">
                  <a:latin typeface="Andale Mono" charset="0"/>
                  <a:ea typeface="Andale Mono" charset="0"/>
                  <a:cs typeface="Andale Mono" charset="0"/>
                </a:rPr>
                <a:t>…</a:t>
              </a:r>
            </a:p>
            <a:p>
              <a:r>
                <a:rPr lang="en-US" dirty="0">
                  <a:latin typeface="Andale Mono" charset="0"/>
                  <a:ea typeface="Andale Mono" charset="0"/>
                  <a:cs typeface="Andale Mono" charset="0"/>
                </a:rPr>
                <a:t>a = b + 2</a:t>
              </a:r>
            </a:p>
            <a:p>
              <a:r>
                <a:rPr lang="en-US" dirty="0">
                  <a:latin typeface="Andale Mono" charset="0"/>
                  <a:ea typeface="Andale Mono" charset="0"/>
                  <a:cs typeface="Andale Mono" charset="0"/>
                </a:rPr>
                <a:t>…</a:t>
              </a:r>
            </a:p>
          </p:txBody>
        </p:sp>
        <p:cxnSp>
          <p:nvCxnSpPr>
            <p:cNvPr id="10" name="Straight Arrow Connector 9"/>
            <p:cNvCxnSpPr/>
            <p:nvPr/>
          </p:nvCxnSpPr>
          <p:spPr>
            <a:xfrm>
              <a:off x="825910" y="4889417"/>
              <a:ext cx="18601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686050" y="4720140"/>
              <a:ext cx="4970206" cy="338554"/>
            </a:xfrm>
            <a:prstGeom prst="rect">
              <a:avLst/>
            </a:prstGeom>
            <a:noFill/>
          </p:spPr>
          <p:txBody>
            <a:bodyPr wrap="square" rtlCol="0">
              <a:spAutoFit/>
            </a:bodyPr>
            <a:lstStyle/>
            <a:p>
              <a:r>
                <a:rPr lang="en-US" sz="1600"/>
                <a:t>First address of the program 00000</a:t>
              </a:r>
              <a:endParaRPr lang="en-US" sz="1600" dirty="0"/>
            </a:p>
          </p:txBody>
        </p:sp>
        <p:cxnSp>
          <p:nvCxnSpPr>
            <p:cNvPr id="12" name="Straight Arrow Connector 11"/>
            <p:cNvCxnSpPr/>
            <p:nvPr/>
          </p:nvCxnSpPr>
          <p:spPr>
            <a:xfrm>
              <a:off x="1039618" y="5360111"/>
              <a:ext cx="840658" cy="513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880276" y="5700046"/>
              <a:ext cx="4970206" cy="338554"/>
            </a:xfrm>
            <a:prstGeom prst="rect">
              <a:avLst/>
            </a:prstGeom>
            <a:noFill/>
          </p:spPr>
          <p:txBody>
            <a:bodyPr wrap="square" rtlCol="0">
              <a:spAutoFit/>
            </a:bodyPr>
            <a:lstStyle/>
            <a:p>
              <a:r>
                <a:rPr lang="en-US" sz="1600" dirty="0"/>
                <a:t>Address of variable a 346</a:t>
              </a:r>
            </a:p>
          </p:txBody>
        </p:sp>
      </p:grpSp>
      <p:sp>
        <p:nvSpPr>
          <p:cNvPr id="17" name="Rectangle 16"/>
          <p:cNvSpPr/>
          <p:nvPr/>
        </p:nvSpPr>
        <p:spPr>
          <a:xfrm>
            <a:off x="2559315" y="4177378"/>
            <a:ext cx="5899353" cy="1858297"/>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8" name="TextBox 17"/>
          <p:cNvSpPr txBox="1"/>
          <p:nvPr/>
        </p:nvSpPr>
        <p:spPr>
          <a:xfrm>
            <a:off x="2529819" y="4152766"/>
            <a:ext cx="4970206" cy="369332"/>
          </a:xfrm>
          <a:prstGeom prst="rect">
            <a:avLst/>
          </a:prstGeom>
          <a:noFill/>
        </p:spPr>
        <p:txBody>
          <a:bodyPr wrap="square" rtlCol="0">
            <a:spAutoFit/>
          </a:bodyPr>
          <a:lstStyle/>
          <a:p>
            <a:r>
              <a:rPr lang="en-US" b="1" dirty="0"/>
              <a:t>Physical address (main memory)</a:t>
            </a:r>
          </a:p>
        </p:txBody>
      </p:sp>
      <p:grpSp>
        <p:nvGrpSpPr>
          <p:cNvPr id="19" name="Group 18"/>
          <p:cNvGrpSpPr/>
          <p:nvPr/>
        </p:nvGrpSpPr>
        <p:grpSpPr>
          <a:xfrm>
            <a:off x="2706183" y="4619656"/>
            <a:ext cx="6909004" cy="1318460"/>
            <a:chOff x="747252" y="4720140"/>
            <a:chExt cx="6909004" cy="1318460"/>
          </a:xfrm>
        </p:grpSpPr>
        <p:sp>
          <p:nvSpPr>
            <p:cNvPr id="20" name="TextBox 19"/>
            <p:cNvSpPr txBox="1"/>
            <p:nvPr/>
          </p:nvSpPr>
          <p:spPr>
            <a:xfrm>
              <a:off x="747252" y="4797520"/>
              <a:ext cx="1425390" cy="923330"/>
            </a:xfrm>
            <a:prstGeom prst="rect">
              <a:avLst/>
            </a:prstGeom>
            <a:noFill/>
          </p:spPr>
          <p:txBody>
            <a:bodyPr wrap="none" rtlCol="0">
              <a:spAutoFit/>
            </a:bodyPr>
            <a:lstStyle/>
            <a:p>
              <a:r>
                <a:rPr lang="en-US" dirty="0">
                  <a:latin typeface="Andale Mono" charset="0"/>
                  <a:ea typeface="Andale Mono" charset="0"/>
                  <a:cs typeface="Andale Mono" charset="0"/>
                </a:rPr>
                <a:t>…</a:t>
              </a:r>
            </a:p>
            <a:p>
              <a:r>
                <a:rPr lang="en-US" dirty="0">
                  <a:latin typeface="Andale Mono" charset="0"/>
                  <a:ea typeface="Andale Mono" charset="0"/>
                  <a:cs typeface="Andale Mono" charset="0"/>
                </a:rPr>
                <a:t>a = b + 2</a:t>
              </a:r>
            </a:p>
            <a:p>
              <a:r>
                <a:rPr lang="en-US" dirty="0">
                  <a:latin typeface="Andale Mono" charset="0"/>
                  <a:ea typeface="Andale Mono" charset="0"/>
                  <a:cs typeface="Andale Mono" charset="0"/>
                </a:rPr>
                <a:t>…</a:t>
              </a:r>
            </a:p>
          </p:txBody>
        </p:sp>
        <p:cxnSp>
          <p:nvCxnSpPr>
            <p:cNvPr id="21" name="Straight Arrow Connector 20"/>
            <p:cNvCxnSpPr/>
            <p:nvPr/>
          </p:nvCxnSpPr>
          <p:spPr>
            <a:xfrm>
              <a:off x="825910" y="4889417"/>
              <a:ext cx="18601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686050" y="4720140"/>
              <a:ext cx="4970206" cy="338554"/>
            </a:xfrm>
            <a:prstGeom prst="rect">
              <a:avLst/>
            </a:prstGeom>
            <a:noFill/>
          </p:spPr>
          <p:txBody>
            <a:bodyPr wrap="square" rtlCol="0">
              <a:spAutoFit/>
            </a:bodyPr>
            <a:lstStyle/>
            <a:p>
              <a:r>
                <a:rPr lang="en-US" sz="1600" dirty="0"/>
                <a:t>First address of the program 14000</a:t>
              </a:r>
            </a:p>
          </p:txBody>
        </p:sp>
        <p:cxnSp>
          <p:nvCxnSpPr>
            <p:cNvPr id="23" name="Straight Arrow Connector 22"/>
            <p:cNvCxnSpPr/>
            <p:nvPr/>
          </p:nvCxnSpPr>
          <p:spPr>
            <a:xfrm>
              <a:off x="1039618" y="5360111"/>
              <a:ext cx="840658" cy="513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880276" y="5700046"/>
              <a:ext cx="4970206" cy="338554"/>
            </a:xfrm>
            <a:prstGeom prst="rect">
              <a:avLst/>
            </a:prstGeom>
            <a:noFill/>
          </p:spPr>
          <p:txBody>
            <a:bodyPr wrap="square" rtlCol="0">
              <a:spAutoFit/>
            </a:bodyPr>
            <a:lstStyle/>
            <a:p>
              <a:r>
                <a:rPr lang="en-US" sz="1600" dirty="0"/>
                <a:t>Address of variable a 14346</a:t>
              </a:r>
            </a:p>
          </p:txBody>
        </p:sp>
      </p:grpSp>
    </p:spTree>
    <p:extLst>
      <p:ext uri="{BB962C8B-B14F-4D97-AF65-F5344CB8AC3E}">
        <p14:creationId xmlns:p14="http://schemas.microsoft.com/office/powerpoint/2010/main" val="1311532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Logical/Virtual vs Physical address space (ii)</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15</a:t>
            </a:fld>
            <a:endParaRPr lang="en-US"/>
          </a:p>
        </p:txBody>
      </p:sp>
      <p:pic>
        <p:nvPicPr>
          <p:cNvPr id="7" name="Picture 6"/>
          <p:cNvPicPr>
            <a:picLocks noChangeAspect="1"/>
          </p:cNvPicPr>
          <p:nvPr/>
        </p:nvPicPr>
        <p:blipFill>
          <a:blip r:embed="rId3"/>
          <a:stretch>
            <a:fillRect/>
          </a:stretch>
        </p:blipFill>
        <p:spPr>
          <a:xfrm>
            <a:off x="1975670" y="2200173"/>
            <a:ext cx="4242415" cy="2499849"/>
          </a:xfrm>
          <a:prstGeom prst="rect">
            <a:avLst/>
          </a:prstGeom>
        </p:spPr>
      </p:pic>
      <p:sp>
        <p:nvSpPr>
          <p:cNvPr id="8" name="TextBox 7"/>
          <p:cNvSpPr txBox="1"/>
          <p:nvPr/>
        </p:nvSpPr>
        <p:spPr>
          <a:xfrm>
            <a:off x="1484673" y="4700022"/>
            <a:ext cx="2133598" cy="646331"/>
          </a:xfrm>
          <a:prstGeom prst="rect">
            <a:avLst/>
          </a:prstGeom>
          <a:noFill/>
        </p:spPr>
        <p:txBody>
          <a:bodyPr wrap="square" rtlCol="0">
            <a:spAutoFit/>
          </a:bodyPr>
          <a:lstStyle/>
          <a:p>
            <a:pPr algn="ctr"/>
            <a:r>
              <a:rPr lang="en-US" b="1"/>
              <a:t>Logical/Virtual </a:t>
            </a:r>
            <a:br>
              <a:rPr lang="en-US" b="1"/>
            </a:br>
            <a:r>
              <a:rPr lang="en-US" b="1"/>
              <a:t>address</a:t>
            </a:r>
            <a:endParaRPr lang="en-US" b="1" dirty="0"/>
          </a:p>
        </p:txBody>
      </p:sp>
      <p:sp>
        <p:nvSpPr>
          <p:cNvPr id="9" name="TextBox 8"/>
          <p:cNvSpPr txBox="1"/>
          <p:nvPr/>
        </p:nvSpPr>
        <p:spPr>
          <a:xfrm>
            <a:off x="4852221" y="4700022"/>
            <a:ext cx="2133598" cy="646331"/>
          </a:xfrm>
          <a:prstGeom prst="rect">
            <a:avLst/>
          </a:prstGeom>
          <a:noFill/>
        </p:spPr>
        <p:txBody>
          <a:bodyPr wrap="square" rtlCol="0">
            <a:spAutoFit/>
          </a:bodyPr>
          <a:lstStyle/>
          <a:p>
            <a:pPr algn="ctr"/>
            <a:r>
              <a:rPr lang="en-US" b="1" dirty="0"/>
              <a:t>Physical</a:t>
            </a:r>
            <a:br>
              <a:rPr lang="en-US" b="1" dirty="0"/>
            </a:br>
            <a:r>
              <a:rPr lang="en-US" b="1" dirty="0"/>
              <a:t>address</a:t>
            </a:r>
          </a:p>
        </p:txBody>
      </p:sp>
      <p:sp>
        <p:nvSpPr>
          <p:cNvPr id="10" name="Oval Callout 9"/>
          <p:cNvSpPr/>
          <p:nvPr/>
        </p:nvSpPr>
        <p:spPr>
          <a:xfrm>
            <a:off x="2794205" y="1420807"/>
            <a:ext cx="1458248" cy="612648"/>
          </a:xfrm>
          <a:prstGeom prst="wedgeEllipseCallout">
            <a:avLst>
              <a:gd name="adj1" fmla="val -42409"/>
              <a:gd name="adj2" fmla="val 8015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Address 346</a:t>
            </a:r>
          </a:p>
        </p:txBody>
      </p:sp>
      <p:sp>
        <p:nvSpPr>
          <p:cNvPr id="11" name="Oval Callout 10"/>
          <p:cNvSpPr/>
          <p:nvPr/>
        </p:nvSpPr>
        <p:spPr>
          <a:xfrm>
            <a:off x="5710085" y="1587525"/>
            <a:ext cx="1458248" cy="612648"/>
          </a:xfrm>
          <a:prstGeom prst="wedgeEllipseCallout">
            <a:avLst>
              <a:gd name="adj1" fmla="val -42409"/>
              <a:gd name="adj2" fmla="val 8015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Address 14346</a:t>
            </a:r>
          </a:p>
        </p:txBody>
      </p:sp>
      <p:pic>
        <p:nvPicPr>
          <p:cNvPr id="12" name="Picture 11"/>
          <p:cNvPicPr>
            <a:picLocks noChangeAspect="1"/>
          </p:cNvPicPr>
          <p:nvPr/>
        </p:nvPicPr>
        <p:blipFill>
          <a:blip r:embed="rId4"/>
          <a:stretch>
            <a:fillRect/>
          </a:stretch>
        </p:blipFill>
        <p:spPr>
          <a:xfrm>
            <a:off x="3251343" y="3285570"/>
            <a:ext cx="1573225" cy="1025218"/>
          </a:xfrm>
          <a:prstGeom prst="rect">
            <a:avLst/>
          </a:prstGeom>
        </p:spPr>
      </p:pic>
      <p:pic>
        <p:nvPicPr>
          <p:cNvPr id="15" name="Picture 14"/>
          <p:cNvPicPr>
            <a:picLocks noChangeAspect="1"/>
          </p:cNvPicPr>
          <p:nvPr/>
        </p:nvPicPr>
        <p:blipFill>
          <a:blip r:embed="rId5"/>
          <a:stretch>
            <a:fillRect/>
          </a:stretch>
        </p:blipFill>
        <p:spPr>
          <a:xfrm>
            <a:off x="4096877" y="2909702"/>
            <a:ext cx="780025" cy="585019"/>
          </a:xfrm>
          <a:prstGeom prst="rect">
            <a:avLst/>
          </a:prstGeom>
        </p:spPr>
      </p:pic>
      <p:sp>
        <p:nvSpPr>
          <p:cNvPr id="16" name="TextBox 15"/>
          <p:cNvSpPr txBox="1"/>
          <p:nvPr/>
        </p:nvSpPr>
        <p:spPr>
          <a:xfrm>
            <a:off x="393290" y="5710020"/>
            <a:ext cx="8642555" cy="369332"/>
          </a:xfrm>
          <a:prstGeom prst="rect">
            <a:avLst/>
          </a:prstGeom>
          <a:noFill/>
        </p:spPr>
        <p:txBody>
          <a:bodyPr wrap="square" rtlCol="0">
            <a:spAutoFit/>
          </a:bodyPr>
          <a:lstStyle/>
          <a:p>
            <a:r>
              <a:rPr lang="en-US" dirty="0"/>
              <a:t>How are logical/virtual addresses converted into physical addresses?</a:t>
            </a:r>
          </a:p>
        </p:txBody>
      </p:sp>
    </p:spTree>
    <p:extLst>
      <p:ext uri="{BB962C8B-B14F-4D97-AF65-F5344CB8AC3E}">
        <p14:creationId xmlns:p14="http://schemas.microsoft.com/office/powerpoint/2010/main" val="131294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Memory-Management Unit (MMU) – Relocation Register</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16</a:t>
            </a:fld>
            <a:endParaRPr lang="en-US"/>
          </a:p>
        </p:txBody>
      </p:sp>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478" y="2703412"/>
            <a:ext cx="3901870" cy="282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4660490" y="2979377"/>
            <a:ext cx="4247535" cy="369332"/>
          </a:xfrm>
          <a:prstGeom prst="rect">
            <a:avLst/>
          </a:prstGeom>
          <a:noFill/>
        </p:spPr>
        <p:txBody>
          <a:bodyPr wrap="square" rtlCol="0">
            <a:spAutoFit/>
          </a:bodyPr>
          <a:lstStyle/>
          <a:p>
            <a:r>
              <a:rPr lang="en-US"/>
              <a:t>Logical/Virtual addresses [0,max]</a:t>
            </a:r>
            <a:endParaRPr lang="en-US" dirty="0"/>
          </a:p>
        </p:txBody>
      </p:sp>
      <p:sp>
        <p:nvSpPr>
          <p:cNvPr id="9" name="TextBox 8"/>
          <p:cNvSpPr txBox="1"/>
          <p:nvPr/>
        </p:nvSpPr>
        <p:spPr>
          <a:xfrm>
            <a:off x="4660490" y="4666911"/>
            <a:ext cx="4247535" cy="369332"/>
          </a:xfrm>
          <a:prstGeom prst="rect">
            <a:avLst/>
          </a:prstGeom>
          <a:noFill/>
        </p:spPr>
        <p:txBody>
          <a:bodyPr wrap="square" rtlCol="0">
            <a:spAutoFit/>
          </a:bodyPr>
          <a:lstStyle/>
          <a:p>
            <a:r>
              <a:rPr lang="en-US" dirty="0"/>
              <a:t>Physical addresses [R+0,R+max]</a:t>
            </a:r>
          </a:p>
        </p:txBody>
      </p:sp>
    </p:spTree>
    <p:extLst>
      <p:ext uri="{BB962C8B-B14F-4D97-AF65-F5344CB8AC3E}">
        <p14:creationId xmlns:p14="http://schemas.microsoft.com/office/powerpoint/2010/main" val="577930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solidFill>
                  <a:schemeClr val="bg1">
                    <a:lumMod val="75000"/>
                  </a:schemeClr>
                </a:solidFill>
              </a:rPr>
              <a:t>Introduction</a:t>
            </a:r>
          </a:p>
          <a:p>
            <a:r>
              <a:rPr lang="en-US" dirty="0">
                <a:solidFill>
                  <a:schemeClr val="bg1">
                    <a:lumMod val="75000"/>
                  </a:schemeClr>
                </a:solidFill>
              </a:rPr>
              <a:t>Base and limit registers</a:t>
            </a:r>
          </a:p>
          <a:p>
            <a:r>
              <a:rPr lang="en-US" dirty="0">
                <a:solidFill>
                  <a:schemeClr val="bg1">
                    <a:lumMod val="75000"/>
                  </a:schemeClr>
                </a:solidFill>
              </a:rPr>
              <a:t>Logical/virtual versus physical addresses</a:t>
            </a:r>
          </a:p>
          <a:p>
            <a:r>
              <a:rPr lang="en-US" dirty="0"/>
              <a:t>Dynamic loading and dynamic linking [self-study]</a:t>
            </a:r>
          </a:p>
          <a:p>
            <a:r>
              <a:rPr lang="en-US" dirty="0">
                <a:solidFill>
                  <a:schemeClr val="bg1">
                    <a:lumMod val="75000"/>
                  </a:schemeClr>
                </a:solidFill>
              </a:rPr>
              <a:t>Swapping</a:t>
            </a:r>
          </a:p>
          <a:p>
            <a:r>
              <a:rPr lang="en-US" dirty="0">
                <a:solidFill>
                  <a:schemeClr val="bg1">
                    <a:lumMod val="75000"/>
                  </a:schemeClr>
                </a:solidFill>
              </a:rPr>
              <a:t>Memory allocation</a:t>
            </a:r>
          </a:p>
          <a:p>
            <a:pPr lvl="1"/>
            <a:r>
              <a:rPr lang="en-US" dirty="0">
                <a:solidFill>
                  <a:schemeClr val="bg1">
                    <a:lumMod val="75000"/>
                  </a:schemeClr>
                </a:solidFill>
              </a:rPr>
              <a:t>Contiguous allocation</a:t>
            </a:r>
          </a:p>
          <a:p>
            <a:pPr lvl="1"/>
            <a:r>
              <a:rPr lang="en-US" dirty="0">
                <a:solidFill>
                  <a:schemeClr val="bg1">
                    <a:lumMod val="75000"/>
                  </a:schemeClr>
                </a:solidFill>
              </a:rPr>
              <a:t>Segmentation</a:t>
            </a:r>
          </a:p>
          <a:p>
            <a:pPr lvl="1"/>
            <a:r>
              <a:rPr lang="en-US" dirty="0">
                <a:solidFill>
                  <a:schemeClr val="bg1">
                    <a:lumMod val="75000"/>
                  </a:schemeClr>
                </a:solidFill>
              </a:rPr>
              <a:t>Paging</a:t>
            </a:r>
          </a:p>
          <a:p>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17</a:t>
            </a:fld>
            <a:endParaRPr lang="en-US"/>
          </a:p>
        </p:txBody>
      </p:sp>
    </p:spTree>
    <p:extLst>
      <p:ext uri="{BB962C8B-B14F-4D97-AF65-F5344CB8AC3E}">
        <p14:creationId xmlns:p14="http://schemas.microsoft.com/office/powerpoint/2010/main" val="1088977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Optimizations – Dynamic loading</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18</a:t>
            </a:fld>
            <a:endParaRPr lang="en-US"/>
          </a:p>
        </p:txBody>
      </p:sp>
      <p:pic>
        <p:nvPicPr>
          <p:cNvPr id="8"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00" y="2084439"/>
            <a:ext cx="2564150" cy="282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1101213" y="3264310"/>
            <a:ext cx="855406" cy="4916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p>
        </p:txBody>
      </p:sp>
      <p:sp>
        <p:nvSpPr>
          <p:cNvPr id="10" name="TextBox 9"/>
          <p:cNvSpPr txBox="1"/>
          <p:nvPr/>
        </p:nvSpPr>
        <p:spPr>
          <a:xfrm>
            <a:off x="3333135" y="1690689"/>
            <a:ext cx="5182214" cy="2585323"/>
          </a:xfrm>
          <a:prstGeom prst="rect">
            <a:avLst/>
          </a:prstGeom>
          <a:noFill/>
        </p:spPr>
        <p:txBody>
          <a:bodyPr wrap="square" rtlCol="0">
            <a:spAutoFit/>
          </a:bodyPr>
          <a:lstStyle/>
          <a:p>
            <a:r>
              <a:rPr lang="en-US" dirty="0"/>
              <a:t>We assumed so far the entire program A is loaded</a:t>
            </a:r>
          </a:p>
          <a:p>
            <a:endParaRPr lang="en-US" dirty="0"/>
          </a:p>
          <a:p>
            <a:r>
              <a:rPr lang="en-US" dirty="0"/>
              <a:t>If program A is large but rarely uses some routines, loading the entire program wastes time and memory.</a:t>
            </a:r>
          </a:p>
          <a:p>
            <a:endParaRPr lang="en-US" dirty="0">
              <a:sym typeface="Wingdings"/>
            </a:endParaRPr>
          </a:p>
          <a:p>
            <a:r>
              <a:rPr lang="en-US" dirty="0">
                <a:sym typeface="Wingdings"/>
              </a:rPr>
              <a:t>Dynamic loading loads a routine only when it is first needed.</a:t>
            </a:r>
            <a:endParaRPr lang="en-US" dirty="0"/>
          </a:p>
        </p:txBody>
      </p:sp>
    </p:spTree>
    <p:extLst>
      <p:ext uri="{BB962C8B-B14F-4D97-AF65-F5344CB8AC3E}">
        <p14:creationId xmlns:p14="http://schemas.microsoft.com/office/powerpoint/2010/main" val="2087722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Optimizations – Dynamic Linking (</a:t>
            </a:r>
            <a:r>
              <a:rPr lang="en-US" dirty="0" err="1"/>
              <a:t>i</a:t>
            </a:r>
            <a:r>
              <a:rPr lang="en-US" dirty="0"/>
              <a:t>)</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19</a:t>
            </a:fld>
            <a:endParaRPr lang="en-US"/>
          </a:p>
        </p:txBody>
      </p:sp>
      <p:grpSp>
        <p:nvGrpSpPr>
          <p:cNvPr id="37" name="Group 36"/>
          <p:cNvGrpSpPr/>
          <p:nvPr/>
        </p:nvGrpSpPr>
        <p:grpSpPr>
          <a:xfrm>
            <a:off x="2634723" y="1394123"/>
            <a:ext cx="3806923" cy="1498494"/>
            <a:chOff x="2634723" y="1394123"/>
            <a:chExt cx="3806923" cy="1498494"/>
          </a:xfrm>
        </p:grpSpPr>
        <p:sp>
          <p:nvSpPr>
            <p:cNvPr id="7" name="TextBox 6"/>
            <p:cNvSpPr txBox="1"/>
            <p:nvPr/>
          </p:nvSpPr>
          <p:spPr>
            <a:xfrm>
              <a:off x="2634723" y="1784621"/>
              <a:ext cx="1573159" cy="369332"/>
            </a:xfrm>
            <a:prstGeom prst="rect">
              <a:avLst/>
            </a:prstGeom>
            <a:noFill/>
          </p:spPr>
          <p:txBody>
            <a:bodyPr wrap="square" rtlCol="0">
              <a:spAutoFit/>
            </a:bodyPr>
            <a:lstStyle/>
            <a:p>
              <a:r>
                <a:rPr lang="en-US" b="1" dirty="0"/>
                <a:t>Program A</a:t>
              </a:r>
            </a:p>
          </p:txBody>
        </p:sp>
        <p:sp>
          <p:nvSpPr>
            <p:cNvPr id="8" name="TextBox 7"/>
            <p:cNvSpPr txBox="1"/>
            <p:nvPr/>
          </p:nvSpPr>
          <p:spPr>
            <a:xfrm>
              <a:off x="2634723" y="2153953"/>
              <a:ext cx="1573159" cy="369332"/>
            </a:xfrm>
            <a:prstGeom prst="rect">
              <a:avLst/>
            </a:prstGeom>
            <a:noFill/>
          </p:spPr>
          <p:txBody>
            <a:bodyPr wrap="square" rtlCol="0">
              <a:spAutoFit/>
            </a:bodyPr>
            <a:lstStyle/>
            <a:p>
              <a:r>
                <a:rPr lang="en-US" b="1" dirty="0"/>
                <a:t>Program B</a:t>
              </a:r>
            </a:p>
          </p:txBody>
        </p:sp>
        <p:sp>
          <p:nvSpPr>
            <p:cNvPr id="9" name="TextBox 8"/>
            <p:cNvSpPr txBox="1"/>
            <p:nvPr/>
          </p:nvSpPr>
          <p:spPr>
            <a:xfrm>
              <a:off x="2634723" y="2523285"/>
              <a:ext cx="1573159" cy="369332"/>
            </a:xfrm>
            <a:prstGeom prst="rect">
              <a:avLst/>
            </a:prstGeom>
            <a:noFill/>
          </p:spPr>
          <p:txBody>
            <a:bodyPr wrap="square" rtlCol="0">
              <a:spAutoFit/>
            </a:bodyPr>
            <a:lstStyle/>
            <a:p>
              <a:r>
                <a:rPr lang="en-US" b="1" dirty="0"/>
                <a:t>Program C</a:t>
              </a:r>
            </a:p>
          </p:txBody>
        </p:sp>
        <p:sp>
          <p:nvSpPr>
            <p:cNvPr id="10" name="TextBox 9"/>
            <p:cNvSpPr txBox="1"/>
            <p:nvPr/>
          </p:nvSpPr>
          <p:spPr>
            <a:xfrm>
              <a:off x="4868487" y="2153953"/>
              <a:ext cx="1573159" cy="369332"/>
            </a:xfrm>
            <a:prstGeom prst="rect">
              <a:avLst/>
            </a:prstGeom>
            <a:noFill/>
          </p:spPr>
          <p:txBody>
            <a:bodyPr wrap="square" rtlCol="0">
              <a:spAutoFit/>
            </a:bodyPr>
            <a:lstStyle/>
            <a:p>
              <a:r>
                <a:rPr lang="en-US" b="1" dirty="0"/>
                <a:t>Program D</a:t>
              </a:r>
            </a:p>
          </p:txBody>
        </p:sp>
        <p:cxnSp>
          <p:nvCxnSpPr>
            <p:cNvPr id="12" name="Straight Arrow Connector 11"/>
            <p:cNvCxnSpPr>
              <a:stCxn id="7" idx="3"/>
              <a:endCxn id="10" idx="1"/>
            </p:cNvCxnSpPr>
            <p:nvPr/>
          </p:nvCxnSpPr>
          <p:spPr>
            <a:xfrm>
              <a:off x="4207882" y="1969287"/>
              <a:ext cx="660605"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8" idx="3"/>
              <a:endCxn id="10" idx="1"/>
            </p:cNvCxnSpPr>
            <p:nvPr/>
          </p:nvCxnSpPr>
          <p:spPr>
            <a:xfrm>
              <a:off x="4207882" y="2338619"/>
              <a:ext cx="6606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9" idx="3"/>
              <a:endCxn id="10" idx="1"/>
            </p:cNvCxnSpPr>
            <p:nvPr/>
          </p:nvCxnSpPr>
          <p:spPr>
            <a:xfrm flipV="1">
              <a:off x="4207882" y="2338619"/>
              <a:ext cx="660605"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590294" y="1394123"/>
              <a:ext cx="2359739" cy="369332"/>
            </a:xfrm>
            <a:prstGeom prst="rect">
              <a:avLst/>
            </a:prstGeom>
            <a:noFill/>
          </p:spPr>
          <p:txBody>
            <a:bodyPr wrap="square" rtlCol="0">
              <a:spAutoFit/>
            </a:bodyPr>
            <a:lstStyle/>
            <a:p>
              <a:r>
                <a:rPr lang="en-US" dirty="0"/>
                <a:t>Use </a:t>
              </a:r>
              <a:r>
                <a:rPr lang="en-US"/>
                <a:t>library from</a:t>
              </a:r>
              <a:endParaRPr lang="en-US" dirty="0"/>
            </a:p>
          </p:txBody>
        </p:sp>
      </p:grpSp>
      <p:grpSp>
        <p:nvGrpSpPr>
          <p:cNvPr id="3" name="Group 2"/>
          <p:cNvGrpSpPr/>
          <p:nvPr/>
        </p:nvGrpSpPr>
        <p:grpSpPr>
          <a:xfrm>
            <a:off x="344129" y="3029040"/>
            <a:ext cx="8544232" cy="3327311"/>
            <a:chOff x="344129" y="3029040"/>
            <a:chExt cx="8544232" cy="3327311"/>
          </a:xfrm>
        </p:grpSpPr>
        <p:pic>
          <p:nvPicPr>
            <p:cNvPr id="20" name="Picture 3" descr="C:\Users\as668\Desktop\1_0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9007" y="3641712"/>
              <a:ext cx="2982283" cy="248241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 name="Rounded Rectangular Callout 20"/>
            <p:cNvSpPr/>
            <p:nvPr/>
          </p:nvSpPr>
          <p:spPr>
            <a:xfrm>
              <a:off x="3667432" y="3539073"/>
              <a:ext cx="4414684" cy="2102227"/>
            </a:xfrm>
            <a:prstGeom prst="wedgeRoundRectCallout">
              <a:avLst>
                <a:gd name="adj1" fmla="val -73455"/>
                <a:gd name="adj2" fmla="val -16361"/>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2" name="Rounded Rectangular Callout 21"/>
            <p:cNvSpPr/>
            <p:nvPr/>
          </p:nvSpPr>
          <p:spPr>
            <a:xfrm>
              <a:off x="3770671" y="3631406"/>
              <a:ext cx="4390103" cy="2102227"/>
            </a:xfrm>
            <a:prstGeom prst="wedgeRoundRectCallout">
              <a:avLst>
                <a:gd name="adj1" fmla="val -67291"/>
                <a:gd name="adj2" fmla="val 1795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4432503" y="4449071"/>
              <a:ext cx="422173" cy="42217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t>D</a:t>
              </a:r>
            </a:p>
          </p:txBody>
        </p:sp>
        <p:grpSp>
          <p:nvGrpSpPr>
            <p:cNvPr id="26" name="Group 25"/>
            <p:cNvGrpSpPr/>
            <p:nvPr/>
          </p:nvGrpSpPr>
          <p:grpSpPr>
            <a:xfrm>
              <a:off x="5259130" y="4252525"/>
              <a:ext cx="495915" cy="882602"/>
              <a:chOff x="5200035" y="4115413"/>
              <a:chExt cx="495915" cy="882602"/>
            </a:xfrm>
          </p:grpSpPr>
          <p:sp>
            <p:nvSpPr>
              <p:cNvPr id="25" name="Rectangle 24"/>
              <p:cNvSpPr/>
              <p:nvPr/>
            </p:nvSpPr>
            <p:spPr>
              <a:xfrm>
                <a:off x="5200035" y="4115413"/>
                <a:ext cx="495915" cy="88260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r>
                  <a:rPr lang="en-US" b="1"/>
                  <a:t>A</a:t>
                </a:r>
                <a:endParaRPr lang="en-US" b="1" dirty="0"/>
              </a:p>
            </p:txBody>
          </p:sp>
          <p:sp>
            <p:nvSpPr>
              <p:cNvPr id="24" name="Rectangle 23"/>
              <p:cNvSpPr/>
              <p:nvPr/>
            </p:nvSpPr>
            <p:spPr>
              <a:xfrm>
                <a:off x="5236905" y="4523046"/>
                <a:ext cx="422173" cy="42217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t>D</a:t>
                </a:r>
              </a:p>
            </p:txBody>
          </p:sp>
        </p:grpSp>
        <p:grpSp>
          <p:nvGrpSpPr>
            <p:cNvPr id="27" name="Group 26"/>
            <p:cNvGrpSpPr/>
            <p:nvPr/>
          </p:nvGrpSpPr>
          <p:grpSpPr>
            <a:xfrm>
              <a:off x="6159499" y="4252525"/>
              <a:ext cx="495915" cy="882602"/>
              <a:chOff x="5200035" y="4115413"/>
              <a:chExt cx="495915" cy="882602"/>
            </a:xfrm>
          </p:grpSpPr>
          <p:sp>
            <p:nvSpPr>
              <p:cNvPr id="28" name="Rectangle 27"/>
              <p:cNvSpPr/>
              <p:nvPr/>
            </p:nvSpPr>
            <p:spPr>
              <a:xfrm>
                <a:off x="5200035" y="4115413"/>
                <a:ext cx="495915" cy="88260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r>
                  <a:rPr lang="en-US" b="1" dirty="0"/>
                  <a:t>B</a:t>
                </a:r>
              </a:p>
            </p:txBody>
          </p:sp>
          <p:sp>
            <p:nvSpPr>
              <p:cNvPr id="29" name="Rectangle 28"/>
              <p:cNvSpPr/>
              <p:nvPr/>
            </p:nvSpPr>
            <p:spPr>
              <a:xfrm>
                <a:off x="5236905" y="4523046"/>
                <a:ext cx="422173" cy="42217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t>D</a:t>
                </a:r>
              </a:p>
            </p:txBody>
          </p:sp>
        </p:grpSp>
        <p:grpSp>
          <p:nvGrpSpPr>
            <p:cNvPr id="30" name="Group 29"/>
            <p:cNvGrpSpPr/>
            <p:nvPr/>
          </p:nvGrpSpPr>
          <p:grpSpPr>
            <a:xfrm>
              <a:off x="7059868" y="4252525"/>
              <a:ext cx="495915" cy="882602"/>
              <a:chOff x="5200035" y="4115413"/>
              <a:chExt cx="495915" cy="882602"/>
            </a:xfrm>
          </p:grpSpPr>
          <p:sp>
            <p:nvSpPr>
              <p:cNvPr id="31" name="Rectangle 30"/>
              <p:cNvSpPr/>
              <p:nvPr/>
            </p:nvSpPr>
            <p:spPr>
              <a:xfrm>
                <a:off x="5200035" y="4115413"/>
                <a:ext cx="495915" cy="88260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r>
                  <a:rPr lang="en-US" b="1" dirty="0"/>
                  <a:t>C</a:t>
                </a:r>
              </a:p>
            </p:txBody>
          </p:sp>
          <p:sp>
            <p:nvSpPr>
              <p:cNvPr id="32" name="Rectangle 31"/>
              <p:cNvSpPr/>
              <p:nvPr/>
            </p:nvSpPr>
            <p:spPr>
              <a:xfrm>
                <a:off x="5236905" y="4523046"/>
                <a:ext cx="422173" cy="42217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t>D</a:t>
                </a:r>
              </a:p>
            </p:txBody>
          </p:sp>
        </p:grpSp>
        <p:sp>
          <p:nvSpPr>
            <p:cNvPr id="34" name="TextBox 33"/>
            <p:cNvSpPr txBox="1"/>
            <p:nvPr/>
          </p:nvSpPr>
          <p:spPr>
            <a:xfrm>
              <a:off x="3563255" y="3029040"/>
              <a:ext cx="2328399" cy="369332"/>
            </a:xfrm>
            <a:prstGeom prst="rect">
              <a:avLst/>
            </a:prstGeom>
            <a:noFill/>
          </p:spPr>
          <p:txBody>
            <a:bodyPr wrap="square" rtlCol="0">
              <a:spAutoFit/>
            </a:bodyPr>
            <a:lstStyle/>
            <a:p>
              <a:r>
                <a:rPr lang="en-US" b="1"/>
                <a:t>Static linking</a:t>
              </a:r>
              <a:endParaRPr lang="en-US" b="1" dirty="0"/>
            </a:p>
          </p:txBody>
        </p:sp>
        <p:sp>
          <p:nvSpPr>
            <p:cNvPr id="35" name="Rectangle 34"/>
            <p:cNvSpPr/>
            <p:nvPr/>
          </p:nvSpPr>
          <p:spPr>
            <a:xfrm>
              <a:off x="344129" y="3029040"/>
              <a:ext cx="8544232" cy="332731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TextBox 32"/>
          <p:cNvSpPr txBox="1"/>
          <p:nvPr/>
        </p:nvSpPr>
        <p:spPr>
          <a:xfrm>
            <a:off x="3028950" y="5489964"/>
            <a:ext cx="5330313" cy="73866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Arial" charset="0"/>
              <a:buChar char="•"/>
            </a:pPr>
            <a:r>
              <a:rPr lang="en-US" sz="1400" dirty="0"/>
              <a:t>Wastes disk space</a:t>
            </a:r>
          </a:p>
          <a:p>
            <a:pPr marL="285750" indent="-285750">
              <a:buFont typeface="Arial" charset="0"/>
              <a:buChar char="•"/>
            </a:pPr>
            <a:r>
              <a:rPr lang="en-US" sz="1400" dirty="0"/>
              <a:t>May create a separate in-memory copy of the library for each process</a:t>
            </a:r>
          </a:p>
          <a:p>
            <a:pPr marL="285750" indent="-285750">
              <a:buFont typeface="Arial" charset="0"/>
              <a:buChar char="•"/>
            </a:pPr>
            <a:r>
              <a:rPr lang="en-US" sz="1400" dirty="0"/>
              <a:t>Programs must be relinked when the library changes</a:t>
            </a:r>
          </a:p>
        </p:txBody>
      </p:sp>
    </p:spTree>
    <p:extLst>
      <p:ext uri="{BB962C8B-B14F-4D97-AF65-F5344CB8AC3E}">
        <p14:creationId xmlns:p14="http://schemas.microsoft.com/office/powerpoint/2010/main" val="1591681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Optimizations – Dynamic Linking (ii)</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20</a:t>
            </a:fld>
            <a:endParaRPr lang="en-US"/>
          </a:p>
        </p:txBody>
      </p:sp>
      <p:grpSp>
        <p:nvGrpSpPr>
          <p:cNvPr id="37" name="Group 36"/>
          <p:cNvGrpSpPr/>
          <p:nvPr/>
        </p:nvGrpSpPr>
        <p:grpSpPr>
          <a:xfrm>
            <a:off x="2634723" y="1394123"/>
            <a:ext cx="3806923" cy="1498494"/>
            <a:chOff x="2634723" y="1394123"/>
            <a:chExt cx="3806923" cy="1498494"/>
          </a:xfrm>
        </p:grpSpPr>
        <p:sp>
          <p:nvSpPr>
            <p:cNvPr id="7" name="TextBox 6"/>
            <p:cNvSpPr txBox="1"/>
            <p:nvPr/>
          </p:nvSpPr>
          <p:spPr>
            <a:xfrm>
              <a:off x="2634723" y="1784621"/>
              <a:ext cx="1573159" cy="369332"/>
            </a:xfrm>
            <a:prstGeom prst="rect">
              <a:avLst/>
            </a:prstGeom>
            <a:noFill/>
          </p:spPr>
          <p:txBody>
            <a:bodyPr wrap="square" rtlCol="0">
              <a:spAutoFit/>
            </a:bodyPr>
            <a:lstStyle/>
            <a:p>
              <a:r>
                <a:rPr lang="en-US" b="1" dirty="0"/>
                <a:t>Program A</a:t>
              </a:r>
            </a:p>
          </p:txBody>
        </p:sp>
        <p:sp>
          <p:nvSpPr>
            <p:cNvPr id="8" name="TextBox 7"/>
            <p:cNvSpPr txBox="1"/>
            <p:nvPr/>
          </p:nvSpPr>
          <p:spPr>
            <a:xfrm>
              <a:off x="2634723" y="2153953"/>
              <a:ext cx="1573159" cy="369332"/>
            </a:xfrm>
            <a:prstGeom prst="rect">
              <a:avLst/>
            </a:prstGeom>
            <a:noFill/>
          </p:spPr>
          <p:txBody>
            <a:bodyPr wrap="square" rtlCol="0">
              <a:spAutoFit/>
            </a:bodyPr>
            <a:lstStyle/>
            <a:p>
              <a:r>
                <a:rPr lang="en-US" b="1" dirty="0"/>
                <a:t>Program B</a:t>
              </a:r>
            </a:p>
          </p:txBody>
        </p:sp>
        <p:sp>
          <p:nvSpPr>
            <p:cNvPr id="9" name="TextBox 8"/>
            <p:cNvSpPr txBox="1"/>
            <p:nvPr/>
          </p:nvSpPr>
          <p:spPr>
            <a:xfrm>
              <a:off x="2634723" y="2523285"/>
              <a:ext cx="1573159" cy="369332"/>
            </a:xfrm>
            <a:prstGeom prst="rect">
              <a:avLst/>
            </a:prstGeom>
            <a:noFill/>
          </p:spPr>
          <p:txBody>
            <a:bodyPr wrap="square" rtlCol="0">
              <a:spAutoFit/>
            </a:bodyPr>
            <a:lstStyle/>
            <a:p>
              <a:r>
                <a:rPr lang="en-US" b="1" dirty="0"/>
                <a:t>Program C</a:t>
              </a:r>
            </a:p>
          </p:txBody>
        </p:sp>
        <p:sp>
          <p:nvSpPr>
            <p:cNvPr id="10" name="TextBox 9"/>
            <p:cNvSpPr txBox="1"/>
            <p:nvPr/>
          </p:nvSpPr>
          <p:spPr>
            <a:xfrm>
              <a:off x="4868487" y="2153953"/>
              <a:ext cx="1573159" cy="369332"/>
            </a:xfrm>
            <a:prstGeom prst="rect">
              <a:avLst/>
            </a:prstGeom>
            <a:noFill/>
          </p:spPr>
          <p:txBody>
            <a:bodyPr wrap="square" rtlCol="0">
              <a:spAutoFit/>
            </a:bodyPr>
            <a:lstStyle/>
            <a:p>
              <a:r>
                <a:rPr lang="en-US" b="1" dirty="0"/>
                <a:t>Program D</a:t>
              </a:r>
            </a:p>
          </p:txBody>
        </p:sp>
        <p:cxnSp>
          <p:nvCxnSpPr>
            <p:cNvPr id="12" name="Straight Arrow Connector 11"/>
            <p:cNvCxnSpPr>
              <a:stCxn id="7" idx="3"/>
              <a:endCxn id="10" idx="1"/>
            </p:cNvCxnSpPr>
            <p:nvPr/>
          </p:nvCxnSpPr>
          <p:spPr>
            <a:xfrm>
              <a:off x="4207882" y="1969287"/>
              <a:ext cx="660605"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8" idx="3"/>
              <a:endCxn id="10" idx="1"/>
            </p:cNvCxnSpPr>
            <p:nvPr/>
          </p:nvCxnSpPr>
          <p:spPr>
            <a:xfrm>
              <a:off x="4207882" y="2338619"/>
              <a:ext cx="6606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9" idx="3"/>
              <a:endCxn id="10" idx="1"/>
            </p:cNvCxnSpPr>
            <p:nvPr/>
          </p:nvCxnSpPr>
          <p:spPr>
            <a:xfrm flipV="1">
              <a:off x="4207882" y="2338619"/>
              <a:ext cx="660605"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590294" y="1394123"/>
              <a:ext cx="2359739" cy="369332"/>
            </a:xfrm>
            <a:prstGeom prst="rect">
              <a:avLst/>
            </a:prstGeom>
            <a:noFill/>
          </p:spPr>
          <p:txBody>
            <a:bodyPr wrap="square" rtlCol="0">
              <a:spAutoFit/>
            </a:bodyPr>
            <a:lstStyle/>
            <a:p>
              <a:r>
                <a:rPr lang="en-US" dirty="0"/>
                <a:t>Use </a:t>
              </a:r>
              <a:r>
                <a:rPr lang="en-US"/>
                <a:t>library from</a:t>
              </a:r>
              <a:endParaRPr lang="en-US" dirty="0"/>
            </a:p>
          </p:txBody>
        </p:sp>
      </p:grpSp>
      <p:grpSp>
        <p:nvGrpSpPr>
          <p:cNvPr id="36" name="Group 35"/>
          <p:cNvGrpSpPr/>
          <p:nvPr/>
        </p:nvGrpSpPr>
        <p:grpSpPr>
          <a:xfrm>
            <a:off x="344129" y="3029040"/>
            <a:ext cx="8544232" cy="3327311"/>
            <a:chOff x="344129" y="3029040"/>
            <a:chExt cx="8544232" cy="3327311"/>
          </a:xfrm>
        </p:grpSpPr>
        <p:pic>
          <p:nvPicPr>
            <p:cNvPr id="20" name="Picture 3" descr="C:\Users\as668\Desktop\1_0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9007" y="3641712"/>
              <a:ext cx="2982283" cy="248241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 name="Rounded Rectangular Callout 20"/>
            <p:cNvSpPr/>
            <p:nvPr/>
          </p:nvSpPr>
          <p:spPr>
            <a:xfrm>
              <a:off x="3667432" y="3539073"/>
              <a:ext cx="4414684" cy="2102227"/>
            </a:xfrm>
            <a:prstGeom prst="wedgeRoundRectCallout">
              <a:avLst>
                <a:gd name="adj1" fmla="val -73455"/>
                <a:gd name="adj2" fmla="val -16361"/>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2" name="Rounded Rectangular Callout 21"/>
            <p:cNvSpPr/>
            <p:nvPr/>
          </p:nvSpPr>
          <p:spPr>
            <a:xfrm>
              <a:off x="3770671" y="3631406"/>
              <a:ext cx="4390103" cy="2102227"/>
            </a:xfrm>
            <a:prstGeom prst="wedgeRoundRectCallout">
              <a:avLst>
                <a:gd name="adj1" fmla="val -67291"/>
                <a:gd name="adj2" fmla="val 1795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4432503" y="4449071"/>
              <a:ext cx="422173" cy="42217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t>D</a:t>
              </a:r>
            </a:p>
          </p:txBody>
        </p:sp>
        <p:grpSp>
          <p:nvGrpSpPr>
            <p:cNvPr id="26" name="Group 25"/>
            <p:cNvGrpSpPr/>
            <p:nvPr/>
          </p:nvGrpSpPr>
          <p:grpSpPr>
            <a:xfrm>
              <a:off x="5259130" y="4252525"/>
              <a:ext cx="495915" cy="557778"/>
              <a:chOff x="5200035" y="4115413"/>
              <a:chExt cx="495915" cy="557778"/>
            </a:xfrm>
          </p:grpSpPr>
          <p:sp>
            <p:nvSpPr>
              <p:cNvPr id="25" name="Rectangle 24"/>
              <p:cNvSpPr/>
              <p:nvPr/>
            </p:nvSpPr>
            <p:spPr>
              <a:xfrm>
                <a:off x="5200035" y="4115413"/>
                <a:ext cx="495915" cy="55777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r>
                  <a:rPr lang="en-US" b="1"/>
                  <a:t>A</a:t>
                </a:r>
                <a:endParaRPr lang="en-US" b="1" dirty="0"/>
              </a:p>
            </p:txBody>
          </p:sp>
          <p:sp>
            <p:nvSpPr>
              <p:cNvPr id="24" name="Rectangle 23"/>
              <p:cNvSpPr/>
              <p:nvPr/>
            </p:nvSpPr>
            <p:spPr>
              <a:xfrm>
                <a:off x="5236905" y="4523046"/>
                <a:ext cx="422173" cy="765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dirty="0"/>
              </a:p>
            </p:txBody>
          </p:sp>
        </p:grpSp>
        <p:grpSp>
          <p:nvGrpSpPr>
            <p:cNvPr id="27" name="Group 26"/>
            <p:cNvGrpSpPr/>
            <p:nvPr/>
          </p:nvGrpSpPr>
          <p:grpSpPr>
            <a:xfrm>
              <a:off x="6159499" y="4252525"/>
              <a:ext cx="495915" cy="557778"/>
              <a:chOff x="5200035" y="4115413"/>
              <a:chExt cx="495915" cy="557778"/>
            </a:xfrm>
          </p:grpSpPr>
          <p:sp>
            <p:nvSpPr>
              <p:cNvPr id="28" name="Rectangle 27"/>
              <p:cNvSpPr/>
              <p:nvPr/>
            </p:nvSpPr>
            <p:spPr>
              <a:xfrm>
                <a:off x="5200035" y="4115413"/>
                <a:ext cx="495915" cy="55777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r>
                  <a:rPr lang="en-US" b="1" dirty="0"/>
                  <a:t>B</a:t>
                </a:r>
              </a:p>
            </p:txBody>
          </p:sp>
          <p:sp>
            <p:nvSpPr>
              <p:cNvPr id="29" name="Rectangle 28"/>
              <p:cNvSpPr/>
              <p:nvPr/>
            </p:nvSpPr>
            <p:spPr>
              <a:xfrm>
                <a:off x="5236905" y="4523046"/>
                <a:ext cx="422173" cy="765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dirty="0"/>
              </a:p>
            </p:txBody>
          </p:sp>
        </p:grpSp>
        <p:grpSp>
          <p:nvGrpSpPr>
            <p:cNvPr id="30" name="Group 29"/>
            <p:cNvGrpSpPr/>
            <p:nvPr/>
          </p:nvGrpSpPr>
          <p:grpSpPr>
            <a:xfrm>
              <a:off x="7059868" y="4252525"/>
              <a:ext cx="495915" cy="557778"/>
              <a:chOff x="5200035" y="4115413"/>
              <a:chExt cx="495915" cy="557778"/>
            </a:xfrm>
          </p:grpSpPr>
          <p:sp>
            <p:nvSpPr>
              <p:cNvPr id="31" name="Rectangle 30"/>
              <p:cNvSpPr/>
              <p:nvPr/>
            </p:nvSpPr>
            <p:spPr>
              <a:xfrm>
                <a:off x="5200035" y="4115413"/>
                <a:ext cx="495915" cy="55777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r>
                  <a:rPr lang="en-US" b="1" dirty="0"/>
                  <a:t>C</a:t>
                </a:r>
              </a:p>
            </p:txBody>
          </p:sp>
          <p:sp>
            <p:nvSpPr>
              <p:cNvPr id="32" name="Rectangle 31"/>
              <p:cNvSpPr/>
              <p:nvPr/>
            </p:nvSpPr>
            <p:spPr>
              <a:xfrm>
                <a:off x="5236905" y="4523046"/>
                <a:ext cx="422173" cy="765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dirty="0"/>
              </a:p>
            </p:txBody>
          </p:sp>
        </p:grpSp>
        <p:sp>
          <p:nvSpPr>
            <p:cNvPr id="33" name="TextBox 32"/>
            <p:cNvSpPr txBox="1"/>
            <p:nvPr/>
          </p:nvSpPr>
          <p:spPr>
            <a:xfrm>
              <a:off x="2686050" y="5500724"/>
              <a:ext cx="5773454" cy="73866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Arial" charset="0"/>
                <a:buChar char="•"/>
              </a:pPr>
              <a:r>
                <a:rPr lang="en-US" sz="1400" dirty="0"/>
                <a:t>Uses less disk space</a:t>
              </a:r>
            </a:p>
            <a:p>
              <a:pPr marL="285750" indent="-285750">
                <a:buFont typeface="Arial" charset="0"/>
                <a:buChar char="•"/>
              </a:pPr>
              <a:r>
                <a:rPr lang="en-US" sz="1400" dirty="0"/>
                <a:t>Allows compatible library code to be shared in memory</a:t>
              </a:r>
            </a:p>
            <a:p>
              <a:pPr marL="285750" indent="-285750">
                <a:buFont typeface="Arial" charset="0"/>
                <a:buChar char="•"/>
              </a:pPr>
              <a:r>
                <a:rPr lang="en-US" sz="1400" dirty="0"/>
                <a:t>A compatible shared library can be updated without relinking each program</a:t>
              </a:r>
            </a:p>
          </p:txBody>
        </p:sp>
        <p:sp>
          <p:nvSpPr>
            <p:cNvPr id="34" name="TextBox 33"/>
            <p:cNvSpPr txBox="1"/>
            <p:nvPr/>
          </p:nvSpPr>
          <p:spPr>
            <a:xfrm>
              <a:off x="3563255" y="3029040"/>
              <a:ext cx="2328399" cy="369332"/>
            </a:xfrm>
            <a:prstGeom prst="rect">
              <a:avLst/>
            </a:prstGeom>
            <a:noFill/>
          </p:spPr>
          <p:txBody>
            <a:bodyPr wrap="square" rtlCol="0">
              <a:spAutoFit/>
            </a:bodyPr>
            <a:lstStyle/>
            <a:p>
              <a:r>
                <a:rPr lang="en-US" b="1" dirty="0"/>
                <a:t>Dynamic linking</a:t>
              </a:r>
            </a:p>
          </p:txBody>
        </p:sp>
        <p:sp>
          <p:nvSpPr>
            <p:cNvPr id="35" name="Rectangle 34"/>
            <p:cNvSpPr/>
            <p:nvPr/>
          </p:nvSpPr>
          <p:spPr>
            <a:xfrm>
              <a:off x="344129" y="3029040"/>
              <a:ext cx="8544232" cy="332731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p:cNvGrpSpPr/>
          <p:nvPr/>
        </p:nvGrpSpPr>
        <p:grpSpPr>
          <a:xfrm>
            <a:off x="7339876" y="3799005"/>
            <a:ext cx="1509158" cy="899436"/>
            <a:chOff x="7339876" y="3799005"/>
            <a:chExt cx="1509158" cy="899436"/>
          </a:xfrm>
        </p:grpSpPr>
        <p:cxnSp>
          <p:nvCxnSpPr>
            <p:cNvPr id="11" name="Straight Arrow Connector 10"/>
            <p:cNvCxnSpPr>
              <a:endCxn id="32" idx="3"/>
            </p:cNvCxnSpPr>
            <p:nvPr/>
          </p:nvCxnSpPr>
          <p:spPr>
            <a:xfrm flipH="1">
              <a:off x="7518911" y="4149213"/>
              <a:ext cx="838508" cy="549228"/>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sp>
          <p:nvSpPr>
            <p:cNvPr id="38" name="TextBox 37"/>
            <p:cNvSpPr txBox="1"/>
            <p:nvPr/>
          </p:nvSpPr>
          <p:spPr>
            <a:xfrm>
              <a:off x="7339876" y="3799005"/>
              <a:ext cx="1509158" cy="369332"/>
            </a:xfrm>
            <a:prstGeom prst="rect">
              <a:avLst/>
            </a:prstGeom>
            <a:solidFill>
              <a:schemeClr val="bg1"/>
            </a:solidFill>
            <a:ln>
              <a:solidFill>
                <a:srgbClr val="FFC000"/>
              </a:solidFill>
            </a:ln>
          </p:spPr>
          <p:txBody>
            <a:bodyPr wrap="square" rtlCol="0">
              <a:spAutoFit/>
            </a:bodyPr>
            <a:lstStyle/>
            <a:p>
              <a:r>
                <a:rPr lang="en-US" b="1"/>
                <a:t>Stub for D</a:t>
              </a:r>
              <a:endParaRPr lang="en-US" b="1" dirty="0"/>
            </a:p>
          </p:txBody>
        </p:sp>
      </p:grpSp>
    </p:spTree>
    <p:extLst>
      <p:ext uri="{BB962C8B-B14F-4D97-AF65-F5344CB8AC3E}">
        <p14:creationId xmlns:p14="http://schemas.microsoft.com/office/powerpoint/2010/main" val="662865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solidFill>
                  <a:schemeClr val="bg1">
                    <a:lumMod val="75000"/>
                  </a:schemeClr>
                </a:solidFill>
              </a:rPr>
              <a:t>Introduction</a:t>
            </a:r>
          </a:p>
          <a:p>
            <a:r>
              <a:rPr lang="en-US" dirty="0">
                <a:solidFill>
                  <a:schemeClr val="bg1">
                    <a:lumMod val="75000"/>
                  </a:schemeClr>
                </a:solidFill>
              </a:rPr>
              <a:t>Base and limit registers</a:t>
            </a:r>
          </a:p>
          <a:p>
            <a:r>
              <a:rPr lang="en-US" dirty="0">
                <a:solidFill>
                  <a:schemeClr val="bg1">
                    <a:lumMod val="75000"/>
                  </a:schemeClr>
                </a:solidFill>
              </a:rPr>
              <a:t>Logical/virtual versus physical addresses</a:t>
            </a:r>
          </a:p>
          <a:p>
            <a:r>
              <a:rPr lang="en-US" dirty="0">
                <a:solidFill>
                  <a:schemeClr val="bg1">
                    <a:lumMod val="75000"/>
                  </a:schemeClr>
                </a:solidFill>
              </a:rPr>
              <a:t>Dynamic loading and dynamic linking [self-study]</a:t>
            </a:r>
          </a:p>
          <a:p>
            <a:r>
              <a:rPr lang="en-US" dirty="0"/>
              <a:t>Swapping</a:t>
            </a:r>
          </a:p>
          <a:p>
            <a:r>
              <a:rPr lang="en-US" dirty="0">
                <a:solidFill>
                  <a:schemeClr val="bg1">
                    <a:lumMod val="75000"/>
                  </a:schemeClr>
                </a:solidFill>
              </a:rPr>
              <a:t>Memory allocation</a:t>
            </a:r>
          </a:p>
          <a:p>
            <a:pPr lvl="1"/>
            <a:r>
              <a:rPr lang="en-US" dirty="0">
                <a:solidFill>
                  <a:schemeClr val="bg1">
                    <a:lumMod val="75000"/>
                  </a:schemeClr>
                </a:solidFill>
              </a:rPr>
              <a:t>Contiguous allocation</a:t>
            </a:r>
          </a:p>
          <a:p>
            <a:pPr lvl="1"/>
            <a:r>
              <a:rPr lang="en-US" dirty="0">
                <a:solidFill>
                  <a:schemeClr val="bg1">
                    <a:lumMod val="75000"/>
                  </a:schemeClr>
                </a:solidFill>
              </a:rPr>
              <a:t>Segmentation</a:t>
            </a:r>
          </a:p>
          <a:p>
            <a:pPr lvl="1"/>
            <a:r>
              <a:rPr lang="en-US" dirty="0">
                <a:solidFill>
                  <a:schemeClr val="bg1">
                    <a:lumMod val="75000"/>
                  </a:schemeClr>
                </a:solidFill>
              </a:rPr>
              <a:t>Paging</a:t>
            </a:r>
          </a:p>
          <a:p>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21</a:t>
            </a:fld>
            <a:endParaRPr lang="en-US"/>
          </a:p>
        </p:txBody>
      </p:sp>
    </p:spTree>
    <p:extLst>
      <p:ext uri="{BB962C8B-B14F-4D97-AF65-F5344CB8AC3E}">
        <p14:creationId xmlns:p14="http://schemas.microsoft.com/office/powerpoint/2010/main" val="1010601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Swapping (</a:t>
            </a:r>
            <a:r>
              <a:rPr lang="en-US" dirty="0" err="1"/>
              <a:t>i</a:t>
            </a:r>
            <a:r>
              <a:rPr lang="en-US" dirty="0"/>
              <a:t>)</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22</a:t>
            </a:fld>
            <a:endParaRPr lang="en-US"/>
          </a:p>
        </p:txBody>
      </p:sp>
      <p:grpSp>
        <p:nvGrpSpPr>
          <p:cNvPr id="12" name="Group 11"/>
          <p:cNvGrpSpPr/>
          <p:nvPr/>
        </p:nvGrpSpPr>
        <p:grpSpPr>
          <a:xfrm>
            <a:off x="530327" y="1690689"/>
            <a:ext cx="7198057" cy="2482419"/>
            <a:chOff x="530327" y="1690689"/>
            <a:chExt cx="7198057" cy="2482419"/>
          </a:xfrm>
        </p:grpSpPr>
        <p:pic>
          <p:nvPicPr>
            <p:cNvPr id="7" name="Picture 3" descr="C:\Users\as668\Desktop\1_0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0327" y="1690689"/>
              <a:ext cx="2982283" cy="248241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Curved Left Arrow 7"/>
            <p:cNvSpPr/>
            <p:nvPr/>
          </p:nvSpPr>
          <p:spPr>
            <a:xfrm>
              <a:off x="3245172" y="2237519"/>
              <a:ext cx="731520" cy="1009674"/>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p:cNvSpPr txBox="1"/>
            <p:nvPr/>
          </p:nvSpPr>
          <p:spPr>
            <a:xfrm>
              <a:off x="4041287" y="2285567"/>
              <a:ext cx="3687097" cy="646331"/>
            </a:xfrm>
            <a:prstGeom prst="rect">
              <a:avLst/>
            </a:prstGeom>
            <a:noFill/>
          </p:spPr>
          <p:txBody>
            <a:bodyPr wrap="square" rtlCol="0">
              <a:spAutoFit/>
            </a:bodyPr>
            <a:lstStyle/>
            <a:p>
              <a:r>
                <a:rPr lang="en-US" dirty="0"/>
                <a:t>Moving a process from </a:t>
              </a:r>
              <a:r>
                <a:rPr lang="en-US" u="sng" dirty="0"/>
                <a:t>memory</a:t>
              </a:r>
              <a:r>
                <a:rPr lang="en-US" dirty="0"/>
                <a:t> to </a:t>
              </a:r>
              <a:r>
                <a:rPr lang="en-US" u="sng" dirty="0"/>
                <a:t>backing store</a:t>
              </a:r>
            </a:p>
          </p:txBody>
        </p:sp>
      </p:grpSp>
      <p:sp>
        <p:nvSpPr>
          <p:cNvPr id="10" name="TextBox 9"/>
          <p:cNvSpPr txBox="1"/>
          <p:nvPr/>
        </p:nvSpPr>
        <p:spPr>
          <a:xfrm>
            <a:off x="452284" y="4836654"/>
            <a:ext cx="8186194" cy="1200329"/>
          </a:xfrm>
          <a:prstGeom prst="rect">
            <a:avLst/>
          </a:prstGeom>
          <a:noFill/>
        </p:spPr>
        <p:txBody>
          <a:bodyPr wrap="square" rtlCol="0">
            <a:spAutoFit/>
          </a:bodyPr>
          <a:lstStyle/>
          <a:p>
            <a:pPr algn="ctr"/>
            <a:r>
              <a:rPr lang="en-US" sz="2200" dirty="0"/>
              <a:t>size(all logical addresses of all processes) </a:t>
            </a:r>
          </a:p>
          <a:p>
            <a:pPr algn="ctr"/>
            <a:r>
              <a:rPr lang="en-US" sz="2800" b="1" dirty="0"/>
              <a:t>&gt;</a:t>
            </a:r>
            <a:r>
              <a:rPr lang="en-US" sz="2200" dirty="0"/>
              <a:t> </a:t>
            </a:r>
          </a:p>
          <a:p>
            <a:pPr algn="ctr"/>
            <a:r>
              <a:rPr lang="en-US" sz="2200" dirty="0"/>
              <a:t>size(real physical memory)</a:t>
            </a:r>
            <a:endParaRPr lang="en-US" sz="2200" u="sng" dirty="0"/>
          </a:p>
        </p:txBody>
      </p:sp>
      <p:sp>
        <p:nvSpPr>
          <p:cNvPr id="11" name="TextBox 10"/>
          <p:cNvSpPr txBox="1"/>
          <p:nvPr/>
        </p:nvSpPr>
        <p:spPr>
          <a:xfrm>
            <a:off x="452284" y="4405767"/>
            <a:ext cx="3687097" cy="430887"/>
          </a:xfrm>
          <a:prstGeom prst="rect">
            <a:avLst/>
          </a:prstGeom>
          <a:noFill/>
        </p:spPr>
        <p:txBody>
          <a:bodyPr wrap="square" rtlCol="0">
            <a:spAutoFit/>
          </a:bodyPr>
          <a:lstStyle/>
          <a:p>
            <a:r>
              <a:rPr lang="en-US" sz="2200" dirty="0"/>
              <a:t>Why?</a:t>
            </a:r>
            <a:endParaRPr lang="en-US" sz="2200" u="sng" dirty="0"/>
          </a:p>
        </p:txBody>
      </p:sp>
    </p:spTree>
    <p:extLst>
      <p:ext uri="{BB962C8B-B14F-4D97-AF65-F5344CB8AC3E}">
        <p14:creationId xmlns:p14="http://schemas.microsoft.com/office/powerpoint/2010/main" val="1301061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Swapping (ii)</a:t>
            </a:r>
          </a:p>
        </p:txBody>
      </p:sp>
      <p:sp>
        <p:nvSpPr>
          <p:cNvPr id="3" name="Content Placeholder 2"/>
          <p:cNvSpPr>
            <a:spLocks noGrp="1"/>
          </p:cNvSpPr>
          <p:nvPr>
            <p:ph idx="1"/>
          </p:nvPr>
        </p:nvSpPr>
        <p:spPr/>
        <p:txBody>
          <a:bodyPr/>
          <a:lstStyle/>
          <a:p>
            <a:r>
              <a:rPr lang="en-US" dirty="0"/>
              <a:t>Basic idea:</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23</a:t>
            </a:fld>
            <a:endParaRPr lang="en-US"/>
          </a:p>
        </p:txBody>
      </p:sp>
      <p:pic>
        <p:nvPicPr>
          <p:cNvPr id="7" name="Picture 4" descr="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 y="2755759"/>
            <a:ext cx="3329719" cy="2491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4277032" y="2451590"/>
            <a:ext cx="4621161" cy="1631216"/>
          </a:xfrm>
          <a:prstGeom prst="rect">
            <a:avLst/>
          </a:prstGeom>
          <a:noFill/>
        </p:spPr>
        <p:txBody>
          <a:bodyPr wrap="square" rtlCol="0">
            <a:spAutoFit/>
          </a:bodyPr>
          <a:lstStyle/>
          <a:p>
            <a:r>
              <a:rPr lang="en-US" sz="2000" dirty="0"/>
              <a:t>Questions:</a:t>
            </a:r>
          </a:p>
          <a:p>
            <a:pPr marL="342900" indent="-342900">
              <a:buFont typeface="Arial" charset="0"/>
              <a:buChar char="•"/>
            </a:pPr>
            <a:r>
              <a:rPr lang="en-US" sz="2000" dirty="0"/>
              <a:t>Which processes can we swap?</a:t>
            </a:r>
          </a:p>
          <a:p>
            <a:pPr marL="342900" indent="-342900">
              <a:buFont typeface="Arial" charset="0"/>
              <a:buChar char="•"/>
            </a:pPr>
            <a:r>
              <a:rPr lang="en-US" sz="2000" dirty="0"/>
              <a:t>How much time does it take?</a:t>
            </a:r>
          </a:p>
          <a:p>
            <a:pPr marL="342900" indent="-342900">
              <a:buFont typeface="Arial" charset="0"/>
              <a:buChar char="•"/>
            </a:pPr>
            <a:r>
              <a:rPr lang="en-US" sz="2000" dirty="0"/>
              <a:t>When does it make sense to use swapping?</a:t>
            </a:r>
          </a:p>
        </p:txBody>
      </p:sp>
    </p:spTree>
    <p:extLst>
      <p:ext uri="{BB962C8B-B14F-4D97-AF65-F5344CB8AC3E}">
        <p14:creationId xmlns:p14="http://schemas.microsoft.com/office/powerpoint/2010/main" val="800515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Swapping - </a:t>
            </a:r>
            <a:r>
              <a:rPr lang="en-US" sz="3600" dirty="0"/>
              <a:t>Which processes can we swap?</a:t>
            </a:r>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24</a:t>
            </a:fld>
            <a:endParaRPr lang="en-US"/>
          </a:p>
        </p:txBody>
      </p:sp>
      <p:pic>
        <p:nvPicPr>
          <p:cNvPr id="1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0888" y="1828799"/>
            <a:ext cx="4551798" cy="3925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p:cNvPicPr>
            <a:picLocks noChangeAspect="1"/>
          </p:cNvPicPr>
          <p:nvPr/>
        </p:nvPicPr>
        <p:blipFill>
          <a:blip r:embed="rId4"/>
          <a:stretch>
            <a:fillRect/>
          </a:stretch>
        </p:blipFill>
        <p:spPr>
          <a:xfrm>
            <a:off x="3042502" y="1517183"/>
            <a:ext cx="1077201" cy="1103113"/>
          </a:xfrm>
          <a:prstGeom prst="rect">
            <a:avLst/>
          </a:prstGeom>
        </p:spPr>
      </p:pic>
      <p:pic>
        <p:nvPicPr>
          <p:cNvPr id="12" name="Picture 11"/>
          <p:cNvPicPr>
            <a:picLocks noChangeAspect="1"/>
          </p:cNvPicPr>
          <p:nvPr/>
        </p:nvPicPr>
        <p:blipFill>
          <a:blip r:embed="rId5"/>
          <a:stretch>
            <a:fillRect/>
          </a:stretch>
        </p:blipFill>
        <p:spPr>
          <a:xfrm>
            <a:off x="2879242" y="3919837"/>
            <a:ext cx="1240461" cy="930346"/>
          </a:xfrm>
          <a:prstGeom prst="rect">
            <a:avLst/>
          </a:prstGeom>
        </p:spPr>
      </p:pic>
      <p:sp>
        <p:nvSpPr>
          <p:cNvPr id="14" name="TextBox 13"/>
          <p:cNvSpPr txBox="1"/>
          <p:nvPr/>
        </p:nvSpPr>
        <p:spPr>
          <a:xfrm>
            <a:off x="103949" y="3646346"/>
            <a:ext cx="2841745" cy="1477328"/>
          </a:xfrm>
          <a:prstGeom prst="rect">
            <a:avLst/>
          </a:prstGeom>
          <a:noFill/>
        </p:spPr>
        <p:txBody>
          <a:bodyPr wrap="square" rtlCol="0">
            <a:spAutoFit/>
          </a:bodyPr>
          <a:lstStyle/>
          <a:p>
            <a:r>
              <a:rPr lang="en-US" dirty="0"/>
              <a:t>Depends on the pending I/O…</a:t>
            </a:r>
          </a:p>
          <a:p>
            <a:endParaRPr lang="en-US" dirty="0"/>
          </a:p>
          <a:p>
            <a:r>
              <a:rPr lang="en-US" dirty="0"/>
              <a:t>Can the I/O results be buffered at the OS?</a:t>
            </a:r>
          </a:p>
        </p:txBody>
      </p:sp>
      <p:sp>
        <p:nvSpPr>
          <p:cNvPr id="3" name="TextBox 2">
            <a:extLst>
              <a:ext uri="{FF2B5EF4-FFF2-40B4-BE49-F238E27FC236}">
                <a16:creationId xmlns:a16="http://schemas.microsoft.com/office/drawing/2014/main" id="{709753FD-CD48-D27F-BD02-905FF81D7567}"/>
              </a:ext>
            </a:extLst>
          </p:cNvPr>
          <p:cNvSpPr txBox="1"/>
          <p:nvPr/>
        </p:nvSpPr>
        <p:spPr>
          <a:xfrm>
            <a:off x="1" y="5805523"/>
            <a:ext cx="9144000"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Arial" charset="0"/>
              <a:buChar char="•"/>
            </a:pPr>
            <a:r>
              <a:rPr lang="en-US" sz="1400" dirty="0"/>
              <a:t>A process with pending I/O cannot safely be swapped out if the device will transfer data directly into that process’s memory.</a:t>
            </a:r>
          </a:p>
          <a:p>
            <a:pPr marL="285750" indent="-285750">
              <a:buFont typeface="Arial" charset="0"/>
              <a:buChar char="•"/>
            </a:pPr>
            <a:r>
              <a:rPr lang="en-US" sz="1400" dirty="0"/>
              <a:t>Possible solutions include waiting for the I/O to complete or using OS buffers.</a:t>
            </a:r>
          </a:p>
        </p:txBody>
      </p:sp>
    </p:spTree>
    <p:extLst>
      <p:ext uri="{BB962C8B-B14F-4D97-AF65-F5344CB8AC3E}">
        <p14:creationId xmlns:p14="http://schemas.microsoft.com/office/powerpoint/2010/main" val="854758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Swapping – How much time does it take?</a:t>
            </a:r>
          </a:p>
        </p:txBody>
      </p:sp>
      <p:sp>
        <p:nvSpPr>
          <p:cNvPr id="3" name="Content Placeholder 2"/>
          <p:cNvSpPr>
            <a:spLocks noGrp="1"/>
          </p:cNvSpPr>
          <p:nvPr>
            <p:ph idx="1"/>
          </p:nvPr>
        </p:nvSpPr>
        <p:spPr/>
        <p:txBody>
          <a:bodyPr>
            <a:normAutofit/>
          </a:bodyPr>
          <a:lstStyle/>
          <a:p>
            <a:r>
              <a:rPr lang="en-US" dirty="0"/>
              <a:t>Process in memory 100 MB</a:t>
            </a:r>
          </a:p>
          <a:p>
            <a:r>
              <a:rPr lang="en-US" dirty="0"/>
              <a:t>Disk transfer rate 50 MB/s</a:t>
            </a:r>
          </a:p>
          <a:p>
            <a:pPr marL="0" indent="0">
              <a:buNone/>
            </a:pPr>
            <a:br>
              <a:rPr lang="en-US" dirty="0"/>
            </a:br>
            <a:r>
              <a:rPr lang="en-US" dirty="0">
                <a:sym typeface="Wingdings"/>
              </a:rPr>
              <a:t> 100 MB / 50 MB/s = 2 seconds</a:t>
            </a:r>
          </a:p>
          <a:p>
            <a:pPr marL="0" indent="0">
              <a:buNone/>
            </a:pPr>
            <a:br>
              <a:rPr lang="en-US" dirty="0">
                <a:sym typeface="Wingdings"/>
              </a:rPr>
            </a:br>
            <a:r>
              <a:rPr lang="en-US" dirty="0">
                <a:sym typeface="Wingdings"/>
              </a:rPr>
              <a:t> Swap out + Swap in = 4 seconds</a:t>
            </a:r>
          </a:p>
          <a:p>
            <a:pPr marL="0" indent="0">
              <a:buNone/>
            </a:pPr>
            <a:br>
              <a:rPr lang="en-US" dirty="0">
                <a:sym typeface="Wingdings"/>
              </a:rPr>
            </a:br>
            <a:r>
              <a:rPr lang="en-US" dirty="0">
                <a:sym typeface="Wingdings"/>
              </a:rPr>
              <a:t>(Notice: being optimistic! Disk writes/reads might be requested by other processes, interrupts will occur in the meantime, etc…)</a:t>
            </a:r>
          </a:p>
          <a:p>
            <a:pPr marL="0" indent="0">
              <a:buNone/>
            </a:pPr>
            <a:br>
              <a:rPr lang="en-US" dirty="0">
                <a:sym typeface="Wingdings"/>
              </a:rPr>
            </a:br>
            <a:r>
              <a:rPr lang="en-US" b="1" u="sng" dirty="0">
                <a:sym typeface="Wingdings"/>
              </a:rPr>
              <a:t>It is slow and expensive (because write/read to disks are slower and more expensive than memory ones)!</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25</a:t>
            </a:fld>
            <a:endParaRPr lang="en-US"/>
          </a:p>
        </p:txBody>
      </p:sp>
      <p:sp>
        <p:nvSpPr>
          <p:cNvPr id="9" name="TextBox 8"/>
          <p:cNvSpPr txBox="1"/>
          <p:nvPr/>
        </p:nvSpPr>
        <p:spPr>
          <a:xfrm>
            <a:off x="2005781" y="2005781"/>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82896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Swapping – When does it make sense to use it?</a:t>
            </a:r>
          </a:p>
        </p:txBody>
      </p:sp>
      <p:sp>
        <p:nvSpPr>
          <p:cNvPr id="3" name="Content Placeholder 2"/>
          <p:cNvSpPr>
            <a:spLocks noGrp="1"/>
          </p:cNvSpPr>
          <p:nvPr>
            <p:ph idx="1"/>
          </p:nvPr>
        </p:nvSpPr>
        <p:spPr/>
        <p:txBody>
          <a:bodyPr/>
          <a:lstStyle/>
          <a:p>
            <a:r>
              <a:rPr lang="en-US" dirty="0"/>
              <a:t>Not used “as it is”…</a:t>
            </a:r>
          </a:p>
          <a:p>
            <a:endParaRPr lang="en-US" dirty="0"/>
          </a:p>
          <a:p>
            <a:r>
              <a:rPr lang="en-US" dirty="0"/>
              <a:t>Modified versions are used in UNIX, Linux and Windows </a:t>
            </a:r>
          </a:p>
          <a:p>
            <a:pPr lvl="1"/>
            <a:r>
              <a:rPr lang="en-US" dirty="0"/>
              <a:t>Swapping is activated when free memory goes below a certain threshold</a:t>
            </a:r>
          </a:p>
          <a:p>
            <a:pPr lvl="1"/>
            <a:r>
              <a:rPr lang="en-US" dirty="0"/>
              <a:t>Swapping is deactivated when free memory goes above a certain threshold</a:t>
            </a:r>
          </a:p>
          <a:p>
            <a:pPr lvl="1"/>
            <a:endParaRPr lang="en-US" dirty="0"/>
          </a:p>
          <a:p>
            <a:r>
              <a:rPr lang="en-US" dirty="0"/>
              <a:t>Modified swapping (swap out / in only parts of the process) used in conjunction with Virtual Memory (next lecture…)</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26</a:t>
            </a:fld>
            <a:endParaRPr lang="en-US"/>
          </a:p>
        </p:txBody>
      </p:sp>
    </p:spTree>
    <p:extLst>
      <p:ext uri="{BB962C8B-B14F-4D97-AF65-F5344CB8AC3E}">
        <p14:creationId xmlns:p14="http://schemas.microsoft.com/office/powerpoint/2010/main" val="1553781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solidFill>
                  <a:schemeClr val="bg1">
                    <a:lumMod val="75000"/>
                  </a:schemeClr>
                </a:solidFill>
              </a:rPr>
              <a:t>Introduction</a:t>
            </a:r>
          </a:p>
          <a:p>
            <a:r>
              <a:rPr lang="en-US" dirty="0">
                <a:solidFill>
                  <a:schemeClr val="bg1">
                    <a:lumMod val="75000"/>
                  </a:schemeClr>
                </a:solidFill>
              </a:rPr>
              <a:t>Base and limit registers</a:t>
            </a:r>
          </a:p>
          <a:p>
            <a:r>
              <a:rPr lang="en-US" dirty="0">
                <a:solidFill>
                  <a:schemeClr val="bg1">
                    <a:lumMod val="75000"/>
                  </a:schemeClr>
                </a:solidFill>
              </a:rPr>
              <a:t>Logical/virtual versus physical addresses</a:t>
            </a:r>
          </a:p>
          <a:p>
            <a:r>
              <a:rPr lang="en-US" dirty="0">
                <a:solidFill>
                  <a:schemeClr val="bg1">
                    <a:lumMod val="75000"/>
                  </a:schemeClr>
                </a:solidFill>
              </a:rPr>
              <a:t>Dynamic loading and dynamic linking [self-study]</a:t>
            </a:r>
          </a:p>
          <a:p>
            <a:r>
              <a:rPr lang="en-US" dirty="0">
                <a:solidFill>
                  <a:schemeClr val="bg1">
                    <a:lumMod val="75000"/>
                  </a:schemeClr>
                </a:solidFill>
              </a:rPr>
              <a:t>Swapping</a:t>
            </a:r>
          </a:p>
          <a:p>
            <a:r>
              <a:rPr lang="en-US" dirty="0"/>
              <a:t>Memory allocation</a:t>
            </a:r>
          </a:p>
          <a:p>
            <a:pPr lvl="1"/>
            <a:r>
              <a:rPr lang="en-US" dirty="0">
                <a:solidFill>
                  <a:schemeClr val="bg1">
                    <a:lumMod val="75000"/>
                  </a:schemeClr>
                </a:solidFill>
              </a:rPr>
              <a:t>Contiguous allocation</a:t>
            </a:r>
          </a:p>
          <a:p>
            <a:pPr lvl="1"/>
            <a:r>
              <a:rPr lang="en-US" dirty="0">
                <a:solidFill>
                  <a:schemeClr val="bg1">
                    <a:lumMod val="75000"/>
                  </a:schemeClr>
                </a:solidFill>
              </a:rPr>
              <a:t>Segmentation</a:t>
            </a:r>
          </a:p>
          <a:p>
            <a:pPr lvl="1"/>
            <a:r>
              <a:rPr lang="en-US" dirty="0">
                <a:solidFill>
                  <a:schemeClr val="bg1">
                    <a:lumMod val="75000"/>
                  </a:schemeClr>
                </a:solidFill>
              </a:rPr>
              <a:t>Paging</a:t>
            </a:r>
          </a:p>
          <a:p>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27</a:t>
            </a:fld>
            <a:endParaRPr lang="en-US"/>
          </a:p>
        </p:txBody>
      </p:sp>
    </p:spTree>
    <p:extLst>
      <p:ext uri="{BB962C8B-B14F-4D97-AF65-F5344CB8AC3E}">
        <p14:creationId xmlns:p14="http://schemas.microsoft.com/office/powerpoint/2010/main" val="20321945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allocation</a:t>
            </a:r>
          </a:p>
        </p:txBody>
      </p:sp>
      <p:sp>
        <p:nvSpPr>
          <p:cNvPr id="3" name="Content Placeholder 2"/>
          <p:cNvSpPr>
            <a:spLocks noGrp="1"/>
          </p:cNvSpPr>
          <p:nvPr>
            <p:ph idx="1"/>
          </p:nvPr>
        </p:nvSpPr>
        <p:spPr/>
        <p:txBody>
          <a:bodyPr/>
          <a:lstStyle/>
          <a:p>
            <a:r>
              <a:rPr lang="en-US" dirty="0"/>
              <a:t>Memory contains</a:t>
            </a:r>
          </a:p>
          <a:p>
            <a:pPr lvl="1"/>
            <a:r>
              <a:rPr lang="en-US" dirty="0"/>
              <a:t>The operating system itself</a:t>
            </a:r>
          </a:p>
          <a:p>
            <a:pPr lvl="1"/>
            <a:r>
              <a:rPr lang="en-US" dirty="0"/>
              <a:t>User processes</a:t>
            </a:r>
          </a:p>
          <a:p>
            <a:pPr lvl="1"/>
            <a:endParaRPr lang="en-US" dirty="0"/>
          </a:p>
          <a:p>
            <a:r>
              <a:rPr lang="en-US" dirty="0"/>
              <a:t>Challenge: how to allocate memory efficiently?</a:t>
            </a:r>
          </a:p>
          <a:p>
            <a:endParaRPr lang="en-US" dirty="0"/>
          </a:p>
          <a:p>
            <a:r>
              <a:rPr lang="en-US" dirty="0"/>
              <a:t>We will see 3 cases</a:t>
            </a:r>
          </a:p>
          <a:p>
            <a:pPr lvl="1"/>
            <a:r>
              <a:rPr lang="en-US" dirty="0"/>
              <a:t>Contiguous allocation</a:t>
            </a:r>
          </a:p>
          <a:p>
            <a:pPr lvl="1"/>
            <a:r>
              <a:rPr lang="en-US" dirty="0"/>
              <a:t>Segmentation</a:t>
            </a:r>
          </a:p>
          <a:p>
            <a:pPr lvl="1"/>
            <a:r>
              <a:rPr lang="en-US" dirty="0"/>
              <a:t>Paging</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28</a:t>
            </a:fld>
            <a:endParaRPr lang="en-US"/>
          </a:p>
        </p:txBody>
      </p:sp>
      <p:grpSp>
        <p:nvGrpSpPr>
          <p:cNvPr id="7" name="Group 6"/>
          <p:cNvGrpSpPr/>
          <p:nvPr/>
        </p:nvGrpSpPr>
        <p:grpSpPr>
          <a:xfrm>
            <a:off x="3269234" y="3724672"/>
            <a:ext cx="1405843" cy="1694657"/>
            <a:chOff x="1295399" y="1828800"/>
            <a:chExt cx="3056187" cy="4092635"/>
          </a:xfrm>
        </p:grpSpPr>
        <p:pic>
          <p:nvPicPr>
            <p:cNvPr id="8" name="Picture 7" descr="http://4.bp.blogspot.com/-Kc_jYOMfj-g/UCakbvK3gyI/AAAAAAAAGTo/8Fa5sfZjQkI/s1600/coperta_corta.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399" y="1828800"/>
              <a:ext cx="3056187" cy="4092635"/>
            </a:xfrm>
            <a:prstGeom prst="rect">
              <a:avLst/>
            </a:prstGeom>
            <a:noFill/>
            <a:extLst>
              <a:ext uri="{909E8E84-426E-40dd-AFC4-6F175D3DCCD1}">
                <a14:hiddenFill xmlns:a14="http://schemas.microsoft.com/office/drawing/2010/main" xmlns="">
                  <a:solidFill>
                    <a:srgbClr val="FFFFFF"/>
                  </a:solidFill>
                </a14:hiddenFill>
              </a:ext>
            </a:extLst>
          </p:spPr>
        </p:pic>
        <p:sp>
          <p:nvSpPr>
            <p:cNvPr id="9" name="Up Arrow 8"/>
            <p:cNvSpPr/>
            <p:nvPr/>
          </p:nvSpPr>
          <p:spPr>
            <a:xfrm rot="1459553">
              <a:off x="3380403" y="2723383"/>
              <a:ext cx="484632" cy="97840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0" name="Up Arrow 9"/>
            <p:cNvSpPr/>
            <p:nvPr/>
          </p:nvSpPr>
          <p:spPr>
            <a:xfrm rot="12307406">
              <a:off x="2530992" y="4552399"/>
              <a:ext cx="484632" cy="97840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grpSp>
      <p:sp>
        <p:nvSpPr>
          <p:cNvPr id="11" name="Down Arrow 10"/>
          <p:cNvSpPr/>
          <p:nvPr/>
        </p:nvSpPr>
        <p:spPr>
          <a:xfrm>
            <a:off x="6810188" y="3598621"/>
            <a:ext cx="922389" cy="21827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185346" y="2859304"/>
            <a:ext cx="2172074" cy="738664"/>
          </a:xfrm>
          <a:prstGeom prst="rect">
            <a:avLst/>
          </a:prstGeom>
        </p:spPr>
        <p:txBody>
          <a:bodyPr wrap="square">
            <a:spAutoFit/>
          </a:bodyPr>
          <a:lstStyle/>
          <a:p>
            <a:pPr algn="ctr"/>
            <a:r>
              <a:rPr lang="en-US" sz="1400" dirty="0"/>
              <a:t>Logical and physical memory more and more separated</a:t>
            </a:r>
          </a:p>
        </p:txBody>
      </p:sp>
      <p:sp>
        <p:nvSpPr>
          <p:cNvPr id="13" name="Rectangle 12"/>
          <p:cNvSpPr/>
          <p:nvPr/>
        </p:nvSpPr>
        <p:spPr>
          <a:xfrm>
            <a:off x="6244801" y="3854245"/>
            <a:ext cx="2682242" cy="59976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Less fragmentation (better memory utilization)</a:t>
            </a:r>
          </a:p>
        </p:txBody>
      </p:sp>
      <p:sp>
        <p:nvSpPr>
          <p:cNvPr id="14" name="Rectangle 13"/>
          <p:cNvSpPr/>
          <p:nvPr/>
        </p:nvSpPr>
        <p:spPr>
          <a:xfrm>
            <a:off x="5899213" y="4541940"/>
            <a:ext cx="1256564" cy="29612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Protection</a:t>
            </a:r>
          </a:p>
        </p:txBody>
      </p:sp>
      <p:sp>
        <p:nvSpPr>
          <p:cNvPr id="15" name="Rectangle 14"/>
          <p:cNvSpPr/>
          <p:nvPr/>
        </p:nvSpPr>
        <p:spPr>
          <a:xfrm>
            <a:off x="7247358" y="4631647"/>
            <a:ext cx="1580414" cy="59299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Faster loading / swapping</a:t>
            </a:r>
          </a:p>
        </p:txBody>
      </p:sp>
    </p:spTree>
    <p:extLst>
      <p:ext uri="{BB962C8B-B14F-4D97-AF65-F5344CB8AC3E}">
        <p14:creationId xmlns:p14="http://schemas.microsoft.com/office/powerpoint/2010/main" val="1117334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animBg="1"/>
      <p:bldP spid="14" grpId="0" animBg="1"/>
      <p:bldP spid="1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solidFill>
                  <a:schemeClr val="bg1">
                    <a:lumMod val="75000"/>
                  </a:schemeClr>
                </a:solidFill>
              </a:rPr>
              <a:t>Introduction</a:t>
            </a:r>
          </a:p>
          <a:p>
            <a:r>
              <a:rPr lang="en-US" dirty="0">
                <a:solidFill>
                  <a:schemeClr val="bg1">
                    <a:lumMod val="75000"/>
                  </a:schemeClr>
                </a:solidFill>
              </a:rPr>
              <a:t>Base and limit registers</a:t>
            </a:r>
          </a:p>
          <a:p>
            <a:r>
              <a:rPr lang="en-US" dirty="0">
                <a:solidFill>
                  <a:schemeClr val="bg1">
                    <a:lumMod val="75000"/>
                  </a:schemeClr>
                </a:solidFill>
              </a:rPr>
              <a:t>Logical/virtual versus physical addresses</a:t>
            </a:r>
          </a:p>
          <a:p>
            <a:r>
              <a:rPr lang="en-US" dirty="0">
                <a:solidFill>
                  <a:schemeClr val="bg1">
                    <a:lumMod val="75000"/>
                  </a:schemeClr>
                </a:solidFill>
              </a:rPr>
              <a:t>Dynamic loading and dynamic linking [self-study]</a:t>
            </a:r>
          </a:p>
          <a:p>
            <a:r>
              <a:rPr lang="en-US" dirty="0">
                <a:solidFill>
                  <a:schemeClr val="bg1">
                    <a:lumMod val="75000"/>
                  </a:schemeClr>
                </a:solidFill>
              </a:rPr>
              <a:t>Swapping</a:t>
            </a:r>
          </a:p>
          <a:p>
            <a:r>
              <a:rPr lang="en-US" dirty="0"/>
              <a:t>Memory allocation</a:t>
            </a:r>
          </a:p>
          <a:p>
            <a:pPr lvl="1"/>
            <a:r>
              <a:rPr lang="en-US" dirty="0"/>
              <a:t>Contiguous allocation</a:t>
            </a:r>
          </a:p>
          <a:p>
            <a:pPr lvl="1"/>
            <a:r>
              <a:rPr lang="en-US" dirty="0">
                <a:solidFill>
                  <a:schemeClr val="bg1">
                    <a:lumMod val="75000"/>
                  </a:schemeClr>
                </a:solidFill>
              </a:rPr>
              <a:t>Segmentation</a:t>
            </a:r>
          </a:p>
          <a:p>
            <a:pPr lvl="1"/>
            <a:r>
              <a:rPr lang="en-US" dirty="0">
                <a:solidFill>
                  <a:schemeClr val="bg1">
                    <a:lumMod val="75000"/>
                  </a:schemeClr>
                </a:solidFill>
              </a:rPr>
              <a:t>Paging</a:t>
            </a:r>
          </a:p>
          <a:p>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29</a:t>
            </a:fld>
            <a:endParaRPr lang="en-US"/>
          </a:p>
        </p:txBody>
      </p:sp>
    </p:spTree>
    <p:extLst>
      <p:ext uri="{BB962C8B-B14F-4D97-AF65-F5344CB8AC3E}">
        <p14:creationId xmlns:p14="http://schemas.microsoft.com/office/powerpoint/2010/main" val="2832078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Contiguous allocation</a:t>
            </a:r>
          </a:p>
        </p:txBody>
      </p:sp>
      <p:sp>
        <p:nvSpPr>
          <p:cNvPr id="3" name="Content Placeholder 2"/>
          <p:cNvSpPr>
            <a:spLocks noGrp="1"/>
          </p:cNvSpPr>
          <p:nvPr>
            <p:ph idx="1"/>
          </p:nvPr>
        </p:nvSpPr>
        <p:spPr>
          <a:xfrm>
            <a:off x="3743639" y="1727149"/>
            <a:ext cx="4742822" cy="3570340"/>
          </a:xfrm>
        </p:spPr>
        <p:txBody>
          <a:bodyPr/>
          <a:lstStyle/>
          <a:p>
            <a:r>
              <a:rPr lang="en-US" dirty="0"/>
              <a:t>The OS occupies a reserved region of physical memory, shown here at low addresses.</a:t>
            </a:r>
          </a:p>
          <a:p>
            <a:r>
              <a:rPr lang="en-US" dirty="0"/>
              <a:t>Each process occupies one contiguous physical-memory region.</a:t>
            </a:r>
          </a:p>
          <a:p>
            <a:r>
              <a:rPr lang="en-US" dirty="0"/>
              <a:t>Free holes may exist between processes.</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30</a:t>
            </a:fld>
            <a:endParaRPr lang="en-US"/>
          </a:p>
        </p:txBody>
      </p:sp>
      <p:pic>
        <p:nvPicPr>
          <p:cNvPr id="7"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r="38688"/>
          <a:stretch/>
        </p:blipFill>
        <p:spPr bwMode="auto">
          <a:xfrm>
            <a:off x="826636" y="1690689"/>
            <a:ext cx="2007000" cy="360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045530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Contiguous allocation – memory protection</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31</a:t>
            </a:fld>
            <a:endParaRPr lang="en-US"/>
          </a:p>
        </p:txBody>
      </p:sp>
      <p:grpSp>
        <p:nvGrpSpPr>
          <p:cNvPr id="9" name="Group 8"/>
          <p:cNvGrpSpPr/>
          <p:nvPr/>
        </p:nvGrpSpPr>
        <p:grpSpPr>
          <a:xfrm>
            <a:off x="464800" y="2128918"/>
            <a:ext cx="1570477" cy="2825290"/>
            <a:chOff x="464800" y="2084439"/>
            <a:chExt cx="1570477" cy="2825290"/>
          </a:xfrm>
        </p:grpSpPr>
        <p:pic>
          <p:nvPicPr>
            <p:cNvPr id="10"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r="38753"/>
            <a:stretch/>
          </p:blipFill>
          <p:spPr bwMode="auto">
            <a:xfrm>
              <a:off x="464800" y="2084439"/>
              <a:ext cx="1570477" cy="282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1101213" y="3264310"/>
              <a:ext cx="855406" cy="4916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p>
          </p:txBody>
        </p:sp>
      </p:grpSp>
      <p:pic>
        <p:nvPicPr>
          <p:cNvPr id="12" name="Picture 4" descr="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3032" y="2128918"/>
            <a:ext cx="5845175" cy="290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11137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Contiguous allocation - limitations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416440" y="1825625"/>
                <a:ext cx="5098910" cy="4351338"/>
              </a:xfrm>
            </p:spPr>
            <p:txBody>
              <a:bodyPr/>
              <a:lstStyle/>
              <a:p>
                <a:r>
                  <a:rPr lang="en-US" dirty="0"/>
                  <a:t>When we terminate (or swap) a process</a:t>
                </a:r>
              </a:p>
              <a:p>
                <a:pPr lvl="1"/>
                <a:r>
                  <a:rPr lang="en-US" dirty="0"/>
                  <a:t>We create a </a:t>
                </a:r>
                <a:r>
                  <a:rPr lang="en-US" b="1" u="sng" dirty="0"/>
                  <a:t>hole</a:t>
                </a:r>
              </a:p>
              <a:p>
                <a:pPr lvl="1"/>
                <a:endParaRPr lang="en-US" b="1" u="sng" dirty="0"/>
              </a:p>
              <a:p>
                <a:r>
                  <a:rPr lang="en-US" dirty="0"/>
                  <a:t>The OS needs to keep track of holes to reuse them later on for other processes</a:t>
                </a:r>
              </a:p>
              <a:p>
                <a:endParaRPr lang="en-US" dirty="0"/>
              </a:p>
              <a:p>
                <a:r>
                  <a:rPr lang="en-US" dirty="0"/>
                  <a:t>External fragmentation</a:t>
                </a:r>
              </a:p>
              <a:p>
                <a:pPr marL="342900" lvl="1" indent="0" algn="ctr">
                  <a:buNone/>
                </a:pPr>
                <a:r>
                  <a:rPr lang="en-US" dirty="0"/>
                  <a:t>sum of free-hole sizes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oMath>
                </a14:m>
                <a:r>
                  <a:rPr lang="en-US" dirty="0"/>
                  <a:t>requested allocation size</a:t>
                </a:r>
                <a:br>
                  <a:rPr lang="en-US" dirty="0"/>
                </a:br>
                <a:r>
                  <a:rPr lang="en-US" dirty="0"/>
                  <a:t>BUT</a:t>
                </a:r>
                <a:br>
                  <a:rPr lang="en-US" dirty="0"/>
                </a:br>
                <a:r>
                  <a:rPr lang="en-US" dirty="0"/>
                  <a:t>every individual hole </a:t>
                </a:r>
                <a14:m>
                  <m:oMath xmlns:m="http://schemas.openxmlformats.org/officeDocument/2006/math">
                    <m:r>
                      <a:rPr lang="en-US" i="1" smtClean="0">
                        <a:latin typeface="Cambria Math" panose="02040503050406030204" pitchFamily="18" charset="0"/>
                        <a:ea typeface="Cambria Math" panose="02040503050406030204" pitchFamily="18" charset="0"/>
                      </a:rPr>
                      <m:t>&lt;</m:t>
                    </m:r>
                  </m:oMath>
                </a14:m>
                <a:r>
                  <a:rPr lang="en-US" dirty="0"/>
                  <a:t> </a:t>
                </a:r>
                <a:r>
                  <a:rPr lang="en-US"/>
                  <a:t>requested allocation size</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416440" y="1825625"/>
                <a:ext cx="5098910" cy="4351338"/>
              </a:xfrm>
              <a:blipFill>
                <a:blip r:embed="rId3"/>
                <a:stretch>
                  <a:fillRect l="-993" t="-1453" r="-1737"/>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32</a:t>
            </a:fld>
            <a:endParaRPr lang="en-US"/>
          </a:p>
        </p:txBody>
      </p:sp>
      <p:pic>
        <p:nvPicPr>
          <p:cNvPr id="7"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r="38688"/>
          <a:stretch/>
        </p:blipFill>
        <p:spPr bwMode="auto">
          <a:xfrm>
            <a:off x="826636" y="1690689"/>
            <a:ext cx="2007000" cy="360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39624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Contiguous allocation – which hole to assign to a new process?</a:t>
            </a:r>
          </a:p>
        </p:txBody>
      </p:sp>
      <p:sp>
        <p:nvSpPr>
          <p:cNvPr id="3" name="Content Placeholder 2"/>
          <p:cNvSpPr>
            <a:spLocks noGrp="1"/>
          </p:cNvSpPr>
          <p:nvPr>
            <p:ph idx="1"/>
          </p:nvPr>
        </p:nvSpPr>
        <p:spPr/>
        <p:txBody>
          <a:bodyPr/>
          <a:lstStyle/>
          <a:p>
            <a:r>
              <a:rPr lang="en-US" dirty="0"/>
              <a:t>First fit </a:t>
            </a:r>
            <a:r>
              <a:rPr lang="en-US" dirty="0">
                <a:sym typeface="Wingdings"/>
              </a:rPr>
              <a:t> allocate the first hole that is big enough</a:t>
            </a:r>
          </a:p>
          <a:p>
            <a:endParaRPr lang="en-US" dirty="0">
              <a:sym typeface="Wingdings"/>
            </a:endParaRPr>
          </a:p>
          <a:p>
            <a:r>
              <a:rPr lang="en-US" dirty="0">
                <a:sym typeface="Wingdings"/>
              </a:rPr>
              <a:t>Best fit  allocate the smallest hole that is big enough</a:t>
            </a:r>
          </a:p>
          <a:p>
            <a:pPr lvl="1"/>
            <a:r>
              <a:rPr lang="en-US" dirty="0">
                <a:sym typeface="Wingdings"/>
              </a:rPr>
              <a:t>PROS: produces the smallest leftover hole</a:t>
            </a:r>
          </a:p>
          <a:p>
            <a:pPr lvl="1"/>
            <a:r>
              <a:rPr lang="en-US" dirty="0">
                <a:sym typeface="Wingdings"/>
              </a:rPr>
              <a:t>CONS: Search entire list (or keep list of holes sorted)</a:t>
            </a:r>
          </a:p>
          <a:p>
            <a:pPr lvl="1"/>
            <a:endParaRPr lang="en-US" dirty="0">
              <a:sym typeface="Wingdings"/>
            </a:endParaRPr>
          </a:p>
          <a:p>
            <a:r>
              <a:rPr lang="en-US" dirty="0">
                <a:sym typeface="Wingdings"/>
              </a:rPr>
              <a:t>Worst fit  allocate the largest hole </a:t>
            </a:r>
          </a:p>
          <a:p>
            <a:pPr lvl="1"/>
            <a:r>
              <a:rPr lang="en-US" dirty="0">
                <a:sym typeface="Wingdings"/>
              </a:rPr>
              <a:t>PROS: produces the largest leftover hole</a:t>
            </a:r>
          </a:p>
          <a:p>
            <a:pPr lvl="1"/>
            <a:r>
              <a:rPr lang="en-US" dirty="0">
                <a:sym typeface="Wingdings"/>
              </a:rPr>
              <a:t>CONS: Search entire list (or keep list of holes sorted)</a:t>
            </a:r>
          </a:p>
          <a:p>
            <a:pPr marL="342900" lvl="1" indent="0">
              <a:buNone/>
            </a:pPr>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33</a:t>
            </a:fld>
            <a:endParaRPr lang="en-US"/>
          </a:p>
        </p:txBody>
      </p:sp>
    </p:spTree>
    <p:extLst>
      <p:ext uri="{BB962C8B-B14F-4D97-AF65-F5344CB8AC3E}">
        <p14:creationId xmlns:p14="http://schemas.microsoft.com/office/powerpoint/2010/main" val="1116084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solidFill>
                  <a:schemeClr val="bg1">
                    <a:lumMod val="75000"/>
                  </a:schemeClr>
                </a:solidFill>
              </a:rPr>
              <a:t>Introduction</a:t>
            </a:r>
          </a:p>
          <a:p>
            <a:r>
              <a:rPr lang="en-US" dirty="0">
                <a:solidFill>
                  <a:schemeClr val="bg1">
                    <a:lumMod val="75000"/>
                  </a:schemeClr>
                </a:solidFill>
              </a:rPr>
              <a:t>Base and limit registers</a:t>
            </a:r>
          </a:p>
          <a:p>
            <a:r>
              <a:rPr lang="en-US" dirty="0">
                <a:solidFill>
                  <a:schemeClr val="bg1">
                    <a:lumMod val="75000"/>
                  </a:schemeClr>
                </a:solidFill>
              </a:rPr>
              <a:t>Logical/virtual versus physical addresses</a:t>
            </a:r>
          </a:p>
          <a:p>
            <a:r>
              <a:rPr lang="en-US" dirty="0">
                <a:solidFill>
                  <a:schemeClr val="bg1">
                    <a:lumMod val="75000"/>
                  </a:schemeClr>
                </a:solidFill>
              </a:rPr>
              <a:t>Dynamic loading and dynamic linking [self-study]</a:t>
            </a:r>
          </a:p>
          <a:p>
            <a:r>
              <a:rPr lang="en-US" dirty="0">
                <a:solidFill>
                  <a:schemeClr val="bg1">
                    <a:lumMod val="75000"/>
                  </a:schemeClr>
                </a:solidFill>
              </a:rPr>
              <a:t>Swapping</a:t>
            </a:r>
          </a:p>
          <a:p>
            <a:r>
              <a:rPr lang="en-US" dirty="0"/>
              <a:t>Memory allocation</a:t>
            </a:r>
          </a:p>
          <a:p>
            <a:pPr lvl="1"/>
            <a:r>
              <a:rPr lang="en-US" dirty="0">
                <a:solidFill>
                  <a:schemeClr val="bg1">
                    <a:lumMod val="75000"/>
                  </a:schemeClr>
                </a:solidFill>
              </a:rPr>
              <a:t>Contiguous allocation</a:t>
            </a:r>
          </a:p>
          <a:p>
            <a:pPr lvl="1"/>
            <a:r>
              <a:rPr lang="en-US" dirty="0"/>
              <a:t>Segmentation</a:t>
            </a:r>
          </a:p>
          <a:p>
            <a:pPr lvl="1"/>
            <a:r>
              <a:rPr lang="en-US" dirty="0">
                <a:solidFill>
                  <a:schemeClr val="bg1">
                    <a:lumMod val="75000"/>
                  </a:schemeClr>
                </a:solidFill>
              </a:rPr>
              <a:t>Paging</a:t>
            </a:r>
          </a:p>
          <a:p>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34</a:t>
            </a:fld>
            <a:endParaRPr lang="en-US"/>
          </a:p>
        </p:txBody>
      </p:sp>
    </p:spTree>
    <p:extLst>
      <p:ext uri="{BB962C8B-B14F-4D97-AF65-F5344CB8AC3E}">
        <p14:creationId xmlns:p14="http://schemas.microsoft.com/office/powerpoint/2010/main" val="16690092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Segmentation (</a:t>
            </a:r>
            <a:r>
              <a:rPr lang="en-US" dirty="0" err="1"/>
              <a:t>i</a:t>
            </a:r>
            <a:r>
              <a:rPr lang="en-US" dirty="0"/>
              <a:t>)</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35</a:t>
            </a:fld>
            <a:endParaRPr lang="en-US"/>
          </a:p>
        </p:txBody>
      </p:sp>
      <p:grpSp>
        <p:nvGrpSpPr>
          <p:cNvPr id="11" name="Group 10"/>
          <p:cNvGrpSpPr/>
          <p:nvPr/>
        </p:nvGrpSpPr>
        <p:grpSpPr>
          <a:xfrm>
            <a:off x="464800" y="2128918"/>
            <a:ext cx="1570477" cy="2825290"/>
            <a:chOff x="464800" y="2084439"/>
            <a:chExt cx="1570477" cy="2825290"/>
          </a:xfrm>
        </p:grpSpPr>
        <p:pic>
          <p:nvPicPr>
            <p:cNvPr id="8"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r="38753"/>
            <a:stretch/>
          </p:blipFill>
          <p:spPr bwMode="auto">
            <a:xfrm>
              <a:off x="464800" y="2084439"/>
              <a:ext cx="1570477" cy="282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1101213" y="3264310"/>
              <a:ext cx="855406" cy="4916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p>
          </p:txBody>
        </p:sp>
      </p:grpSp>
      <p:grpSp>
        <p:nvGrpSpPr>
          <p:cNvPr id="21" name="Group 20"/>
          <p:cNvGrpSpPr/>
          <p:nvPr/>
        </p:nvGrpSpPr>
        <p:grpSpPr>
          <a:xfrm>
            <a:off x="2026561" y="1690689"/>
            <a:ext cx="3155039" cy="3701748"/>
            <a:chOff x="2026561" y="1690689"/>
            <a:chExt cx="3155039" cy="3701748"/>
          </a:xfrm>
        </p:grpSpPr>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8138" y="1690689"/>
              <a:ext cx="2343462" cy="3701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 name="Group 18"/>
            <p:cNvGrpSpPr/>
            <p:nvPr/>
          </p:nvGrpSpPr>
          <p:grpSpPr>
            <a:xfrm>
              <a:off x="2026561" y="1802541"/>
              <a:ext cx="1307691" cy="3478045"/>
              <a:chOff x="2026561" y="1789471"/>
              <a:chExt cx="1307691" cy="3478045"/>
            </a:xfrm>
          </p:grpSpPr>
          <p:cxnSp>
            <p:nvCxnSpPr>
              <p:cNvPr id="13" name="Straight Connector 12"/>
              <p:cNvCxnSpPr/>
              <p:nvPr/>
            </p:nvCxnSpPr>
            <p:spPr>
              <a:xfrm flipV="1">
                <a:off x="2026561" y="1789471"/>
                <a:ext cx="1307691" cy="1519318"/>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026561" y="3774264"/>
                <a:ext cx="1307691" cy="1493252"/>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grpSp>
      </p:grpSp>
      <p:sp>
        <p:nvSpPr>
          <p:cNvPr id="20" name="Content Placeholder 2"/>
          <p:cNvSpPr>
            <a:spLocks noGrp="1"/>
          </p:cNvSpPr>
          <p:nvPr>
            <p:ph idx="1"/>
          </p:nvPr>
        </p:nvSpPr>
        <p:spPr>
          <a:xfrm>
            <a:off x="5633883" y="1825625"/>
            <a:ext cx="3392129" cy="4351338"/>
          </a:xfrm>
        </p:spPr>
        <p:txBody>
          <a:bodyPr>
            <a:normAutofit/>
          </a:bodyPr>
          <a:lstStyle/>
          <a:p>
            <a:r>
              <a:rPr lang="en-US" dirty="0"/>
              <a:t>So far, we referred to the memory of a process as a single one-dimensional space [0,max]</a:t>
            </a:r>
          </a:p>
          <a:p>
            <a:endParaRPr lang="en-US" dirty="0"/>
          </a:p>
          <a:p>
            <a:r>
              <a:rPr lang="en-US" dirty="0"/>
              <a:t>Nevertheless, from the programmer/program perspective:</a:t>
            </a:r>
          </a:p>
          <a:p>
            <a:pPr lvl="1"/>
            <a:r>
              <a:rPr lang="en-US" dirty="0"/>
              <a:t>Different parts have different meaning, and might need different access permissions</a:t>
            </a:r>
          </a:p>
          <a:p>
            <a:pPr lvl="1"/>
            <a:r>
              <a:rPr lang="en-US" dirty="0"/>
              <a:t>Different parts have different and variable size</a:t>
            </a:r>
          </a:p>
        </p:txBody>
      </p:sp>
    </p:spTree>
    <p:extLst>
      <p:ext uri="{BB962C8B-B14F-4D97-AF65-F5344CB8AC3E}">
        <p14:creationId xmlns:p14="http://schemas.microsoft.com/office/powerpoint/2010/main" val="1000825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Segmentation (ii)</a:t>
            </a:r>
          </a:p>
        </p:txBody>
      </p:sp>
      <p:sp>
        <p:nvSpPr>
          <p:cNvPr id="3" name="Content Placeholder 2"/>
          <p:cNvSpPr>
            <a:spLocks noGrp="1"/>
          </p:cNvSpPr>
          <p:nvPr>
            <p:ph idx="1"/>
          </p:nvPr>
        </p:nvSpPr>
        <p:spPr>
          <a:xfrm>
            <a:off x="389137" y="1666982"/>
            <a:ext cx="8707900" cy="4351338"/>
          </a:xfrm>
        </p:spPr>
        <p:txBody>
          <a:bodyPr>
            <a:normAutofit/>
          </a:bodyPr>
          <a:lstStyle/>
          <a:p>
            <a:r>
              <a:rPr lang="en-US" sz="2200" dirty="0"/>
              <a:t>With segmentation, a logical address is a pair &lt;segment number, offset&gt;.</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36</a:t>
            </a:fld>
            <a:endParaRPr lang="en-US"/>
          </a:p>
        </p:txBody>
      </p:sp>
      <p:grpSp>
        <p:nvGrpSpPr>
          <p:cNvPr id="33" name="Group 32"/>
          <p:cNvGrpSpPr/>
          <p:nvPr/>
        </p:nvGrpSpPr>
        <p:grpSpPr>
          <a:xfrm>
            <a:off x="702748" y="2314061"/>
            <a:ext cx="2157089" cy="3997838"/>
            <a:chOff x="702748" y="2314061"/>
            <a:chExt cx="2157089" cy="3997838"/>
          </a:xfrm>
        </p:grpSpPr>
        <p:grpSp>
          <p:nvGrpSpPr>
            <p:cNvPr id="26" name="Group 25"/>
            <p:cNvGrpSpPr/>
            <p:nvPr/>
          </p:nvGrpSpPr>
          <p:grpSpPr>
            <a:xfrm>
              <a:off x="702748" y="5310956"/>
              <a:ext cx="2137764" cy="1000943"/>
              <a:chOff x="760469" y="5310956"/>
              <a:chExt cx="2137764" cy="1000943"/>
            </a:xfrm>
          </p:grpSpPr>
          <p:pic>
            <p:nvPicPr>
              <p:cNvPr id="8"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23640" t="82641" b="3548"/>
              <a:stretch/>
            </p:blipFill>
            <p:spPr bwMode="auto">
              <a:xfrm>
                <a:off x="804100" y="5518375"/>
                <a:ext cx="1484670" cy="424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p:nvPr/>
            </p:nvSpPr>
            <p:spPr>
              <a:xfrm>
                <a:off x="760469" y="5942567"/>
                <a:ext cx="1452642" cy="369332"/>
              </a:xfrm>
              <a:prstGeom prst="rect">
                <a:avLst/>
              </a:prstGeom>
              <a:noFill/>
            </p:spPr>
            <p:txBody>
              <a:bodyPr wrap="none" rtlCol="0">
                <a:spAutoFit/>
              </a:bodyPr>
              <a:lstStyle/>
              <a:p>
                <a:r>
                  <a:rPr lang="en-US" dirty="0"/>
                  <a:t>Segment 0</a:t>
                </a:r>
              </a:p>
            </p:txBody>
          </p:sp>
          <p:sp>
            <p:nvSpPr>
              <p:cNvPr id="12" name="TextBox 11"/>
              <p:cNvSpPr txBox="1"/>
              <p:nvPr/>
            </p:nvSpPr>
            <p:spPr>
              <a:xfrm>
                <a:off x="2226094" y="5767340"/>
                <a:ext cx="332142" cy="369332"/>
              </a:xfrm>
              <a:prstGeom prst="rect">
                <a:avLst/>
              </a:prstGeom>
              <a:noFill/>
            </p:spPr>
            <p:txBody>
              <a:bodyPr wrap="none" rtlCol="0">
                <a:spAutoFit/>
              </a:bodyPr>
              <a:lstStyle/>
              <a:p>
                <a:r>
                  <a:rPr lang="en-US"/>
                  <a:t>0</a:t>
                </a:r>
              </a:p>
            </p:txBody>
          </p:sp>
          <p:sp>
            <p:nvSpPr>
              <p:cNvPr id="13" name="TextBox 12"/>
              <p:cNvSpPr txBox="1"/>
              <p:nvPr/>
            </p:nvSpPr>
            <p:spPr>
              <a:xfrm>
                <a:off x="2218239" y="5310956"/>
                <a:ext cx="679994" cy="369332"/>
              </a:xfrm>
              <a:prstGeom prst="rect">
                <a:avLst/>
              </a:prstGeom>
              <a:noFill/>
            </p:spPr>
            <p:txBody>
              <a:bodyPr wrap="none" rtlCol="0">
                <a:spAutoFit/>
              </a:bodyPr>
              <a:lstStyle/>
              <a:p>
                <a:r>
                  <a:rPr lang="en-US" dirty="0"/>
                  <a:t>n</a:t>
                </a:r>
                <a:r>
                  <a:rPr lang="en-US" baseline="-25000" dirty="0"/>
                  <a:t>0</a:t>
                </a:r>
                <a:r>
                  <a:rPr lang="en-US" dirty="0"/>
                  <a:t>-1</a:t>
                </a:r>
              </a:p>
            </p:txBody>
          </p:sp>
        </p:grpSp>
        <p:grpSp>
          <p:nvGrpSpPr>
            <p:cNvPr id="25" name="Group 24"/>
            <p:cNvGrpSpPr/>
            <p:nvPr/>
          </p:nvGrpSpPr>
          <p:grpSpPr>
            <a:xfrm>
              <a:off x="702748" y="4313774"/>
              <a:ext cx="2137764" cy="1000943"/>
              <a:chOff x="702748" y="4313774"/>
              <a:chExt cx="2137764" cy="1000943"/>
            </a:xfrm>
          </p:grpSpPr>
          <p:pic>
            <p:nvPicPr>
              <p:cNvPr id="9"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22800" t="68275" b="17648"/>
              <a:stretch/>
            </p:blipFill>
            <p:spPr bwMode="auto">
              <a:xfrm>
                <a:off x="760469" y="4522476"/>
                <a:ext cx="1500985" cy="432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p:cNvSpPr txBox="1"/>
              <p:nvPr/>
            </p:nvSpPr>
            <p:spPr>
              <a:xfrm>
                <a:off x="702748" y="4945385"/>
                <a:ext cx="1452642" cy="369332"/>
              </a:xfrm>
              <a:prstGeom prst="rect">
                <a:avLst/>
              </a:prstGeom>
              <a:noFill/>
            </p:spPr>
            <p:txBody>
              <a:bodyPr wrap="none" rtlCol="0">
                <a:spAutoFit/>
              </a:bodyPr>
              <a:lstStyle/>
              <a:p>
                <a:r>
                  <a:rPr lang="en-US" dirty="0"/>
                  <a:t>Segment 1</a:t>
                </a:r>
              </a:p>
            </p:txBody>
          </p:sp>
          <p:sp>
            <p:nvSpPr>
              <p:cNvPr id="15" name="TextBox 14"/>
              <p:cNvSpPr txBox="1"/>
              <p:nvPr/>
            </p:nvSpPr>
            <p:spPr>
              <a:xfrm>
                <a:off x="2168373" y="4770158"/>
                <a:ext cx="332142" cy="369332"/>
              </a:xfrm>
              <a:prstGeom prst="rect">
                <a:avLst/>
              </a:prstGeom>
              <a:noFill/>
            </p:spPr>
            <p:txBody>
              <a:bodyPr wrap="none" rtlCol="0">
                <a:spAutoFit/>
              </a:bodyPr>
              <a:lstStyle/>
              <a:p>
                <a:r>
                  <a:rPr lang="en-US" dirty="0"/>
                  <a:t>0</a:t>
                </a:r>
              </a:p>
            </p:txBody>
          </p:sp>
          <p:sp>
            <p:nvSpPr>
              <p:cNvPr id="16" name="TextBox 15"/>
              <p:cNvSpPr txBox="1"/>
              <p:nvPr/>
            </p:nvSpPr>
            <p:spPr>
              <a:xfrm>
                <a:off x="2160518" y="4313774"/>
                <a:ext cx="679994" cy="369332"/>
              </a:xfrm>
              <a:prstGeom prst="rect">
                <a:avLst/>
              </a:prstGeom>
              <a:noFill/>
            </p:spPr>
            <p:txBody>
              <a:bodyPr wrap="none" rtlCol="0">
                <a:spAutoFit/>
              </a:bodyPr>
              <a:lstStyle/>
              <a:p>
                <a:r>
                  <a:rPr lang="en-US" dirty="0"/>
                  <a:t>n</a:t>
                </a:r>
                <a:r>
                  <a:rPr lang="en-US" baseline="-25000" dirty="0"/>
                  <a:t>1</a:t>
                </a:r>
                <a:r>
                  <a:rPr lang="en-US" dirty="0"/>
                  <a:t>-1</a:t>
                </a:r>
              </a:p>
            </p:txBody>
          </p:sp>
        </p:grpSp>
        <p:grpSp>
          <p:nvGrpSpPr>
            <p:cNvPr id="24" name="Group 23"/>
            <p:cNvGrpSpPr/>
            <p:nvPr/>
          </p:nvGrpSpPr>
          <p:grpSpPr>
            <a:xfrm>
              <a:off x="702748" y="3362272"/>
              <a:ext cx="2137764" cy="1000943"/>
              <a:chOff x="719680" y="3362272"/>
              <a:chExt cx="2137764" cy="1000943"/>
            </a:xfrm>
          </p:grpSpPr>
          <p:pic>
            <p:nvPicPr>
              <p:cNvPr id="10"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20703" t="54197" b="31991"/>
              <a:stretch/>
            </p:blipFill>
            <p:spPr bwMode="auto">
              <a:xfrm>
                <a:off x="719680" y="3569692"/>
                <a:ext cx="1541774" cy="424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p:cNvSpPr txBox="1"/>
              <p:nvPr/>
            </p:nvSpPr>
            <p:spPr>
              <a:xfrm>
                <a:off x="719680" y="3993883"/>
                <a:ext cx="1452642" cy="369332"/>
              </a:xfrm>
              <a:prstGeom prst="rect">
                <a:avLst/>
              </a:prstGeom>
              <a:noFill/>
            </p:spPr>
            <p:txBody>
              <a:bodyPr wrap="none" rtlCol="0">
                <a:spAutoFit/>
              </a:bodyPr>
              <a:lstStyle/>
              <a:p>
                <a:r>
                  <a:rPr lang="en-US" dirty="0"/>
                  <a:t>Segment 2</a:t>
                </a:r>
              </a:p>
            </p:txBody>
          </p:sp>
          <p:sp>
            <p:nvSpPr>
              <p:cNvPr id="18" name="TextBox 17"/>
              <p:cNvSpPr txBox="1"/>
              <p:nvPr/>
            </p:nvSpPr>
            <p:spPr>
              <a:xfrm>
                <a:off x="2185305" y="3818656"/>
                <a:ext cx="332142" cy="369332"/>
              </a:xfrm>
              <a:prstGeom prst="rect">
                <a:avLst/>
              </a:prstGeom>
              <a:noFill/>
            </p:spPr>
            <p:txBody>
              <a:bodyPr wrap="none" rtlCol="0">
                <a:spAutoFit/>
              </a:bodyPr>
              <a:lstStyle/>
              <a:p>
                <a:r>
                  <a:rPr lang="en-US" dirty="0"/>
                  <a:t>0</a:t>
                </a:r>
              </a:p>
            </p:txBody>
          </p:sp>
          <p:sp>
            <p:nvSpPr>
              <p:cNvPr id="19" name="TextBox 18"/>
              <p:cNvSpPr txBox="1"/>
              <p:nvPr/>
            </p:nvSpPr>
            <p:spPr>
              <a:xfrm>
                <a:off x="2177450" y="3362272"/>
                <a:ext cx="679994" cy="369332"/>
              </a:xfrm>
              <a:prstGeom prst="rect">
                <a:avLst/>
              </a:prstGeom>
              <a:noFill/>
            </p:spPr>
            <p:txBody>
              <a:bodyPr wrap="none" rtlCol="0">
                <a:spAutoFit/>
              </a:bodyPr>
              <a:lstStyle/>
              <a:p>
                <a:r>
                  <a:rPr lang="en-US" dirty="0"/>
                  <a:t>n</a:t>
                </a:r>
                <a:r>
                  <a:rPr lang="en-US" baseline="-25000" dirty="0"/>
                  <a:t>2</a:t>
                </a:r>
                <a:r>
                  <a:rPr lang="en-US" dirty="0"/>
                  <a:t>-1</a:t>
                </a:r>
              </a:p>
            </p:txBody>
          </p:sp>
        </p:grpSp>
        <p:grpSp>
          <p:nvGrpSpPr>
            <p:cNvPr id="23" name="Group 22"/>
            <p:cNvGrpSpPr/>
            <p:nvPr/>
          </p:nvGrpSpPr>
          <p:grpSpPr>
            <a:xfrm>
              <a:off x="702748" y="2314061"/>
              <a:ext cx="2157089" cy="1028406"/>
              <a:chOff x="711825" y="2314061"/>
              <a:chExt cx="2157089" cy="1028406"/>
            </a:xfrm>
          </p:grpSpPr>
          <p:pic>
            <p:nvPicPr>
              <p:cNvPr id="7"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23260" t="2692" r="800" b="79778"/>
              <a:stretch/>
            </p:blipFill>
            <p:spPr bwMode="auto">
              <a:xfrm>
                <a:off x="772704" y="2707446"/>
                <a:ext cx="1476514" cy="538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Box 19"/>
              <p:cNvSpPr txBox="1"/>
              <p:nvPr/>
            </p:nvSpPr>
            <p:spPr>
              <a:xfrm>
                <a:off x="711825" y="2314061"/>
                <a:ext cx="1452642" cy="369332"/>
              </a:xfrm>
              <a:prstGeom prst="rect">
                <a:avLst/>
              </a:prstGeom>
              <a:noFill/>
            </p:spPr>
            <p:txBody>
              <a:bodyPr wrap="none" rtlCol="0">
                <a:spAutoFit/>
              </a:bodyPr>
              <a:lstStyle/>
              <a:p>
                <a:r>
                  <a:rPr lang="en-US" dirty="0"/>
                  <a:t>Segment 3</a:t>
                </a:r>
              </a:p>
            </p:txBody>
          </p:sp>
          <p:sp>
            <p:nvSpPr>
              <p:cNvPr id="21" name="TextBox 20"/>
              <p:cNvSpPr txBox="1"/>
              <p:nvPr/>
            </p:nvSpPr>
            <p:spPr>
              <a:xfrm>
                <a:off x="2177450" y="2522763"/>
                <a:ext cx="332142" cy="369332"/>
              </a:xfrm>
              <a:prstGeom prst="rect">
                <a:avLst/>
              </a:prstGeom>
              <a:noFill/>
            </p:spPr>
            <p:txBody>
              <a:bodyPr wrap="none" rtlCol="0">
                <a:spAutoFit/>
              </a:bodyPr>
              <a:lstStyle/>
              <a:p>
                <a:r>
                  <a:rPr lang="en-US" dirty="0"/>
                  <a:t>0</a:t>
                </a:r>
              </a:p>
            </p:txBody>
          </p:sp>
          <p:sp>
            <p:nvSpPr>
              <p:cNvPr id="22" name="TextBox 21"/>
              <p:cNvSpPr txBox="1"/>
              <p:nvPr/>
            </p:nvSpPr>
            <p:spPr>
              <a:xfrm>
                <a:off x="2188920" y="2973135"/>
                <a:ext cx="679994" cy="369332"/>
              </a:xfrm>
              <a:prstGeom prst="rect">
                <a:avLst/>
              </a:prstGeom>
              <a:noFill/>
            </p:spPr>
            <p:txBody>
              <a:bodyPr wrap="none" rtlCol="0">
                <a:spAutoFit/>
              </a:bodyPr>
              <a:lstStyle/>
              <a:p>
                <a:r>
                  <a:rPr lang="en-US"/>
                  <a:t>n</a:t>
                </a:r>
                <a:r>
                  <a:rPr lang="en-US" baseline="-25000"/>
                  <a:t>3</a:t>
                </a:r>
                <a:r>
                  <a:rPr lang="en-US"/>
                  <a:t>-1</a:t>
                </a:r>
                <a:endParaRPr lang="en-US" dirty="0"/>
              </a:p>
            </p:txBody>
          </p:sp>
        </p:grpSp>
      </p:grpSp>
      <p:sp>
        <p:nvSpPr>
          <p:cNvPr id="27" name="Content Placeholder 2"/>
          <p:cNvSpPr txBox="1">
            <a:spLocks/>
          </p:cNvSpPr>
          <p:nvPr/>
        </p:nvSpPr>
        <p:spPr>
          <a:xfrm>
            <a:off x="4689989" y="2398795"/>
            <a:ext cx="4407048" cy="435133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r>
              <a:rPr lang="en-US" dirty="0"/>
              <a:t>The hardware verifies that the offset lies within the selected segment and that the requested access is permitted.</a:t>
            </a:r>
          </a:p>
          <a:p>
            <a:pPr fontAlgn="auto">
              <a:spcAft>
                <a:spcPts val="0"/>
              </a:spcAft>
            </a:pPr>
            <a:r>
              <a:rPr lang="en-US" dirty="0"/>
              <a:t>Allows to have different permissions for the different segments!</a:t>
            </a:r>
          </a:p>
          <a:p>
            <a:pPr fontAlgn="auto">
              <a:spcAft>
                <a:spcPts val="0"/>
              </a:spcAft>
            </a:pPr>
            <a:r>
              <a:rPr lang="en-US" dirty="0"/>
              <a:t>Different segments can occupy different physical-memory regions. </a:t>
            </a:r>
          </a:p>
          <a:p>
            <a:pPr fontAlgn="auto">
              <a:spcAft>
                <a:spcPts val="0"/>
              </a:spcAft>
            </a:pPr>
            <a:r>
              <a:rPr lang="en-US" dirty="0"/>
              <a:t>Each segment must still occupy a contiguous physical region, so segmentation can suffer from external fragmentation.</a:t>
            </a:r>
          </a:p>
        </p:txBody>
      </p:sp>
      <p:grpSp>
        <p:nvGrpSpPr>
          <p:cNvPr id="32" name="Group 31"/>
          <p:cNvGrpSpPr/>
          <p:nvPr/>
        </p:nvGrpSpPr>
        <p:grpSpPr>
          <a:xfrm>
            <a:off x="3323303" y="2790925"/>
            <a:ext cx="1231346" cy="3069101"/>
            <a:chOff x="3323303" y="2790925"/>
            <a:chExt cx="1231346" cy="3069101"/>
          </a:xfrm>
        </p:grpSpPr>
        <p:sp>
          <p:nvSpPr>
            <p:cNvPr id="28" name="Rounded Rectangle 27"/>
            <p:cNvSpPr/>
            <p:nvPr/>
          </p:nvSpPr>
          <p:spPr>
            <a:xfrm>
              <a:off x="3323303" y="5518375"/>
              <a:ext cx="1231346" cy="3416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Execute</a:t>
              </a:r>
            </a:p>
          </p:txBody>
        </p:sp>
        <p:sp>
          <p:nvSpPr>
            <p:cNvPr id="29" name="Rounded Rectangle 28"/>
            <p:cNvSpPr/>
            <p:nvPr/>
          </p:nvSpPr>
          <p:spPr>
            <a:xfrm>
              <a:off x="3323303" y="4574464"/>
              <a:ext cx="1231346" cy="3416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Read/write</a:t>
              </a:r>
            </a:p>
          </p:txBody>
        </p:sp>
        <p:sp>
          <p:nvSpPr>
            <p:cNvPr id="30" name="Rounded Rectangle 29"/>
            <p:cNvSpPr/>
            <p:nvPr/>
          </p:nvSpPr>
          <p:spPr>
            <a:xfrm>
              <a:off x="3323303" y="3619761"/>
              <a:ext cx="1231346" cy="3416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Read/write</a:t>
              </a:r>
            </a:p>
          </p:txBody>
        </p:sp>
        <p:sp>
          <p:nvSpPr>
            <p:cNvPr id="31" name="Rounded Rectangle 30"/>
            <p:cNvSpPr/>
            <p:nvPr/>
          </p:nvSpPr>
          <p:spPr>
            <a:xfrm>
              <a:off x="3323303" y="2790925"/>
              <a:ext cx="1231346" cy="3416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Read/write</a:t>
              </a:r>
            </a:p>
          </p:txBody>
        </p:sp>
      </p:grpSp>
    </p:spTree>
    <p:extLst>
      <p:ext uri="{BB962C8B-B14F-4D97-AF65-F5344CB8AC3E}">
        <p14:creationId xmlns:p14="http://schemas.microsoft.com/office/powerpoint/2010/main" val="911359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allAtOnce"/>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Segmentation – segment table</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37</a:t>
            </a:fld>
            <a:endParaRPr lang="en-US"/>
          </a:p>
        </p:txBody>
      </p:sp>
      <p:grpSp>
        <p:nvGrpSpPr>
          <p:cNvPr id="10" name="Group 9"/>
          <p:cNvGrpSpPr/>
          <p:nvPr/>
        </p:nvGrpSpPr>
        <p:grpSpPr>
          <a:xfrm>
            <a:off x="628650" y="1922692"/>
            <a:ext cx="4838640" cy="3249074"/>
            <a:chOff x="963560" y="1081548"/>
            <a:chExt cx="7482349" cy="5024284"/>
          </a:xfrm>
        </p:grpSpPr>
        <p:pic>
          <p:nvPicPr>
            <p:cNvPr id="8" name="Picture 7"/>
            <p:cNvPicPr>
              <a:picLocks noChangeAspect="1"/>
            </p:cNvPicPr>
            <p:nvPr/>
          </p:nvPicPr>
          <p:blipFill rotWithShape="1">
            <a:blip r:embed="rId3"/>
            <a:srcRect l="5465" t="11412" r="2189" b="10522"/>
            <a:stretch/>
          </p:blipFill>
          <p:spPr>
            <a:xfrm>
              <a:off x="963560" y="1081548"/>
              <a:ext cx="7482349" cy="4748981"/>
            </a:xfrm>
            <a:prstGeom prst="rect">
              <a:avLst/>
            </a:prstGeom>
          </p:spPr>
        </p:pic>
        <p:sp>
          <p:nvSpPr>
            <p:cNvPr id="9" name="Rectangle 8"/>
            <p:cNvSpPr/>
            <p:nvPr/>
          </p:nvSpPr>
          <p:spPr>
            <a:xfrm>
              <a:off x="5102942" y="5338916"/>
              <a:ext cx="3136490" cy="7669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p:cNvGrpSpPr/>
          <p:nvPr/>
        </p:nvGrpSpPr>
        <p:grpSpPr>
          <a:xfrm>
            <a:off x="4208206" y="3883742"/>
            <a:ext cx="4727012" cy="1606911"/>
            <a:chOff x="4208206" y="3883742"/>
            <a:chExt cx="4727012" cy="1606911"/>
          </a:xfrm>
        </p:grpSpPr>
        <p:sp>
          <p:nvSpPr>
            <p:cNvPr id="11" name="Content Placeholder 2"/>
            <p:cNvSpPr txBox="1">
              <a:spLocks/>
            </p:cNvSpPr>
            <p:nvPr/>
          </p:nvSpPr>
          <p:spPr>
            <a:xfrm>
              <a:off x="5752425" y="4139381"/>
              <a:ext cx="3182793" cy="135127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None/>
              </a:pPr>
              <a:r>
                <a:rPr lang="en-US" sz="2000" dirty="0"/>
                <a:t>The segment table maps each logical segment number to a physical base address and a segment limit.</a:t>
              </a:r>
            </a:p>
          </p:txBody>
        </p:sp>
        <p:cxnSp>
          <p:nvCxnSpPr>
            <p:cNvPr id="13" name="Straight Arrow Connector 12"/>
            <p:cNvCxnSpPr>
              <a:stCxn id="11" idx="1"/>
            </p:cNvCxnSpPr>
            <p:nvPr/>
          </p:nvCxnSpPr>
          <p:spPr>
            <a:xfrm flipH="1" flipV="1">
              <a:off x="4208206" y="3883742"/>
              <a:ext cx="1544219" cy="931275"/>
            </a:xfrm>
            <a:prstGeom prst="straightConnector1">
              <a:avLst/>
            </a:prstGeom>
            <a:ln w="57150">
              <a:solidFill>
                <a:srgbClr val="FF0000"/>
              </a:solidFill>
              <a:tailEnd type="triangle"/>
            </a:ln>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1778404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Segmentation – hardware support</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38</a:t>
            </a:fld>
            <a:endParaRPr lang="en-US"/>
          </a:p>
        </p:txBody>
      </p:sp>
      <p:pic>
        <p:nvPicPr>
          <p:cNvPr id="7" name="Picture 4" descr="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8984" y="2501750"/>
            <a:ext cx="4749390" cy="3332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p:cNvSpPr txBox="1">
            <a:spLocks/>
          </p:cNvSpPr>
          <p:nvPr/>
        </p:nvSpPr>
        <p:spPr>
          <a:xfrm>
            <a:off x="530329" y="1590983"/>
            <a:ext cx="7886700" cy="135127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None/>
            </a:pPr>
            <a:r>
              <a:rPr lang="en-US" sz="2000" dirty="0"/>
              <a:t>The hardware can do this conversion automatically (and check whether the process is trying to access memory outside the segment)</a:t>
            </a:r>
          </a:p>
        </p:txBody>
      </p:sp>
    </p:spTree>
    <p:extLst>
      <p:ext uri="{BB962C8B-B14F-4D97-AF65-F5344CB8AC3E}">
        <p14:creationId xmlns:p14="http://schemas.microsoft.com/office/powerpoint/2010/main" val="3682969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solidFill>
                  <a:schemeClr val="bg1">
                    <a:lumMod val="75000"/>
                  </a:schemeClr>
                </a:solidFill>
              </a:rPr>
              <a:t>Introduction</a:t>
            </a:r>
          </a:p>
          <a:p>
            <a:r>
              <a:rPr lang="en-US" dirty="0">
                <a:solidFill>
                  <a:schemeClr val="bg1">
                    <a:lumMod val="75000"/>
                  </a:schemeClr>
                </a:solidFill>
              </a:rPr>
              <a:t>Base and limit registers</a:t>
            </a:r>
          </a:p>
          <a:p>
            <a:r>
              <a:rPr lang="en-US" dirty="0">
                <a:solidFill>
                  <a:schemeClr val="bg1">
                    <a:lumMod val="75000"/>
                  </a:schemeClr>
                </a:solidFill>
              </a:rPr>
              <a:t>Logical/virtual versus physical addresses</a:t>
            </a:r>
          </a:p>
          <a:p>
            <a:r>
              <a:rPr lang="en-US" dirty="0">
                <a:solidFill>
                  <a:schemeClr val="bg1">
                    <a:lumMod val="75000"/>
                  </a:schemeClr>
                </a:solidFill>
              </a:rPr>
              <a:t>Dynamic loading and dynamic linking [self-study]</a:t>
            </a:r>
          </a:p>
          <a:p>
            <a:r>
              <a:rPr lang="en-US" dirty="0">
                <a:solidFill>
                  <a:schemeClr val="bg1">
                    <a:lumMod val="75000"/>
                  </a:schemeClr>
                </a:solidFill>
              </a:rPr>
              <a:t>Swapping</a:t>
            </a:r>
          </a:p>
          <a:p>
            <a:r>
              <a:rPr lang="en-US" dirty="0"/>
              <a:t>Memory allocation</a:t>
            </a:r>
          </a:p>
          <a:p>
            <a:pPr lvl="1"/>
            <a:r>
              <a:rPr lang="en-US" dirty="0">
                <a:solidFill>
                  <a:schemeClr val="bg1">
                    <a:lumMod val="75000"/>
                  </a:schemeClr>
                </a:solidFill>
              </a:rPr>
              <a:t>Contiguous allocation</a:t>
            </a:r>
          </a:p>
          <a:p>
            <a:pPr lvl="1"/>
            <a:r>
              <a:rPr lang="en-US" dirty="0">
                <a:solidFill>
                  <a:schemeClr val="bg1">
                    <a:lumMod val="75000"/>
                  </a:schemeClr>
                </a:solidFill>
              </a:rPr>
              <a:t>Segmentation</a:t>
            </a:r>
          </a:p>
          <a:p>
            <a:pPr lvl="1"/>
            <a:r>
              <a:rPr lang="en-US" dirty="0"/>
              <a:t>Paging</a:t>
            </a:r>
          </a:p>
          <a:p>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39</a:t>
            </a:fld>
            <a:endParaRPr lang="en-US"/>
          </a:p>
        </p:txBody>
      </p:sp>
    </p:spTree>
    <p:extLst>
      <p:ext uri="{BB962C8B-B14F-4D97-AF65-F5344CB8AC3E}">
        <p14:creationId xmlns:p14="http://schemas.microsoft.com/office/powerpoint/2010/main" val="1537799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Paging</a:t>
            </a:r>
          </a:p>
        </p:txBody>
      </p:sp>
      <p:sp>
        <p:nvSpPr>
          <p:cNvPr id="3" name="Content Placeholder 2"/>
          <p:cNvSpPr>
            <a:spLocks noGrp="1"/>
          </p:cNvSpPr>
          <p:nvPr>
            <p:ph idx="1"/>
          </p:nvPr>
        </p:nvSpPr>
        <p:spPr/>
        <p:txBody>
          <a:bodyPr/>
          <a:lstStyle/>
          <a:p>
            <a:r>
              <a:rPr lang="en-US" dirty="0"/>
              <a:t>Mechanism that allows for the physical address space used by a process to be non-contiguous</a:t>
            </a:r>
          </a:p>
          <a:p>
            <a:r>
              <a:rPr lang="en-US" dirty="0"/>
              <a:t>Used in most modern OSes (from mainframes to smartphones)</a:t>
            </a:r>
          </a:p>
          <a:p>
            <a:r>
              <a:rPr lang="en-US" dirty="0"/>
              <a:t>Requires cooperation between OS and hardware (as common)</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40</a:t>
            </a:fld>
            <a:endParaRPr lang="en-US"/>
          </a:p>
        </p:txBody>
      </p:sp>
    </p:spTree>
    <p:extLst>
      <p:ext uri="{BB962C8B-B14F-4D97-AF65-F5344CB8AC3E}">
        <p14:creationId xmlns:p14="http://schemas.microsoft.com/office/powerpoint/2010/main" val="9593712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Paging – Basic idea</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41</a:t>
            </a:fld>
            <a:endParaRPr lang="en-US"/>
          </a:p>
        </p:txBody>
      </p:sp>
      <p:grpSp>
        <p:nvGrpSpPr>
          <p:cNvPr id="3" name="Group 2"/>
          <p:cNvGrpSpPr/>
          <p:nvPr/>
        </p:nvGrpSpPr>
        <p:grpSpPr>
          <a:xfrm>
            <a:off x="517577" y="1370318"/>
            <a:ext cx="4378888" cy="4613275"/>
            <a:chOff x="517577" y="1370318"/>
            <a:chExt cx="4378888" cy="4613275"/>
          </a:xfrm>
        </p:grpSpPr>
        <p:pic>
          <p:nvPicPr>
            <p:cNvPr id="7" name="Picture 1030"/>
            <p:cNvPicPr>
              <a:picLocks noChangeAspect="1" noChangeArrowheads="1"/>
            </p:cNvPicPr>
            <p:nvPr/>
          </p:nvPicPr>
          <p:blipFill rotWithShape="1">
            <a:blip r:embed="rId2">
              <a:extLst>
                <a:ext uri="{28A0092B-C50C-407E-A947-70E740481C1C}">
                  <a14:useLocalDpi xmlns:a14="http://schemas.microsoft.com/office/drawing/2010/main" val="0"/>
                </a:ext>
              </a:extLst>
            </a:blip>
            <a:srcRect t="8322" r="82913" b="38182"/>
            <a:stretch/>
          </p:blipFill>
          <p:spPr bwMode="auto">
            <a:xfrm>
              <a:off x="517577" y="1771931"/>
              <a:ext cx="843883" cy="2467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030"/>
            <p:cNvPicPr>
              <a:picLocks noChangeAspect="1" noChangeArrowheads="1"/>
            </p:cNvPicPr>
            <p:nvPr/>
          </p:nvPicPr>
          <p:blipFill rotWithShape="1">
            <a:blip r:embed="rId2">
              <a:extLst>
                <a:ext uri="{28A0092B-C50C-407E-A947-70E740481C1C}">
                  <a14:useLocalDpi xmlns:a14="http://schemas.microsoft.com/office/drawing/2010/main" val="0"/>
                </a:ext>
              </a:extLst>
            </a:blip>
            <a:srcRect l="70044"/>
            <a:stretch/>
          </p:blipFill>
          <p:spPr bwMode="auto">
            <a:xfrm>
              <a:off x="1657350" y="1370318"/>
              <a:ext cx="1479448" cy="461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7"/>
            <p:cNvPicPr>
              <a:picLocks noChangeAspect="1" noChangeArrowheads="1"/>
            </p:cNvPicPr>
            <p:nvPr/>
          </p:nvPicPr>
          <p:blipFill rotWithShape="1">
            <a:blip r:embed="rId3">
              <a:extLst>
                <a:ext uri="{28A0092B-C50C-407E-A947-70E740481C1C}">
                  <a14:useLocalDpi xmlns:a14="http://schemas.microsoft.com/office/drawing/2010/main" val="0"/>
                </a:ext>
              </a:extLst>
            </a:blip>
            <a:srcRect t="26136" r="82460" b="35561"/>
            <a:stretch/>
          </p:blipFill>
          <p:spPr bwMode="auto">
            <a:xfrm>
              <a:off x="3860902" y="1771931"/>
              <a:ext cx="1035563" cy="1622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Content Placeholder 2"/>
          <p:cNvSpPr>
            <a:spLocks noGrp="1"/>
          </p:cNvSpPr>
          <p:nvPr>
            <p:ph idx="1"/>
          </p:nvPr>
        </p:nvSpPr>
        <p:spPr>
          <a:xfrm>
            <a:off x="5014452" y="1825625"/>
            <a:ext cx="3500898" cy="4351338"/>
          </a:xfrm>
        </p:spPr>
        <p:txBody>
          <a:bodyPr/>
          <a:lstStyle/>
          <a:p>
            <a:r>
              <a:rPr lang="en-US" dirty="0"/>
              <a:t>Split logical memory in pages</a:t>
            </a:r>
          </a:p>
          <a:p>
            <a:r>
              <a:rPr lang="en-US" dirty="0"/>
              <a:t>Split physical memory in frames</a:t>
            </a:r>
          </a:p>
          <a:p>
            <a:r>
              <a:rPr lang="en-US" dirty="0"/>
              <a:t>Keep a program (disk) organized in pages</a:t>
            </a:r>
          </a:p>
          <a:p>
            <a:endParaRPr lang="en-US" dirty="0"/>
          </a:p>
          <a:p>
            <a:pPr marL="0" indent="0">
              <a:buNone/>
            </a:pPr>
            <a:r>
              <a:rPr lang="en-US" b="1" u="sng" dirty="0"/>
              <a:t>Page size = Frame size!</a:t>
            </a:r>
          </a:p>
        </p:txBody>
      </p:sp>
      <p:grpSp>
        <p:nvGrpSpPr>
          <p:cNvPr id="13" name="Group 12"/>
          <p:cNvGrpSpPr/>
          <p:nvPr/>
        </p:nvGrpSpPr>
        <p:grpSpPr>
          <a:xfrm>
            <a:off x="3667740" y="4547519"/>
            <a:ext cx="4405158" cy="1601483"/>
            <a:chOff x="3667740" y="4547519"/>
            <a:chExt cx="4405158" cy="1601483"/>
          </a:xfrm>
        </p:grpSpPr>
        <p:pic>
          <p:nvPicPr>
            <p:cNvPr id="11" name="Picture 10"/>
            <p:cNvPicPr>
              <a:picLocks noChangeAspect="1"/>
            </p:cNvPicPr>
            <p:nvPr/>
          </p:nvPicPr>
          <p:blipFill>
            <a:blip r:embed="rId4"/>
            <a:stretch>
              <a:fillRect/>
            </a:stretch>
          </p:blipFill>
          <p:spPr>
            <a:xfrm>
              <a:off x="3667740" y="4547519"/>
              <a:ext cx="1228725" cy="1228725"/>
            </a:xfrm>
            <a:prstGeom prst="rect">
              <a:avLst/>
            </a:prstGeom>
          </p:spPr>
        </p:pic>
        <p:sp>
          <p:nvSpPr>
            <p:cNvPr id="12" name="Content Placeholder 2"/>
            <p:cNvSpPr txBox="1">
              <a:spLocks/>
            </p:cNvSpPr>
            <p:nvPr/>
          </p:nvSpPr>
          <p:spPr>
            <a:xfrm>
              <a:off x="4572000" y="4755433"/>
              <a:ext cx="3500898" cy="1393569"/>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None/>
              </a:pPr>
              <a:r>
                <a:rPr lang="en-US" sz="2800" i="1" dirty="0"/>
                <a:t>How do we keep track of where each page is?</a:t>
              </a:r>
            </a:p>
          </p:txBody>
        </p:sp>
      </p:grpSp>
    </p:spTree>
    <p:extLst>
      <p:ext uri="{BB962C8B-B14F-4D97-AF65-F5344CB8AC3E}">
        <p14:creationId xmlns:p14="http://schemas.microsoft.com/office/powerpoint/2010/main" val="23035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Paging – the page table</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42</a:t>
            </a:fld>
            <a:endParaRPr lang="en-US"/>
          </a:p>
        </p:txBody>
      </p:sp>
      <p:pic>
        <p:nvPicPr>
          <p:cNvPr id="7" name="Picture 10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5922" y="1690689"/>
            <a:ext cx="4938712" cy="461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val 7"/>
          <p:cNvSpPr/>
          <p:nvPr/>
        </p:nvSpPr>
        <p:spPr>
          <a:xfrm>
            <a:off x="2686050" y="2045110"/>
            <a:ext cx="1414002" cy="2231922"/>
          </a:xfrm>
          <a:prstGeom prst="ellipse">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rotWithShape="1">
          <a:blip r:embed="rId3"/>
          <a:srcRect r="61891"/>
          <a:stretch/>
        </p:blipFill>
        <p:spPr>
          <a:xfrm>
            <a:off x="2254122" y="3854065"/>
            <a:ext cx="566584" cy="1554775"/>
          </a:xfrm>
          <a:prstGeom prst="rect">
            <a:avLst/>
          </a:prstGeom>
        </p:spPr>
      </p:pic>
      <p:sp>
        <p:nvSpPr>
          <p:cNvPr id="10" name="Content Placeholder 2"/>
          <p:cNvSpPr>
            <a:spLocks noGrp="1"/>
          </p:cNvSpPr>
          <p:nvPr>
            <p:ph idx="1"/>
          </p:nvPr>
        </p:nvSpPr>
        <p:spPr>
          <a:xfrm>
            <a:off x="6161906" y="1825625"/>
            <a:ext cx="2353444" cy="4351338"/>
          </a:xfrm>
        </p:spPr>
        <p:txBody>
          <a:bodyPr/>
          <a:lstStyle/>
          <a:p>
            <a:r>
              <a:rPr lang="en-US" dirty="0"/>
              <a:t>Page 0 </a:t>
            </a:r>
            <a:r>
              <a:rPr lang="en-US" dirty="0">
                <a:sym typeface="Wingdings" pitchFamily="2" charset="2"/>
              </a:rPr>
              <a:t></a:t>
            </a:r>
            <a:r>
              <a:rPr lang="en-US" dirty="0"/>
              <a:t>  Frame 1</a:t>
            </a:r>
          </a:p>
          <a:p>
            <a:r>
              <a:rPr lang="en-US" dirty="0"/>
              <a:t>Page 1 </a:t>
            </a:r>
            <a:r>
              <a:rPr lang="en-US" dirty="0">
                <a:sym typeface="Wingdings" pitchFamily="2" charset="2"/>
              </a:rPr>
              <a:t></a:t>
            </a:r>
            <a:r>
              <a:rPr lang="en-US" dirty="0"/>
              <a:t> Frame 4</a:t>
            </a:r>
          </a:p>
          <a:p>
            <a:r>
              <a:rPr lang="en-US" dirty="0"/>
              <a:t>Page 2 </a:t>
            </a:r>
            <a:r>
              <a:rPr lang="en-US" dirty="0">
                <a:sym typeface="Wingdings" pitchFamily="2" charset="2"/>
              </a:rPr>
              <a:t></a:t>
            </a:r>
            <a:r>
              <a:rPr lang="en-US" dirty="0"/>
              <a:t> Frame 3</a:t>
            </a:r>
          </a:p>
          <a:p>
            <a:r>
              <a:rPr lang="en-US" dirty="0"/>
              <a:t>Page 3 </a:t>
            </a:r>
            <a:r>
              <a:rPr lang="en-US" dirty="0">
                <a:sym typeface="Wingdings" pitchFamily="2" charset="2"/>
              </a:rPr>
              <a:t></a:t>
            </a:r>
            <a:r>
              <a:rPr lang="en-US" dirty="0"/>
              <a:t> Frame 7</a:t>
            </a:r>
          </a:p>
          <a:p>
            <a:endParaRPr lang="en-US" dirty="0"/>
          </a:p>
        </p:txBody>
      </p:sp>
    </p:spTree>
    <p:extLst>
      <p:ext uri="{BB962C8B-B14F-4D97-AF65-F5344CB8AC3E}">
        <p14:creationId xmlns:p14="http://schemas.microsoft.com/office/powerpoint/2010/main" val="1615295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Paging – hardware support</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43</a:t>
            </a:fld>
            <a:endParaRPr lang="en-US"/>
          </a:p>
        </p:txBody>
      </p:sp>
      <p:pic>
        <p:nvPicPr>
          <p:cNvPr id="7" name="Picture 4" descr="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 y="1531836"/>
            <a:ext cx="5491031" cy="327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p:cNvSpPr txBox="1">
            <a:spLocks/>
          </p:cNvSpPr>
          <p:nvPr/>
        </p:nvSpPr>
        <p:spPr>
          <a:xfrm>
            <a:off x="424487" y="5093109"/>
            <a:ext cx="5899355" cy="786581"/>
          </a:xfrm>
          <a:prstGeom prst="rect">
            <a:avLst/>
          </a:prstGeom>
          <a:ln>
            <a:solidFill>
              <a:schemeClr val="tx1"/>
            </a:solidFill>
          </a:ln>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fontAlgn="auto">
              <a:spcAft>
                <a:spcPts val="0"/>
              </a:spcAft>
              <a:buNone/>
            </a:pPr>
            <a:r>
              <a:rPr lang="en-US" sz="2400" dirty="0"/>
              <a:t>Similarly </a:t>
            </a:r>
            <a:r>
              <a:rPr lang="en-US" sz="2400"/>
              <a:t>to Segmentation, we can access physical memory specifying page + offset</a:t>
            </a:r>
            <a:endParaRPr lang="en-US" sz="2400" dirty="0"/>
          </a:p>
        </p:txBody>
      </p:sp>
      <p:grpSp>
        <p:nvGrpSpPr>
          <p:cNvPr id="9" name="Group 8"/>
          <p:cNvGrpSpPr/>
          <p:nvPr/>
        </p:nvGrpSpPr>
        <p:grpSpPr>
          <a:xfrm>
            <a:off x="6185883" y="1621295"/>
            <a:ext cx="2781136" cy="2728225"/>
            <a:chOff x="3529781" y="4547519"/>
            <a:chExt cx="2781136" cy="2728225"/>
          </a:xfrm>
        </p:grpSpPr>
        <p:pic>
          <p:nvPicPr>
            <p:cNvPr id="10" name="Picture 9"/>
            <p:cNvPicPr>
              <a:picLocks noChangeAspect="1"/>
            </p:cNvPicPr>
            <p:nvPr/>
          </p:nvPicPr>
          <p:blipFill>
            <a:blip r:embed="rId3"/>
            <a:stretch>
              <a:fillRect/>
            </a:stretch>
          </p:blipFill>
          <p:spPr>
            <a:xfrm>
              <a:off x="3667740" y="4547519"/>
              <a:ext cx="1228725" cy="1228725"/>
            </a:xfrm>
            <a:prstGeom prst="rect">
              <a:avLst/>
            </a:prstGeom>
          </p:spPr>
        </p:pic>
        <p:sp>
          <p:nvSpPr>
            <p:cNvPr id="11" name="Content Placeholder 2"/>
            <p:cNvSpPr txBox="1">
              <a:spLocks/>
            </p:cNvSpPr>
            <p:nvPr/>
          </p:nvSpPr>
          <p:spPr>
            <a:xfrm>
              <a:off x="3529781" y="5882175"/>
              <a:ext cx="2781136" cy="1393569"/>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None/>
              </a:pPr>
              <a:r>
                <a:rPr lang="en-US" sz="2800" i="1" dirty="0"/>
                <a:t>How does the CPU know which page </a:t>
              </a:r>
              <a:r>
                <a:rPr lang="en-US" sz="2800" i="1"/>
                <a:t>it should access?</a:t>
              </a:r>
              <a:endParaRPr lang="en-US" sz="2800" i="1" dirty="0"/>
            </a:p>
          </p:txBody>
        </p:sp>
      </p:grpSp>
      <p:sp>
        <p:nvSpPr>
          <p:cNvPr id="12" name="Oval 11"/>
          <p:cNvSpPr/>
          <p:nvPr/>
        </p:nvSpPr>
        <p:spPr>
          <a:xfrm>
            <a:off x="1152218" y="2665899"/>
            <a:ext cx="637253" cy="580103"/>
          </a:xfrm>
          <a:prstGeom prst="ellipse">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874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Paging – from logical address to physical address (</a:t>
            </a:r>
            <a:r>
              <a:rPr lang="en-US" sz="2800" dirty="0" err="1"/>
              <a:t>i</a:t>
            </a:r>
            <a:r>
              <a:rPr lang="en-US" sz="2800" dirty="0"/>
              <a:t>)</a:t>
            </a:r>
          </a:p>
        </p:txBody>
      </p:sp>
      <p:sp>
        <p:nvSpPr>
          <p:cNvPr id="3" name="Content Placeholder 2"/>
          <p:cNvSpPr>
            <a:spLocks noGrp="1"/>
          </p:cNvSpPr>
          <p:nvPr>
            <p:ph idx="1"/>
          </p:nvPr>
        </p:nvSpPr>
        <p:spPr/>
        <p:txBody>
          <a:bodyPr/>
          <a:lstStyle/>
          <a:p>
            <a:r>
              <a:rPr lang="en-US" dirty="0"/>
              <a:t>If page/frame size is power of 2 </a:t>
            </a:r>
            <a:r>
              <a:rPr lang="en-US" dirty="0">
                <a:sym typeface="Wingdings"/>
              </a:rPr>
              <a:t> 2</a:t>
            </a:r>
            <a:r>
              <a:rPr lang="en-US" baseline="30000" dirty="0">
                <a:sym typeface="Wingdings"/>
              </a:rPr>
              <a:t>n</a:t>
            </a:r>
          </a:p>
          <a:p>
            <a:r>
              <a:rPr lang="en-US" dirty="0"/>
              <a:t>If size of logical space is power of 2 </a:t>
            </a:r>
            <a:r>
              <a:rPr lang="en-US" dirty="0">
                <a:sym typeface="Wingdings"/>
              </a:rPr>
              <a:t> 2</a:t>
            </a:r>
            <a:r>
              <a:rPr lang="en-US" baseline="30000" dirty="0">
                <a:sym typeface="Wingdings"/>
              </a:rPr>
              <a:t>m</a:t>
            </a:r>
          </a:p>
          <a:p>
            <a:endParaRPr lang="en-US" baseline="30000" dirty="0">
              <a:sym typeface="Wingdings"/>
            </a:endParaRPr>
          </a:p>
          <a:p>
            <a:pPr marL="0" indent="0">
              <a:buNone/>
            </a:pPr>
            <a:r>
              <a:rPr lang="en-US" dirty="0">
                <a:sym typeface="Wingdings"/>
              </a:rPr>
              <a:t>Logical address (binary)   101101001110110</a:t>
            </a:r>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44</a:t>
            </a:fld>
            <a:endParaRPr lang="en-US"/>
          </a:p>
        </p:txBody>
      </p:sp>
      <p:sp>
        <p:nvSpPr>
          <p:cNvPr id="7" name="Left Brace 6"/>
          <p:cNvSpPr/>
          <p:nvPr/>
        </p:nvSpPr>
        <p:spPr>
          <a:xfrm rot="16200000">
            <a:off x="3687745" y="2843683"/>
            <a:ext cx="351693" cy="103498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3489129" y="3537020"/>
            <a:ext cx="748923" cy="646331"/>
          </a:xfrm>
          <a:prstGeom prst="rect">
            <a:avLst/>
          </a:prstGeom>
          <a:noFill/>
        </p:spPr>
        <p:txBody>
          <a:bodyPr wrap="none" rtlCol="0">
            <a:spAutoFit/>
          </a:bodyPr>
          <a:lstStyle/>
          <a:p>
            <a:pPr algn="ctr"/>
            <a:r>
              <a:rPr lang="en-US" dirty="0"/>
              <a:t>m-n</a:t>
            </a:r>
            <a:br>
              <a:rPr lang="en-US" dirty="0"/>
            </a:br>
            <a:r>
              <a:rPr lang="en-US" dirty="0"/>
              <a:t>page</a:t>
            </a:r>
          </a:p>
        </p:txBody>
      </p:sp>
      <p:sp>
        <p:nvSpPr>
          <p:cNvPr id="9" name="Left Brace 8"/>
          <p:cNvSpPr/>
          <p:nvPr/>
        </p:nvSpPr>
        <p:spPr>
          <a:xfrm rot="16200000">
            <a:off x="4662435" y="2903972"/>
            <a:ext cx="351693" cy="91440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4419739" y="3537019"/>
            <a:ext cx="837089" cy="646331"/>
          </a:xfrm>
          <a:prstGeom prst="rect">
            <a:avLst/>
          </a:prstGeom>
          <a:noFill/>
        </p:spPr>
        <p:txBody>
          <a:bodyPr wrap="none" rtlCol="0">
            <a:spAutoFit/>
          </a:bodyPr>
          <a:lstStyle/>
          <a:p>
            <a:pPr algn="ctr"/>
            <a:r>
              <a:rPr lang="en-US" dirty="0"/>
              <a:t>n</a:t>
            </a:r>
            <a:br>
              <a:rPr lang="en-US" dirty="0"/>
            </a:br>
            <a:r>
              <a:rPr lang="en-US" dirty="0"/>
              <a:t>offset</a:t>
            </a:r>
          </a:p>
        </p:txBody>
      </p:sp>
    </p:spTree>
    <p:extLst>
      <p:ext uri="{BB962C8B-B14F-4D97-AF65-F5344CB8AC3E}">
        <p14:creationId xmlns:p14="http://schemas.microsoft.com/office/powerpoint/2010/main" val="3983943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Paging – from logical address to physical address (ii)</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45</a:t>
            </a:fld>
            <a:endParaRPr lang="en-US" dirty="0"/>
          </a:p>
        </p:txBody>
      </p:sp>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76" y="1690689"/>
            <a:ext cx="3384550" cy="421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p:cNvSpPr>
            <a:spLocks noGrp="1"/>
          </p:cNvSpPr>
          <p:nvPr>
            <p:ph idx="1"/>
          </p:nvPr>
        </p:nvSpPr>
        <p:spPr>
          <a:xfrm>
            <a:off x="4707500" y="1557338"/>
            <a:ext cx="4275725" cy="4351338"/>
          </a:xfrm>
        </p:spPr>
        <p:txBody>
          <a:bodyPr/>
          <a:lstStyle/>
          <a:p>
            <a:pPr marL="0" indent="0">
              <a:buNone/>
            </a:pPr>
            <a:r>
              <a:rPr lang="en-US" dirty="0"/>
              <a:t>Page size = 2</a:t>
            </a:r>
            <a:r>
              <a:rPr lang="en-US" baseline="30000" dirty="0"/>
              <a:t>2</a:t>
            </a:r>
            <a:r>
              <a:rPr lang="en-US" dirty="0"/>
              <a:t> bytes (n=2)</a:t>
            </a:r>
          </a:p>
          <a:p>
            <a:pPr marL="0" indent="0">
              <a:buNone/>
            </a:pPr>
            <a:r>
              <a:rPr lang="en-US" dirty="0"/>
              <a:t>Size of logical space = 2</a:t>
            </a:r>
            <a:r>
              <a:rPr lang="en-US" baseline="30000" dirty="0"/>
              <a:t>4</a:t>
            </a:r>
            <a:r>
              <a:rPr lang="en-US" dirty="0"/>
              <a:t> bytes (m=4)</a:t>
            </a:r>
          </a:p>
          <a:p>
            <a:pPr marL="0" indent="0">
              <a:buNone/>
            </a:pPr>
            <a:r>
              <a:rPr lang="en-US" dirty="0"/>
              <a:t>	</a:t>
            </a:r>
            <a:r>
              <a:rPr lang="en-US" dirty="0">
                <a:sym typeface="Wingdings"/>
              </a:rPr>
              <a:t> logical space = 4 pages</a:t>
            </a:r>
            <a:endParaRPr lang="en-US" dirty="0"/>
          </a:p>
        </p:txBody>
      </p:sp>
      <p:grpSp>
        <p:nvGrpSpPr>
          <p:cNvPr id="9" name="Group 8"/>
          <p:cNvGrpSpPr/>
          <p:nvPr/>
        </p:nvGrpSpPr>
        <p:grpSpPr>
          <a:xfrm>
            <a:off x="4093137" y="2657063"/>
            <a:ext cx="4970475" cy="1619250"/>
            <a:chOff x="3773492" y="4321838"/>
            <a:chExt cx="4970475" cy="1619250"/>
          </a:xfrm>
        </p:grpSpPr>
        <p:pic>
          <p:nvPicPr>
            <p:cNvPr id="10" name="Picture 9"/>
            <p:cNvPicPr>
              <a:picLocks noChangeAspect="1"/>
            </p:cNvPicPr>
            <p:nvPr/>
          </p:nvPicPr>
          <p:blipFill>
            <a:blip r:embed="rId4"/>
            <a:stretch>
              <a:fillRect/>
            </a:stretch>
          </p:blipFill>
          <p:spPr>
            <a:xfrm>
              <a:off x="3773492" y="4321838"/>
              <a:ext cx="1228725" cy="1228725"/>
            </a:xfrm>
            <a:prstGeom prst="rect">
              <a:avLst/>
            </a:prstGeom>
          </p:spPr>
        </p:pic>
        <p:sp>
          <p:nvSpPr>
            <p:cNvPr id="11" name="Content Placeholder 2"/>
            <p:cNvSpPr txBox="1">
              <a:spLocks/>
            </p:cNvSpPr>
            <p:nvPr/>
          </p:nvSpPr>
          <p:spPr>
            <a:xfrm>
              <a:off x="4747736" y="4547519"/>
              <a:ext cx="3996231" cy="1393569"/>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None/>
              </a:pPr>
              <a:r>
                <a:rPr lang="en-US" sz="2800" i="1" dirty="0"/>
                <a:t>Physical address </a:t>
              </a:r>
              <a:r>
                <a:rPr lang="en-US" sz="2800" i="1"/>
                <a:t>of logical address 7?</a:t>
              </a:r>
              <a:endParaRPr lang="en-US" sz="2800" i="1" dirty="0"/>
            </a:p>
          </p:txBody>
        </p:sp>
      </p:grpSp>
      <p:grpSp>
        <p:nvGrpSpPr>
          <p:cNvPr id="29" name="Group 28"/>
          <p:cNvGrpSpPr/>
          <p:nvPr/>
        </p:nvGrpSpPr>
        <p:grpSpPr>
          <a:xfrm>
            <a:off x="3873555" y="4368516"/>
            <a:ext cx="1715913" cy="1304827"/>
            <a:chOff x="3873555" y="4368516"/>
            <a:chExt cx="1715913" cy="1304827"/>
          </a:xfrm>
        </p:grpSpPr>
        <p:sp>
          <p:nvSpPr>
            <p:cNvPr id="12" name="Content Placeholder 2"/>
            <p:cNvSpPr txBox="1">
              <a:spLocks/>
            </p:cNvSpPr>
            <p:nvPr/>
          </p:nvSpPr>
          <p:spPr>
            <a:xfrm>
              <a:off x="4182897" y="4368516"/>
              <a:ext cx="1138965" cy="482652"/>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Font typeface="Arial" panose="020B0604020202020204" pitchFamily="34" charset="0"/>
                <a:buNone/>
              </a:pPr>
              <a:r>
                <a:rPr lang="en-US" sz="2800" dirty="0"/>
                <a:t>0 1 1 1</a:t>
              </a:r>
            </a:p>
          </p:txBody>
        </p:sp>
        <p:sp>
          <p:nvSpPr>
            <p:cNvPr id="18" name="Left Brace 17"/>
            <p:cNvSpPr/>
            <p:nvPr/>
          </p:nvSpPr>
          <p:spPr>
            <a:xfrm rot="16200000">
              <a:off x="4269353" y="4588864"/>
              <a:ext cx="351693" cy="524604"/>
            </a:xfrm>
            <a:prstGeom prst="leftBrace">
              <a:avLst>
                <a:gd name="adj1" fmla="val 8333"/>
                <a:gd name="adj2" fmla="val 3084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3873555" y="5027012"/>
              <a:ext cx="748923" cy="646331"/>
            </a:xfrm>
            <a:prstGeom prst="rect">
              <a:avLst/>
            </a:prstGeom>
            <a:noFill/>
          </p:spPr>
          <p:txBody>
            <a:bodyPr wrap="none" rtlCol="0">
              <a:spAutoFit/>
            </a:bodyPr>
            <a:lstStyle/>
            <a:p>
              <a:pPr algn="ctr"/>
              <a:r>
                <a:rPr lang="en-US" dirty="0"/>
                <a:t>page</a:t>
              </a:r>
            </a:p>
            <a:p>
              <a:pPr algn="ctr"/>
              <a:r>
                <a:rPr lang="en-US" dirty="0"/>
                <a:t>1</a:t>
              </a:r>
            </a:p>
          </p:txBody>
        </p:sp>
        <p:sp>
          <p:nvSpPr>
            <p:cNvPr id="20" name="Left Brace 19"/>
            <p:cNvSpPr/>
            <p:nvPr/>
          </p:nvSpPr>
          <p:spPr>
            <a:xfrm rot="16200000">
              <a:off x="4806172" y="4576646"/>
              <a:ext cx="351693" cy="54903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p:cNvSpPr txBox="1"/>
            <p:nvPr/>
          </p:nvSpPr>
          <p:spPr>
            <a:xfrm>
              <a:off x="4752379" y="5027012"/>
              <a:ext cx="837089" cy="646331"/>
            </a:xfrm>
            <a:prstGeom prst="rect">
              <a:avLst/>
            </a:prstGeom>
            <a:noFill/>
          </p:spPr>
          <p:txBody>
            <a:bodyPr wrap="none" rtlCol="0">
              <a:spAutoFit/>
            </a:bodyPr>
            <a:lstStyle/>
            <a:p>
              <a:pPr algn="ctr"/>
              <a:r>
                <a:rPr lang="en-US" dirty="0"/>
                <a:t>offset</a:t>
              </a:r>
            </a:p>
            <a:p>
              <a:pPr algn="ctr"/>
              <a:r>
                <a:rPr lang="en-US" dirty="0"/>
                <a:t>3</a:t>
              </a:r>
            </a:p>
          </p:txBody>
        </p:sp>
      </p:grpSp>
      <p:grpSp>
        <p:nvGrpSpPr>
          <p:cNvPr id="30" name="Group 29"/>
          <p:cNvGrpSpPr/>
          <p:nvPr/>
        </p:nvGrpSpPr>
        <p:grpSpPr>
          <a:xfrm>
            <a:off x="2471895" y="3271425"/>
            <a:ext cx="6332459" cy="2429972"/>
            <a:chOff x="2471895" y="3271425"/>
            <a:chExt cx="6332459" cy="2429972"/>
          </a:xfrm>
        </p:grpSpPr>
        <p:sp>
          <p:nvSpPr>
            <p:cNvPr id="22" name="Oval 21"/>
            <p:cNvSpPr/>
            <p:nvPr/>
          </p:nvSpPr>
          <p:spPr>
            <a:xfrm>
              <a:off x="3857078" y="4944579"/>
              <a:ext cx="756818" cy="756818"/>
            </a:xfrm>
            <a:prstGeom prst="ellipse">
              <a:avLst/>
            </a:prstGeom>
            <a:noFill/>
            <a:ln w="28575">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p:cNvCxnSpPr>
              <a:stCxn id="22" idx="1"/>
            </p:cNvCxnSpPr>
            <p:nvPr/>
          </p:nvCxnSpPr>
          <p:spPr>
            <a:xfrm flipH="1" flipV="1">
              <a:off x="2471895" y="3271425"/>
              <a:ext cx="1496016" cy="1783987"/>
            </a:xfrm>
            <a:prstGeom prst="straightConnector1">
              <a:avLst/>
            </a:prstGeom>
            <a:ln w="285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6061451" y="4579470"/>
              <a:ext cx="2742903" cy="830997"/>
            </a:xfrm>
            <a:prstGeom prst="rect">
              <a:avLst/>
            </a:prstGeom>
            <a:noFill/>
          </p:spPr>
          <p:txBody>
            <a:bodyPr wrap="square" rtlCol="0">
              <a:spAutoFit/>
            </a:bodyPr>
            <a:lstStyle/>
            <a:p>
              <a:pPr algn="ctr"/>
              <a:r>
                <a:rPr lang="en-US" sz="2400" dirty="0">
                  <a:solidFill>
                    <a:srgbClr val="FF0000"/>
                  </a:solidFill>
                </a:rPr>
                <a:t>Frame 6 offset 3</a:t>
              </a:r>
              <a:br>
                <a:rPr lang="en-US" sz="2400" dirty="0">
                  <a:solidFill>
                    <a:srgbClr val="FF0000"/>
                  </a:solidFill>
                </a:rPr>
              </a:br>
              <a:r>
                <a:rPr lang="en-US" sz="2400" dirty="0">
                  <a:solidFill>
                    <a:srgbClr val="FF0000"/>
                  </a:solidFill>
                  <a:sym typeface="Wingdings"/>
                </a:rPr>
                <a:t> 6x4+3=27</a:t>
              </a:r>
              <a:endParaRPr lang="en-US" sz="2400" dirty="0">
                <a:solidFill>
                  <a:srgbClr val="FF0000"/>
                </a:solidFill>
              </a:endParaRPr>
            </a:p>
          </p:txBody>
        </p:sp>
        <p:cxnSp>
          <p:nvCxnSpPr>
            <p:cNvPr id="26" name="Straight Arrow Connector 25"/>
            <p:cNvCxnSpPr/>
            <p:nvPr/>
          </p:nvCxnSpPr>
          <p:spPr>
            <a:xfrm>
              <a:off x="2686051" y="3271425"/>
              <a:ext cx="3624314" cy="1330720"/>
            </a:xfrm>
            <a:prstGeom prst="straightConnector1">
              <a:avLst/>
            </a:prstGeom>
            <a:ln w="285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02268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Paging - Fragmentation</a:t>
            </a:r>
          </a:p>
        </p:txBody>
      </p:sp>
      <p:sp>
        <p:nvSpPr>
          <p:cNvPr id="3" name="Content Placeholder 2"/>
          <p:cNvSpPr>
            <a:spLocks noGrp="1"/>
          </p:cNvSpPr>
          <p:nvPr>
            <p:ph idx="1"/>
          </p:nvPr>
        </p:nvSpPr>
        <p:spPr/>
        <p:txBody>
          <a:bodyPr/>
          <a:lstStyle/>
          <a:p>
            <a:r>
              <a:rPr lang="en-US" dirty="0"/>
              <a:t>No external fragmentation</a:t>
            </a:r>
          </a:p>
          <a:p>
            <a:pPr lvl="1"/>
            <a:r>
              <a:rPr lang="en-US" dirty="0"/>
              <a:t>Process needs a page? Can take any free frame</a:t>
            </a:r>
          </a:p>
          <a:p>
            <a:r>
              <a:rPr lang="en-US" dirty="0"/>
              <a:t>Internal fragmentation</a:t>
            </a:r>
          </a:p>
          <a:p>
            <a:pPr lvl="1"/>
            <a:r>
              <a:rPr lang="en-US" dirty="0"/>
              <a:t>Last frame assigned to a process’ page might not be full</a:t>
            </a:r>
          </a:p>
          <a:p>
            <a:pPr lvl="1"/>
            <a:r>
              <a:rPr lang="en-US" dirty="0"/>
              <a:t>On average, half a page/frame is wasted for each process</a:t>
            </a:r>
          </a:p>
          <a:p>
            <a:pPr lvl="1"/>
            <a:endParaRPr lang="en-US" dirty="0"/>
          </a:p>
          <a:p>
            <a:pPr lvl="1"/>
            <a:endParaRPr lang="en-US" dirty="0"/>
          </a:p>
          <a:p>
            <a:pPr lvl="6"/>
            <a:r>
              <a:rPr lang="en-US" sz="2000" dirty="0"/>
              <a:t>Small pages </a:t>
            </a:r>
            <a:r>
              <a:rPr lang="en-US" sz="2000" dirty="0">
                <a:sym typeface="Wingdings"/>
              </a:rPr>
              <a:t> less fragmentation / more overhead (e.g., page table size)</a:t>
            </a:r>
          </a:p>
          <a:p>
            <a:pPr lvl="6"/>
            <a:r>
              <a:rPr lang="en-US" sz="2000" dirty="0">
                <a:sym typeface="Wingdings"/>
              </a:rPr>
              <a:t>Large pages  more fragmentation / less overhead</a:t>
            </a:r>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46</a:t>
            </a:fld>
            <a:endParaRPr lang="en-US"/>
          </a:p>
        </p:txBody>
      </p:sp>
      <p:grpSp>
        <p:nvGrpSpPr>
          <p:cNvPr id="7" name="Group 6"/>
          <p:cNvGrpSpPr/>
          <p:nvPr/>
        </p:nvGrpSpPr>
        <p:grpSpPr>
          <a:xfrm>
            <a:off x="628650" y="3778179"/>
            <a:ext cx="1640672" cy="2197075"/>
            <a:chOff x="1295399" y="1828800"/>
            <a:chExt cx="3056187" cy="4092635"/>
          </a:xfrm>
        </p:grpSpPr>
        <p:pic>
          <p:nvPicPr>
            <p:cNvPr id="8" name="Picture 7" descr="http://4.bp.blogspot.com/-Kc_jYOMfj-g/UCakbvK3gyI/AAAAAAAAGTo/8Fa5sfZjQkI/s1600/coperta_corta.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399" y="1828800"/>
              <a:ext cx="3056187" cy="4092635"/>
            </a:xfrm>
            <a:prstGeom prst="rect">
              <a:avLst/>
            </a:prstGeom>
            <a:noFill/>
            <a:extLst>
              <a:ext uri="{909E8E84-426E-40dd-AFC4-6F175D3DCCD1}">
                <a14:hiddenFill xmlns:a14="http://schemas.microsoft.com/office/drawing/2010/main" xmlns="">
                  <a:solidFill>
                    <a:srgbClr val="FFFFFF"/>
                  </a:solidFill>
                </a14:hiddenFill>
              </a:ext>
            </a:extLst>
          </p:spPr>
        </p:pic>
        <p:sp>
          <p:nvSpPr>
            <p:cNvPr id="9" name="Up Arrow 8"/>
            <p:cNvSpPr/>
            <p:nvPr/>
          </p:nvSpPr>
          <p:spPr>
            <a:xfrm rot="1459553">
              <a:off x="3380403" y="2723383"/>
              <a:ext cx="484632" cy="97840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0" name="Up Arrow 9"/>
            <p:cNvSpPr/>
            <p:nvPr/>
          </p:nvSpPr>
          <p:spPr>
            <a:xfrm rot="12307406">
              <a:off x="2530992" y="4552399"/>
              <a:ext cx="484632" cy="97840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grpSp>
    </p:spTree>
    <p:extLst>
      <p:ext uri="{BB962C8B-B14F-4D97-AF65-F5344CB8AC3E}">
        <p14:creationId xmlns:p14="http://schemas.microsoft.com/office/powerpoint/2010/main" val="18646090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B1111F-258A-2FCA-B405-C02F070A9937}"/>
              </a:ext>
            </a:extLst>
          </p:cNvPr>
          <p:cNvSpPr>
            <a:spLocks noGrp="1"/>
          </p:cNvSpPr>
          <p:nvPr>
            <p:ph type="title"/>
          </p:nvPr>
        </p:nvSpPr>
        <p:spPr>
          <a:xfrm>
            <a:off x="963930" y="1008993"/>
            <a:ext cx="6923558" cy="3542045"/>
          </a:xfrm>
        </p:spPr>
        <p:txBody>
          <a:bodyPr vert="horz" lIns="91440" tIns="45720" rIns="91440" bIns="45720" rtlCol="0" anchor="b">
            <a:normAutofit/>
          </a:bodyPr>
          <a:lstStyle/>
          <a:p>
            <a:pPr defTabSz="914400"/>
            <a:r>
              <a:rPr lang="en-US" sz="10000" kern="1200">
                <a:solidFill>
                  <a:schemeClr val="tx1"/>
                </a:solidFill>
                <a:latin typeface="+mj-lt"/>
                <a:ea typeface="+mj-ea"/>
                <a:cs typeface="+mj-cs"/>
              </a:rPr>
              <a:t>Questions</a:t>
            </a:r>
          </a:p>
        </p:txBody>
      </p:sp>
      <p:sp>
        <p:nvSpPr>
          <p:cNvPr id="5" name="Footer Placeholder 4">
            <a:extLst>
              <a:ext uri="{FF2B5EF4-FFF2-40B4-BE49-F238E27FC236}">
                <a16:creationId xmlns:a16="http://schemas.microsoft.com/office/drawing/2014/main" id="{749C2C32-0374-6BFA-EE64-C4D0586A535D}"/>
              </a:ext>
            </a:extLst>
          </p:cNvPr>
          <p:cNvSpPr>
            <a:spLocks noGrp="1"/>
          </p:cNvSpPr>
          <p:nvPr>
            <p:ph type="ftr" sz="quarter" idx="11"/>
          </p:nvPr>
        </p:nvSpPr>
        <p:spPr>
          <a:xfrm rot="5400000">
            <a:off x="-1783080" y="3246120"/>
            <a:ext cx="4203954" cy="365760"/>
          </a:xfrm>
        </p:spPr>
        <p:txBody>
          <a:bodyPr vert="horz" lIns="91440" tIns="45720" rIns="91440" bIns="45720" rtlCol="0" anchor="t">
            <a:normAutofit/>
          </a:bodyPr>
          <a:lstStyle/>
          <a:p>
            <a:pPr algn="l" eaLnBrk="1" hangingPunct="1">
              <a:spcAft>
                <a:spcPts val="600"/>
              </a:spcAft>
            </a:pPr>
            <a:r>
              <a:rPr lang="en-US" sz="1000" kern="1200">
                <a:solidFill>
                  <a:schemeClr val="tx1">
                    <a:lumMod val="75000"/>
                    <a:lumOff val="25000"/>
                  </a:schemeClr>
                </a:solidFill>
                <a:latin typeface="+mn-lt"/>
                <a:ea typeface="+mn-ea"/>
                <a:cs typeface="+mn-cs"/>
              </a:rPr>
              <a:t>Operating Systems - Memory Management</a:t>
            </a:r>
          </a:p>
        </p:txBody>
      </p:sp>
      <p:sp>
        <p:nvSpPr>
          <p:cNvPr id="4" name="Date Placeholder 3">
            <a:extLst>
              <a:ext uri="{FF2B5EF4-FFF2-40B4-BE49-F238E27FC236}">
                <a16:creationId xmlns:a16="http://schemas.microsoft.com/office/drawing/2014/main" id="{DDD65A2C-C10F-E940-B4DC-3396BCD14E9C}"/>
              </a:ext>
            </a:extLst>
          </p:cNvPr>
          <p:cNvSpPr>
            <a:spLocks noGrp="1"/>
          </p:cNvSpPr>
          <p:nvPr>
            <p:ph type="dt" sz="half" idx="10"/>
          </p:nvPr>
        </p:nvSpPr>
        <p:spPr>
          <a:xfrm>
            <a:off x="6719046" y="5769149"/>
            <a:ext cx="1796304" cy="365760"/>
          </a:xfrm>
        </p:spPr>
        <p:txBody>
          <a:bodyPr vert="horz" lIns="91440" tIns="45720" rIns="91440" bIns="45720" rtlCol="0" anchor="b">
            <a:normAutofit/>
          </a:bodyPr>
          <a:lstStyle/>
          <a:p>
            <a:pPr algn="r" eaLnBrk="1" hangingPunct="1">
              <a:spcAft>
                <a:spcPts val="600"/>
              </a:spcAft>
            </a:pPr>
            <a:r>
              <a:rPr lang="en-US" sz="1000">
                <a:solidFill>
                  <a:srgbClr val="FFFFFF"/>
                </a:solidFill>
                <a:latin typeface="+mn-lt"/>
                <a:ea typeface="+mn-ea"/>
              </a:rPr>
              <a:t>Vincenzo Gulisano</a:t>
            </a:r>
          </a:p>
        </p:txBody>
      </p:sp>
      <p:sp>
        <p:nvSpPr>
          <p:cNvPr id="6" name="Slide Number Placeholder 5">
            <a:extLst>
              <a:ext uri="{FF2B5EF4-FFF2-40B4-BE49-F238E27FC236}">
                <a16:creationId xmlns:a16="http://schemas.microsoft.com/office/drawing/2014/main" id="{1052FC4F-EA0A-D18B-9262-F3F3B8932BBC}"/>
              </a:ext>
            </a:extLst>
          </p:cNvPr>
          <p:cNvSpPr>
            <a:spLocks noGrp="1"/>
          </p:cNvSpPr>
          <p:nvPr>
            <p:ph type="sldNum" sz="quarter" idx="12"/>
          </p:nvPr>
        </p:nvSpPr>
        <p:spPr>
          <a:xfrm>
            <a:off x="7263516" y="4887261"/>
            <a:ext cx="1251834" cy="1008213"/>
          </a:xfrm>
        </p:spPr>
        <p:txBody>
          <a:bodyPr vert="horz" lIns="91440" tIns="45720" rIns="91440" bIns="45720" rtlCol="0" anchor="ctr">
            <a:normAutofit/>
          </a:bodyPr>
          <a:lstStyle/>
          <a:p>
            <a:pPr eaLnBrk="1" hangingPunct="1">
              <a:spcAft>
                <a:spcPts val="600"/>
              </a:spcAft>
            </a:pPr>
            <a:fld id="{2D69D4BF-17B8-4416-83AD-33398895AAF4}" type="slidenum">
              <a:rPr lang="en-US" sz="5700">
                <a:solidFill>
                  <a:srgbClr val="FFFFFF"/>
                </a:solidFill>
                <a:latin typeface="+mn-lt"/>
                <a:ea typeface="+mn-ea"/>
              </a:rPr>
              <a:pPr eaLnBrk="1" hangingPunct="1">
                <a:spcAft>
                  <a:spcPts val="600"/>
                </a:spcAft>
              </a:pPr>
              <a:t>47</a:t>
            </a:fld>
            <a:endParaRPr lang="en-US" sz="5700">
              <a:solidFill>
                <a:srgbClr val="FFFFFF"/>
              </a:solidFill>
              <a:latin typeface="+mn-lt"/>
              <a:ea typeface="+mn-ea"/>
            </a:endParaRPr>
          </a:p>
        </p:txBody>
      </p:sp>
    </p:spTree>
    <p:extLst>
      <p:ext uri="{BB962C8B-B14F-4D97-AF65-F5344CB8AC3E}">
        <p14:creationId xmlns:p14="http://schemas.microsoft.com/office/powerpoint/2010/main" val="4100361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9D6CA-1840-8208-48D3-BF94035F82C7}"/>
              </a:ext>
            </a:extLst>
          </p:cNvPr>
          <p:cNvSpPr>
            <a:spLocks noGrp="1"/>
          </p:cNvSpPr>
          <p:nvPr>
            <p:ph type="title"/>
          </p:nvPr>
        </p:nvSpPr>
        <p:spPr/>
        <p:txBody>
          <a:bodyPr>
            <a:normAutofit/>
          </a:bodyPr>
          <a:lstStyle/>
          <a:p>
            <a:pPr fontAlgn="base"/>
            <a:r>
              <a:rPr lang="en-GB" b="1" dirty="0">
                <a:effectLst/>
                <a:latin typeface="inherit"/>
              </a:rPr>
              <a:t>Which of these memories can be accessed directly by the CPU?</a:t>
            </a:r>
            <a:endParaRPr lang="en-SE" dirty="0"/>
          </a:p>
        </p:txBody>
      </p:sp>
      <p:sp>
        <p:nvSpPr>
          <p:cNvPr id="3" name="Content Placeholder 2">
            <a:extLst>
              <a:ext uri="{FF2B5EF4-FFF2-40B4-BE49-F238E27FC236}">
                <a16:creationId xmlns:a16="http://schemas.microsoft.com/office/drawing/2014/main" id="{526E0ECA-C564-F3C1-6DD6-1300FA8A166B}"/>
              </a:ext>
            </a:extLst>
          </p:cNvPr>
          <p:cNvSpPr>
            <a:spLocks noGrp="1"/>
          </p:cNvSpPr>
          <p:nvPr>
            <p:ph idx="1"/>
          </p:nvPr>
        </p:nvSpPr>
        <p:spPr>
          <a:xfrm>
            <a:off x="628650" y="2226469"/>
            <a:ext cx="4124978" cy="3263504"/>
          </a:xfrm>
        </p:spPr>
        <p:txBody>
          <a:bodyPr/>
          <a:lstStyle/>
          <a:p>
            <a:pPr marL="457200" indent="-457200" algn="l" fontAlgn="base">
              <a:buFont typeface="+mj-lt"/>
              <a:buAutoNum type="arabicPeriod"/>
            </a:pPr>
            <a:r>
              <a:rPr lang="en-GB" b="0" i="0" dirty="0">
                <a:solidFill>
                  <a:srgbClr val="333333"/>
                </a:solidFill>
                <a:effectLst/>
                <a:latin typeface="Montserrat" pitchFamily="2" charset="77"/>
              </a:rPr>
              <a:t>Registers, cache and main memory</a:t>
            </a:r>
          </a:p>
          <a:p>
            <a:pPr marL="457200" indent="-457200" algn="l" fontAlgn="base">
              <a:buFont typeface="+mj-lt"/>
              <a:buAutoNum type="arabicPeriod"/>
            </a:pPr>
            <a:r>
              <a:rPr lang="en-GB" b="0" i="0" dirty="0">
                <a:solidFill>
                  <a:srgbClr val="333333"/>
                </a:solidFill>
                <a:effectLst/>
                <a:latin typeface="Montserrat" pitchFamily="2" charset="77"/>
              </a:rPr>
              <a:t>Registers, cache, main memory and disk (solid-state)</a:t>
            </a:r>
          </a:p>
          <a:p>
            <a:pPr marL="457200" indent="-457200" algn="l" fontAlgn="base">
              <a:buFont typeface="+mj-lt"/>
              <a:buAutoNum type="arabicPeriod"/>
            </a:pPr>
            <a:r>
              <a:rPr lang="en-GB" b="0" i="0" dirty="0">
                <a:solidFill>
                  <a:srgbClr val="333333"/>
                </a:solidFill>
                <a:effectLst/>
                <a:latin typeface="Montserrat" pitchFamily="2" charset="77"/>
              </a:rPr>
              <a:t>Registers, cache, main memory and disk (any)</a:t>
            </a:r>
          </a:p>
        </p:txBody>
      </p:sp>
      <p:pic>
        <p:nvPicPr>
          <p:cNvPr id="1026" name="Picture 2">
            <a:extLst>
              <a:ext uri="{FF2B5EF4-FFF2-40B4-BE49-F238E27FC236}">
                <a16:creationId xmlns:a16="http://schemas.microsoft.com/office/drawing/2014/main" id="{802FC6C4-82B1-1C69-3879-B79CE0CE6A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3959" y="2428938"/>
            <a:ext cx="3557588" cy="2968165"/>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9698F5F6-E8B8-312B-E554-6C4E742FF96A}"/>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5B7F8CE1-7F0C-B59A-C28B-B7A71D03651A}"/>
              </a:ext>
            </a:extLst>
          </p:cNvPr>
          <p:cNvSpPr>
            <a:spLocks noGrp="1"/>
          </p:cNvSpPr>
          <p:nvPr>
            <p:ph type="ftr" sz="quarter" idx="11"/>
          </p:nvPr>
        </p:nvSpPr>
        <p:spPr/>
        <p:txBody>
          <a:bodyPr/>
          <a:lstStyle/>
          <a:p>
            <a:r>
              <a:rPr lang="en-SE"/>
              <a:t>Operating Systems - Memory Management</a:t>
            </a:r>
          </a:p>
        </p:txBody>
      </p:sp>
      <p:sp>
        <p:nvSpPr>
          <p:cNvPr id="6" name="Slide Number Placeholder 5">
            <a:extLst>
              <a:ext uri="{FF2B5EF4-FFF2-40B4-BE49-F238E27FC236}">
                <a16:creationId xmlns:a16="http://schemas.microsoft.com/office/drawing/2014/main" id="{E798A875-A0B4-6E68-DB3B-FFCAC1DA8308}"/>
              </a:ext>
            </a:extLst>
          </p:cNvPr>
          <p:cNvSpPr>
            <a:spLocks noGrp="1"/>
          </p:cNvSpPr>
          <p:nvPr>
            <p:ph type="sldNum" sz="quarter" idx="12"/>
          </p:nvPr>
        </p:nvSpPr>
        <p:spPr/>
        <p:txBody>
          <a:bodyPr/>
          <a:lstStyle/>
          <a:p>
            <a:fld id="{5F79AA98-1CDB-B74D-913E-0EAC104F29A0}" type="slidenum">
              <a:rPr lang="en-SE" smtClean="0"/>
              <a:t>48</a:t>
            </a:fld>
            <a:endParaRPr lang="en-SE"/>
          </a:p>
        </p:txBody>
      </p:sp>
    </p:spTree>
    <p:extLst>
      <p:ext uri="{BB962C8B-B14F-4D97-AF65-F5344CB8AC3E}">
        <p14:creationId xmlns:p14="http://schemas.microsoft.com/office/powerpoint/2010/main" val="17311437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63A9D-3138-1B1D-12E6-7F6718714073}"/>
              </a:ext>
            </a:extLst>
          </p:cNvPr>
          <p:cNvSpPr>
            <a:spLocks noGrp="1"/>
          </p:cNvSpPr>
          <p:nvPr>
            <p:ph type="title"/>
          </p:nvPr>
        </p:nvSpPr>
        <p:spPr>
          <a:xfrm>
            <a:off x="628650" y="1131094"/>
            <a:ext cx="5597129" cy="994172"/>
          </a:xfrm>
        </p:spPr>
        <p:txBody>
          <a:bodyPr>
            <a:noAutofit/>
          </a:bodyPr>
          <a:lstStyle/>
          <a:p>
            <a:pPr fontAlgn="base"/>
            <a:r>
              <a:rPr lang="en-GB" sz="2400" b="1" dirty="0">
                <a:latin typeface="inherit"/>
              </a:rPr>
              <a:t>The base and limit registers in the figure contain the same value. Is it OK?</a:t>
            </a:r>
            <a:endParaRPr lang="en-SE" sz="2400" dirty="0"/>
          </a:p>
        </p:txBody>
      </p:sp>
      <p:sp>
        <p:nvSpPr>
          <p:cNvPr id="3" name="Content Placeholder 2">
            <a:extLst>
              <a:ext uri="{FF2B5EF4-FFF2-40B4-BE49-F238E27FC236}">
                <a16:creationId xmlns:a16="http://schemas.microsoft.com/office/drawing/2014/main" id="{73284B17-5309-13DF-F631-83B60E4FED4D}"/>
              </a:ext>
            </a:extLst>
          </p:cNvPr>
          <p:cNvSpPr>
            <a:spLocks noGrp="1"/>
          </p:cNvSpPr>
          <p:nvPr>
            <p:ph idx="1"/>
          </p:nvPr>
        </p:nvSpPr>
        <p:spPr>
          <a:xfrm>
            <a:off x="628650" y="3028949"/>
            <a:ext cx="7886700" cy="3148013"/>
          </a:xfrm>
        </p:spPr>
        <p:txBody>
          <a:bodyPr/>
          <a:lstStyle/>
          <a:p>
            <a:pPr marL="457200" indent="-457200" algn="l" fontAlgn="base">
              <a:buFont typeface="+mj-lt"/>
              <a:buAutoNum type="arabicPeriod"/>
            </a:pPr>
            <a:r>
              <a:rPr lang="en-GB" b="0" i="0" dirty="0">
                <a:solidFill>
                  <a:srgbClr val="333333"/>
                </a:solidFill>
                <a:effectLst/>
                <a:latin typeface="Montserrat" pitchFamily="2" charset="77"/>
              </a:rPr>
              <a:t>Yes, it is.</a:t>
            </a:r>
          </a:p>
          <a:p>
            <a:pPr marL="457200" indent="-457200" algn="l" fontAlgn="base">
              <a:buFont typeface="+mj-lt"/>
              <a:buAutoNum type="arabicPeriod"/>
            </a:pPr>
            <a:r>
              <a:rPr lang="en-GB" b="0" i="0" dirty="0">
                <a:solidFill>
                  <a:srgbClr val="333333"/>
                </a:solidFill>
                <a:effectLst/>
                <a:latin typeface="Montserrat" pitchFamily="2" charset="77"/>
              </a:rPr>
              <a:t>No, it is not.</a:t>
            </a:r>
          </a:p>
        </p:txBody>
      </p:sp>
      <p:pic>
        <p:nvPicPr>
          <p:cNvPr id="2050" name="Picture 2">
            <a:extLst>
              <a:ext uri="{FF2B5EF4-FFF2-40B4-BE49-F238E27FC236}">
                <a16:creationId xmlns:a16="http://schemas.microsoft.com/office/drawing/2014/main" id="{05A86181-622E-D01B-B28A-185029D26A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6431" y="2125266"/>
            <a:ext cx="3350508" cy="4243388"/>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CE6F465D-5418-F5C8-42FB-693833D5BDDA}"/>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3EA1292F-E9EF-AB97-BF0D-1C2105B223C4}"/>
              </a:ext>
            </a:extLst>
          </p:cNvPr>
          <p:cNvSpPr>
            <a:spLocks noGrp="1"/>
          </p:cNvSpPr>
          <p:nvPr>
            <p:ph type="ftr" sz="quarter" idx="11"/>
          </p:nvPr>
        </p:nvSpPr>
        <p:spPr/>
        <p:txBody>
          <a:bodyPr/>
          <a:lstStyle/>
          <a:p>
            <a:r>
              <a:rPr lang="en-SE"/>
              <a:t>Operating Systems - Memory Management</a:t>
            </a:r>
          </a:p>
        </p:txBody>
      </p:sp>
      <p:sp>
        <p:nvSpPr>
          <p:cNvPr id="6" name="Slide Number Placeholder 5">
            <a:extLst>
              <a:ext uri="{FF2B5EF4-FFF2-40B4-BE49-F238E27FC236}">
                <a16:creationId xmlns:a16="http://schemas.microsoft.com/office/drawing/2014/main" id="{198AC002-C5B0-88EB-4C6A-696951777F2D}"/>
              </a:ext>
            </a:extLst>
          </p:cNvPr>
          <p:cNvSpPr>
            <a:spLocks noGrp="1"/>
          </p:cNvSpPr>
          <p:nvPr>
            <p:ph type="sldNum" sz="quarter" idx="12"/>
          </p:nvPr>
        </p:nvSpPr>
        <p:spPr/>
        <p:txBody>
          <a:bodyPr/>
          <a:lstStyle/>
          <a:p>
            <a:fld id="{5F79AA98-1CDB-B74D-913E-0EAC104F29A0}" type="slidenum">
              <a:rPr lang="en-SE" smtClean="0"/>
              <a:t>49</a:t>
            </a:fld>
            <a:endParaRPr lang="en-SE"/>
          </a:p>
        </p:txBody>
      </p:sp>
    </p:spTree>
    <p:extLst>
      <p:ext uri="{BB962C8B-B14F-4D97-AF65-F5344CB8AC3E}">
        <p14:creationId xmlns:p14="http://schemas.microsoft.com/office/powerpoint/2010/main" val="11131684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37362-759F-5D25-1E42-C05964F1E0AC}"/>
              </a:ext>
            </a:extLst>
          </p:cNvPr>
          <p:cNvSpPr>
            <a:spLocks noGrp="1"/>
          </p:cNvSpPr>
          <p:nvPr>
            <p:ph type="title"/>
          </p:nvPr>
        </p:nvSpPr>
        <p:spPr/>
        <p:txBody>
          <a:bodyPr>
            <a:normAutofit/>
          </a:bodyPr>
          <a:lstStyle/>
          <a:p>
            <a:pPr fontAlgn="base"/>
            <a:r>
              <a:rPr lang="en-GB" b="1" dirty="0">
                <a:effectLst/>
                <a:latin typeface="inherit"/>
              </a:rPr>
              <a:t>Paging suffers from...</a:t>
            </a:r>
            <a:endParaRPr lang="en-SE" dirty="0"/>
          </a:p>
        </p:txBody>
      </p:sp>
      <p:sp>
        <p:nvSpPr>
          <p:cNvPr id="3" name="Content Placeholder 2">
            <a:extLst>
              <a:ext uri="{FF2B5EF4-FFF2-40B4-BE49-F238E27FC236}">
                <a16:creationId xmlns:a16="http://schemas.microsoft.com/office/drawing/2014/main" id="{6436D2ED-08A6-27B9-33F3-54DD87B33288}"/>
              </a:ext>
            </a:extLst>
          </p:cNvPr>
          <p:cNvSpPr>
            <a:spLocks noGrp="1"/>
          </p:cNvSpPr>
          <p:nvPr>
            <p:ph idx="1"/>
          </p:nvPr>
        </p:nvSpPr>
        <p:spPr/>
        <p:txBody>
          <a:bodyPr/>
          <a:lstStyle/>
          <a:p>
            <a:pPr marL="457200" indent="-457200" algn="l" fontAlgn="base">
              <a:buFont typeface="+mj-lt"/>
              <a:buAutoNum type="arabicPeriod"/>
            </a:pPr>
            <a:r>
              <a:rPr lang="en-GB" b="0" i="0" dirty="0">
                <a:solidFill>
                  <a:srgbClr val="333333"/>
                </a:solidFill>
                <a:effectLst/>
                <a:latin typeface="Montserrat" pitchFamily="2" charset="77"/>
              </a:rPr>
              <a:t>External fragmentation</a:t>
            </a:r>
          </a:p>
          <a:p>
            <a:pPr marL="457200" indent="-457200" algn="l" fontAlgn="base">
              <a:buFont typeface="+mj-lt"/>
              <a:buAutoNum type="arabicPeriod"/>
            </a:pPr>
            <a:r>
              <a:rPr lang="en-GB" b="0" i="0" dirty="0">
                <a:solidFill>
                  <a:srgbClr val="333333"/>
                </a:solidFill>
                <a:effectLst/>
                <a:latin typeface="Montserrat" pitchFamily="2" charset="77"/>
              </a:rPr>
              <a:t>Internal fragmentation</a:t>
            </a:r>
          </a:p>
          <a:p>
            <a:pPr marL="457200" indent="-457200" algn="l" fontAlgn="base">
              <a:buFont typeface="+mj-lt"/>
              <a:buAutoNum type="arabicPeriod"/>
            </a:pPr>
            <a:r>
              <a:rPr lang="en-GB" b="0" i="0" dirty="0">
                <a:solidFill>
                  <a:srgbClr val="333333"/>
                </a:solidFill>
                <a:effectLst/>
                <a:latin typeface="Montserrat" pitchFamily="2" charset="77"/>
              </a:rPr>
              <a:t>Does not suffer fragmentation</a:t>
            </a:r>
          </a:p>
        </p:txBody>
      </p:sp>
      <p:pic>
        <p:nvPicPr>
          <p:cNvPr id="4098" name="Picture 2">
            <a:extLst>
              <a:ext uri="{FF2B5EF4-FFF2-40B4-BE49-F238E27FC236}">
                <a16:creationId xmlns:a16="http://schemas.microsoft.com/office/drawing/2014/main" id="{FA0AF5BB-DBE4-8E3F-1D2D-79BCD2C716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6230" y="2894843"/>
            <a:ext cx="3412298" cy="3598031"/>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81931DDA-ADEF-C91E-3F91-77C4A97D7586}"/>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BAE0291D-9AFA-B901-F6BC-64F596F326E5}"/>
              </a:ext>
            </a:extLst>
          </p:cNvPr>
          <p:cNvSpPr>
            <a:spLocks noGrp="1"/>
          </p:cNvSpPr>
          <p:nvPr>
            <p:ph type="ftr" sz="quarter" idx="11"/>
          </p:nvPr>
        </p:nvSpPr>
        <p:spPr/>
        <p:txBody>
          <a:bodyPr/>
          <a:lstStyle/>
          <a:p>
            <a:r>
              <a:rPr lang="en-SE"/>
              <a:t>Operating Systems - Memory Management</a:t>
            </a:r>
          </a:p>
        </p:txBody>
      </p:sp>
      <p:sp>
        <p:nvSpPr>
          <p:cNvPr id="6" name="Slide Number Placeholder 5">
            <a:extLst>
              <a:ext uri="{FF2B5EF4-FFF2-40B4-BE49-F238E27FC236}">
                <a16:creationId xmlns:a16="http://schemas.microsoft.com/office/drawing/2014/main" id="{12E66C59-B155-D672-27D4-8613B60534C3}"/>
              </a:ext>
            </a:extLst>
          </p:cNvPr>
          <p:cNvSpPr>
            <a:spLocks noGrp="1"/>
          </p:cNvSpPr>
          <p:nvPr>
            <p:ph type="sldNum" sz="quarter" idx="12"/>
          </p:nvPr>
        </p:nvSpPr>
        <p:spPr/>
        <p:txBody>
          <a:bodyPr/>
          <a:lstStyle/>
          <a:p>
            <a:fld id="{5F79AA98-1CDB-B74D-913E-0EAC104F29A0}" type="slidenum">
              <a:rPr lang="en-SE" smtClean="0"/>
              <a:t>50</a:t>
            </a:fld>
            <a:endParaRPr lang="en-SE"/>
          </a:p>
        </p:txBody>
      </p:sp>
    </p:spTree>
    <p:extLst>
      <p:ext uri="{BB962C8B-B14F-4D97-AF65-F5344CB8AC3E}">
        <p14:creationId xmlns:p14="http://schemas.microsoft.com/office/powerpoint/2010/main" val="41710020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16D1F-9064-AFB3-3CBF-B58C305F8A40}"/>
              </a:ext>
            </a:extLst>
          </p:cNvPr>
          <p:cNvSpPr>
            <a:spLocks noGrp="1"/>
          </p:cNvSpPr>
          <p:nvPr>
            <p:ph type="title"/>
          </p:nvPr>
        </p:nvSpPr>
        <p:spPr/>
        <p:txBody>
          <a:bodyPr>
            <a:normAutofit fontScale="90000"/>
          </a:bodyPr>
          <a:lstStyle/>
          <a:p>
            <a:pPr fontAlgn="base"/>
            <a:r>
              <a:rPr lang="en-GB" b="1" dirty="0">
                <a:effectLst/>
                <a:latin typeface="inherit"/>
              </a:rPr>
              <a:t>Process p address space is 128K. There are 16K of physical memory available (page size is 1K).</a:t>
            </a:r>
            <a:endParaRPr lang="en-SE" dirty="0"/>
          </a:p>
        </p:txBody>
      </p:sp>
      <p:sp>
        <p:nvSpPr>
          <p:cNvPr id="3" name="Content Placeholder 2">
            <a:extLst>
              <a:ext uri="{FF2B5EF4-FFF2-40B4-BE49-F238E27FC236}">
                <a16:creationId xmlns:a16="http://schemas.microsoft.com/office/drawing/2014/main" id="{D6C83EC9-BAF1-9269-8386-AE8FB6CF28D2}"/>
              </a:ext>
            </a:extLst>
          </p:cNvPr>
          <p:cNvSpPr>
            <a:spLocks noGrp="1"/>
          </p:cNvSpPr>
          <p:nvPr>
            <p:ph idx="1"/>
          </p:nvPr>
        </p:nvSpPr>
        <p:spPr/>
        <p:txBody>
          <a:bodyPr/>
          <a:lstStyle/>
          <a:p>
            <a:pPr marL="457200" indent="-457200" algn="l" fontAlgn="base">
              <a:buFont typeface="+mj-lt"/>
              <a:buAutoNum type="arabicPeriod"/>
            </a:pPr>
            <a:r>
              <a:rPr lang="en-GB" b="0" i="0" dirty="0">
                <a:solidFill>
                  <a:srgbClr val="333333"/>
                </a:solidFill>
                <a:effectLst/>
                <a:latin typeface="Montserrat" pitchFamily="2" charset="77"/>
              </a:rPr>
              <a:t>The page table contains </a:t>
            </a:r>
            <a:r>
              <a:rPr lang="en-GB" b="0" i="0">
                <a:solidFill>
                  <a:srgbClr val="333333"/>
                </a:solidFill>
                <a:effectLst/>
                <a:latin typeface="Montserrat" pitchFamily="2" charset="77"/>
              </a:rPr>
              <a:t>128 entries</a:t>
            </a:r>
            <a:endParaRPr lang="en-GB" b="0" i="0" dirty="0">
              <a:solidFill>
                <a:srgbClr val="333333"/>
              </a:solidFill>
              <a:effectLst/>
              <a:latin typeface="Montserrat" pitchFamily="2" charset="77"/>
            </a:endParaRPr>
          </a:p>
          <a:p>
            <a:pPr marL="457200" indent="-457200" algn="l" fontAlgn="base">
              <a:buFont typeface="+mj-lt"/>
              <a:buAutoNum type="arabicPeriod"/>
            </a:pPr>
            <a:r>
              <a:rPr lang="en-GB" b="0" i="0" dirty="0">
                <a:solidFill>
                  <a:srgbClr val="333333"/>
                </a:solidFill>
                <a:effectLst/>
                <a:latin typeface="Montserrat" pitchFamily="2" charset="77"/>
              </a:rPr>
              <a:t>The page table contains 16 entries</a:t>
            </a:r>
          </a:p>
          <a:p>
            <a:pPr marL="457200" indent="-457200" algn="l" fontAlgn="base">
              <a:buFont typeface="+mj-lt"/>
              <a:buAutoNum type="arabicPeriod"/>
            </a:pPr>
            <a:r>
              <a:rPr lang="en-GB" b="0" i="0" dirty="0">
                <a:solidFill>
                  <a:srgbClr val="333333"/>
                </a:solidFill>
                <a:effectLst/>
                <a:latin typeface="Montserrat" pitchFamily="2" charset="77"/>
              </a:rPr>
              <a:t>The page table contains 8 entries</a:t>
            </a:r>
          </a:p>
        </p:txBody>
      </p:sp>
      <p:sp>
        <p:nvSpPr>
          <p:cNvPr id="4" name="Date Placeholder 3">
            <a:extLst>
              <a:ext uri="{FF2B5EF4-FFF2-40B4-BE49-F238E27FC236}">
                <a16:creationId xmlns:a16="http://schemas.microsoft.com/office/drawing/2014/main" id="{F0E5DC36-3B21-A0A3-11E6-324DDAD3B970}"/>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CE051786-5740-284D-D8DC-FFDAB9604C63}"/>
              </a:ext>
            </a:extLst>
          </p:cNvPr>
          <p:cNvSpPr>
            <a:spLocks noGrp="1"/>
          </p:cNvSpPr>
          <p:nvPr>
            <p:ph type="ftr" sz="quarter" idx="11"/>
          </p:nvPr>
        </p:nvSpPr>
        <p:spPr/>
        <p:txBody>
          <a:bodyPr/>
          <a:lstStyle/>
          <a:p>
            <a:r>
              <a:rPr lang="en-SE"/>
              <a:t>Operating Systems - Memory Management</a:t>
            </a:r>
          </a:p>
        </p:txBody>
      </p:sp>
      <p:sp>
        <p:nvSpPr>
          <p:cNvPr id="6" name="Slide Number Placeholder 5">
            <a:extLst>
              <a:ext uri="{FF2B5EF4-FFF2-40B4-BE49-F238E27FC236}">
                <a16:creationId xmlns:a16="http://schemas.microsoft.com/office/drawing/2014/main" id="{AE3F3C23-8574-5028-0F19-B8670ED840C8}"/>
              </a:ext>
            </a:extLst>
          </p:cNvPr>
          <p:cNvSpPr>
            <a:spLocks noGrp="1"/>
          </p:cNvSpPr>
          <p:nvPr>
            <p:ph type="sldNum" sz="quarter" idx="12"/>
          </p:nvPr>
        </p:nvSpPr>
        <p:spPr/>
        <p:txBody>
          <a:bodyPr/>
          <a:lstStyle/>
          <a:p>
            <a:fld id="{5F79AA98-1CDB-B74D-913E-0EAC104F29A0}" type="slidenum">
              <a:rPr lang="en-SE" smtClean="0"/>
              <a:t>51</a:t>
            </a:fld>
            <a:endParaRPr lang="en-SE"/>
          </a:p>
        </p:txBody>
      </p:sp>
    </p:spTree>
    <p:extLst>
      <p:ext uri="{BB962C8B-B14F-4D97-AF65-F5344CB8AC3E}">
        <p14:creationId xmlns:p14="http://schemas.microsoft.com/office/powerpoint/2010/main" val="3996217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2400" dirty="0"/>
              <a:t>Suppose a process P has size of 100 bytes. Compute (1) the number of wasted bytes caused by internal fragmentation if the page and frame sizes are set to 2^4 bytes and (2) the size of the page table (suppose each page-table entry occupies 1 byte).</a:t>
            </a:r>
          </a:p>
        </p:txBody>
      </p:sp>
    </p:spTree>
    <p:extLst>
      <p:ext uri="{BB962C8B-B14F-4D97-AF65-F5344CB8AC3E}">
        <p14:creationId xmlns:p14="http://schemas.microsoft.com/office/powerpoint/2010/main" val="18872843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2400" dirty="0"/>
              <a:t>Assuming a 1 KB page size, what are the page numbers and offsets for the following address references (provided as decimal numbers): </a:t>
            </a:r>
          </a:p>
          <a:p>
            <a:pPr marL="0" indent="0">
              <a:buNone/>
            </a:pPr>
            <a:r>
              <a:rPr lang="en-US" sz="2400" dirty="0"/>
              <a:t>2375 </a:t>
            </a:r>
          </a:p>
          <a:p>
            <a:pPr marL="0" indent="0">
              <a:buNone/>
            </a:pPr>
            <a:r>
              <a:rPr lang="en-US" sz="2400" dirty="0"/>
              <a:t>19366 </a:t>
            </a:r>
          </a:p>
          <a:p>
            <a:pPr marL="0" indent="0">
              <a:buNone/>
            </a:pPr>
            <a:r>
              <a:rPr lang="en-US" sz="2400" dirty="0"/>
              <a:t>30000 </a:t>
            </a:r>
          </a:p>
          <a:p>
            <a:pPr marL="0" indent="0">
              <a:buNone/>
            </a:pPr>
            <a:r>
              <a:rPr lang="en-US" sz="2400" dirty="0"/>
              <a:t>256 </a:t>
            </a:r>
          </a:p>
          <a:p>
            <a:pPr marL="0" indent="0">
              <a:buNone/>
            </a:pPr>
            <a:r>
              <a:rPr lang="en-US" sz="2400" dirty="0"/>
              <a:t>16385</a:t>
            </a:r>
          </a:p>
        </p:txBody>
      </p:sp>
    </p:spTree>
    <p:extLst>
      <p:ext uri="{BB962C8B-B14F-4D97-AF65-F5344CB8AC3E}">
        <p14:creationId xmlns:p14="http://schemas.microsoft.com/office/powerpoint/2010/main" val="4166205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7634" y="446991"/>
            <a:ext cx="8529417" cy="6164824"/>
          </a:xfrm>
        </p:spPr>
        <p:txBody>
          <a:bodyPr>
            <a:noAutofit/>
          </a:bodyPr>
          <a:lstStyle/>
          <a:p>
            <a:pPr marL="0" indent="0">
              <a:buNone/>
            </a:pPr>
            <a:r>
              <a:rPr lang="en-US" sz="2400" dirty="0"/>
              <a:t>Consider the following segment table: </a:t>
            </a:r>
          </a:p>
          <a:p>
            <a:pPr marL="0" indent="0">
              <a:buNone/>
            </a:pPr>
            <a:r>
              <a:rPr lang="en-US" sz="2400" dirty="0"/>
              <a:t>Segment 	Base 	Length </a:t>
            </a:r>
          </a:p>
          <a:p>
            <a:pPr marL="0" indent="0">
              <a:buNone/>
            </a:pPr>
            <a:r>
              <a:rPr lang="en-US" sz="2400" dirty="0"/>
              <a:t>0 		219 	600 </a:t>
            </a:r>
          </a:p>
          <a:p>
            <a:pPr marL="0" indent="0">
              <a:buNone/>
            </a:pPr>
            <a:r>
              <a:rPr lang="en-US" sz="2400" dirty="0"/>
              <a:t>1 		2300 	14 </a:t>
            </a:r>
          </a:p>
          <a:p>
            <a:pPr marL="0" indent="0">
              <a:buNone/>
            </a:pPr>
            <a:r>
              <a:rPr lang="en-US" sz="2400" dirty="0"/>
              <a:t>2 		90 	100 </a:t>
            </a:r>
          </a:p>
          <a:p>
            <a:pPr marL="0" indent="0">
              <a:buNone/>
            </a:pPr>
            <a:r>
              <a:rPr lang="en-US" sz="2400" dirty="0"/>
              <a:t>3 		1327 	580 </a:t>
            </a:r>
          </a:p>
          <a:p>
            <a:pPr marL="0" indent="0">
              <a:buNone/>
            </a:pPr>
            <a:r>
              <a:rPr lang="en-US" sz="2400" dirty="0"/>
              <a:t>4 		1352 	96 </a:t>
            </a:r>
          </a:p>
          <a:p>
            <a:pPr marL="0" indent="0">
              <a:buNone/>
            </a:pPr>
            <a:r>
              <a:rPr lang="en-US" sz="2400" dirty="0"/>
              <a:t>Tell which physical address would be accessed for the following logical addresses</a:t>
            </a:r>
          </a:p>
          <a:p>
            <a:pPr marL="0" indent="0">
              <a:buNone/>
            </a:pPr>
            <a:r>
              <a:rPr lang="en-US" sz="2400" dirty="0"/>
              <a:t>0,430</a:t>
            </a:r>
          </a:p>
          <a:p>
            <a:pPr marL="0" indent="0">
              <a:buNone/>
            </a:pPr>
            <a:r>
              <a:rPr lang="en-US" sz="2400" dirty="0"/>
              <a:t>1,10</a:t>
            </a:r>
          </a:p>
          <a:p>
            <a:pPr marL="0" indent="0">
              <a:buNone/>
            </a:pPr>
            <a:r>
              <a:rPr lang="en-US" sz="2400" dirty="0"/>
              <a:t>2,500</a:t>
            </a:r>
          </a:p>
          <a:p>
            <a:pPr marL="0" indent="0">
              <a:buNone/>
            </a:pPr>
            <a:r>
              <a:rPr lang="en-US" sz="2400" dirty="0"/>
              <a:t>3,400 </a:t>
            </a:r>
          </a:p>
          <a:p>
            <a:pPr marL="0" indent="0">
              <a:buNone/>
            </a:pPr>
            <a:r>
              <a:rPr lang="en-US" sz="2400" dirty="0"/>
              <a:t>4,112</a:t>
            </a:r>
          </a:p>
        </p:txBody>
      </p:sp>
    </p:spTree>
    <p:extLst>
      <p:ext uri="{BB962C8B-B14F-4D97-AF65-F5344CB8AC3E}">
        <p14:creationId xmlns:p14="http://schemas.microsoft.com/office/powerpoint/2010/main" val="10333273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Garamond"/>
        <a:ea typeface=""/>
        <a:cs typeface=""/>
      </a:majorFont>
      <a:minorFont>
        <a:latin typeface="Garamo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ustom 1">
      <a:majorFont>
        <a:latin typeface="Garamond"/>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13920</TotalTime>
  <Words>3243</Words>
  <Application>Microsoft Macintosh PowerPoint</Application>
  <PresentationFormat>On-screen Show (4:3)</PresentationFormat>
  <Paragraphs>626</Paragraphs>
  <Slides>54</Slides>
  <Notes>32</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54</vt:i4>
      </vt:variant>
    </vt:vector>
  </HeadingPairs>
  <TitlesOfParts>
    <vt:vector size="68" baseType="lpstr">
      <vt:lpstr>Andale Mono</vt:lpstr>
      <vt:lpstr>Arial</vt:lpstr>
      <vt:lpstr>Calibri</vt:lpstr>
      <vt:lpstr>Calibri Light</vt:lpstr>
      <vt:lpstr>Cambria Math</vt:lpstr>
      <vt:lpstr>Garamond</vt:lpstr>
      <vt:lpstr>Helvetica</vt:lpstr>
      <vt:lpstr>inherit</vt:lpstr>
      <vt:lpstr>Montserrat</vt:lpstr>
      <vt:lpstr>Times New Roman</vt:lpstr>
      <vt:lpstr>Verdana</vt:lpstr>
      <vt:lpstr>Wingdings</vt:lpstr>
      <vt:lpstr>Office Theme</vt:lpstr>
      <vt:lpstr>1_Office Theme</vt:lpstr>
      <vt:lpstr>PowerPoint Presentation</vt:lpstr>
      <vt:lpstr>What to read (main textbook)</vt:lpstr>
      <vt:lpstr>Objective</vt:lpstr>
      <vt:lpstr>Agenda</vt:lpstr>
      <vt:lpstr>Agenda</vt:lpstr>
      <vt:lpstr>Background and basic hardware (I)</vt:lpstr>
      <vt:lpstr>Background and basic hardware (II)</vt:lpstr>
      <vt:lpstr>Agenda</vt:lpstr>
      <vt:lpstr>Base and Limit register (I)</vt:lpstr>
      <vt:lpstr>Base and Limit register (II)</vt:lpstr>
      <vt:lpstr>Base and Limit register (III)</vt:lpstr>
      <vt:lpstr>Agenda</vt:lpstr>
      <vt:lpstr>Address binding</vt:lpstr>
      <vt:lpstr>Logical/Virtual vs Physical address space (i)</vt:lpstr>
      <vt:lpstr>Logical/Virtual vs Physical address space (ii)</vt:lpstr>
      <vt:lpstr>Memory-Management Unit (MMU) – Relocation Register</vt:lpstr>
      <vt:lpstr>Agenda</vt:lpstr>
      <vt:lpstr>Optimizations – Dynamic loading</vt:lpstr>
      <vt:lpstr>Optimizations – Dynamic Linking (i)</vt:lpstr>
      <vt:lpstr>Optimizations – Dynamic Linking (ii)</vt:lpstr>
      <vt:lpstr>Agenda</vt:lpstr>
      <vt:lpstr>Swapping (i)</vt:lpstr>
      <vt:lpstr>Swapping (ii)</vt:lpstr>
      <vt:lpstr>Swapping - Which processes can we swap?</vt:lpstr>
      <vt:lpstr>Swapping – How much time does it take?</vt:lpstr>
      <vt:lpstr>Swapping – When does it make sense to use it?</vt:lpstr>
      <vt:lpstr>Agenda</vt:lpstr>
      <vt:lpstr>Memory allocation</vt:lpstr>
      <vt:lpstr>Agenda</vt:lpstr>
      <vt:lpstr>Contiguous allocation</vt:lpstr>
      <vt:lpstr>Contiguous allocation – memory protection</vt:lpstr>
      <vt:lpstr>Contiguous allocation - limitations</vt:lpstr>
      <vt:lpstr>Contiguous allocation – which hole to assign to a new process?</vt:lpstr>
      <vt:lpstr>Agenda</vt:lpstr>
      <vt:lpstr>Segmentation (i)</vt:lpstr>
      <vt:lpstr>Segmentation (ii)</vt:lpstr>
      <vt:lpstr>Segmentation – segment table</vt:lpstr>
      <vt:lpstr>Segmentation – hardware support</vt:lpstr>
      <vt:lpstr>Agenda</vt:lpstr>
      <vt:lpstr>Paging</vt:lpstr>
      <vt:lpstr>Paging – Basic idea</vt:lpstr>
      <vt:lpstr>Paging – the page table</vt:lpstr>
      <vt:lpstr>Paging – hardware support</vt:lpstr>
      <vt:lpstr>Paging – from logical address to physical address (i)</vt:lpstr>
      <vt:lpstr>Paging – from logical address to physical address (ii)</vt:lpstr>
      <vt:lpstr>Paging - Fragmentation</vt:lpstr>
      <vt:lpstr>Questions</vt:lpstr>
      <vt:lpstr>Which of these memories can be accessed directly by the CPU?</vt:lpstr>
      <vt:lpstr>The base and limit registers in the figure contain the same value. Is it OK?</vt:lpstr>
      <vt:lpstr>Paging suffers from...</vt:lpstr>
      <vt:lpstr>Process p address space is 128K. There are 16K of physical memory available (page size is 1K).</vt:lpstr>
      <vt:lpstr>PowerPoint Presentation</vt:lpstr>
      <vt:lpstr>PowerPoint Presentation</vt:lpstr>
      <vt:lpstr>PowerPoint Presentation</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Vincenzo Gulisano</cp:lastModifiedBy>
  <cp:revision>331</cp:revision>
  <cp:lastPrinted>2016-11-27T09:36:39Z</cp:lastPrinted>
  <dcterms:created xsi:type="dcterms:W3CDTF">2011-01-13T23:43:38Z</dcterms:created>
  <dcterms:modified xsi:type="dcterms:W3CDTF">2026-09-24T05:56:06Z</dcterms:modified>
</cp:coreProperties>
</file>